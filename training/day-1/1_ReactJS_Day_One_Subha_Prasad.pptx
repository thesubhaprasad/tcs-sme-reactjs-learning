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9207c833364589" /><Relationship Type="http://schemas.openxmlformats.org/officeDocument/2006/relationships/extended-properties" Target="/docProps/app.xml" Id="R98314796b82f413f" /><Relationship Type="http://schemas.openxmlformats.org/officeDocument/2006/relationships/officeDocument" Target="/ppt/presentation.xml" Id="R945cd20d4f4d4a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037fbcfa864256"/>
  </p:sldMasterIdLst>
  <p:notesMasterIdLst>
    <p:notesMasterId xmlns:r="http://schemas.openxmlformats.org/officeDocument/2006/relationships" r:id="Rec7fde93225a457c"/>
  </p:notesMasterIdLst>
  <p:sldIdLst>
    <p:sldId xmlns:r="http://schemas.openxmlformats.org/officeDocument/2006/relationships" id="256" r:id="Rcd876cfe3056466a"/>
    <p:sldId xmlns:r="http://schemas.openxmlformats.org/officeDocument/2006/relationships" id="257" r:id="Rd6d4b087a6e34a51"/>
    <p:sldId xmlns:r="http://schemas.openxmlformats.org/officeDocument/2006/relationships" id="258" r:id="R5817c838004d4dd5"/>
    <p:sldId xmlns:r="http://schemas.openxmlformats.org/officeDocument/2006/relationships" id="259" r:id="Raea2f25d9df343b4"/>
    <p:sldId xmlns:r="http://schemas.openxmlformats.org/officeDocument/2006/relationships" id="260" r:id="Rb43ff2d6f12b4193"/>
    <p:sldId xmlns:r="http://schemas.openxmlformats.org/officeDocument/2006/relationships" id="261" r:id="Rf0d1381bcd144b8d"/>
    <p:sldId xmlns:r="http://schemas.openxmlformats.org/officeDocument/2006/relationships" id="262" r:id="Rcc34d78911284adb"/>
    <p:sldId xmlns:r="http://schemas.openxmlformats.org/officeDocument/2006/relationships" id="263" r:id="R2a7ed1e4e81042c5"/>
    <p:sldId xmlns:r="http://schemas.openxmlformats.org/officeDocument/2006/relationships" id="264" r:id="Rc70563783e5b484e"/>
    <p:sldId xmlns:r="http://schemas.openxmlformats.org/officeDocument/2006/relationships" id="265" r:id="R51bd8ffcd69c4f0b"/>
    <p:sldId xmlns:r="http://schemas.openxmlformats.org/officeDocument/2006/relationships" id="266" r:id="R070b3eb8ce414873"/>
    <p:sldId xmlns:r="http://schemas.openxmlformats.org/officeDocument/2006/relationships" id="267" r:id="Redb413d35fab43b6"/>
    <p:sldId xmlns:r="http://schemas.openxmlformats.org/officeDocument/2006/relationships" id="268" r:id="R4e2bcc964e7646b6"/>
    <p:sldId xmlns:r="http://schemas.openxmlformats.org/officeDocument/2006/relationships" id="269" r:id="R4396df0f51994ca9"/>
    <p:sldId xmlns:r="http://schemas.openxmlformats.org/officeDocument/2006/relationships" id="270" r:id="R116bb5609ad24daa"/>
    <p:sldId xmlns:r="http://schemas.openxmlformats.org/officeDocument/2006/relationships" id="271" r:id="R74ee880ae71e4cf6"/>
    <p:sldId xmlns:r="http://schemas.openxmlformats.org/officeDocument/2006/relationships" id="272" r:id="R09025893f96245ec"/>
    <p:sldId xmlns:r="http://schemas.openxmlformats.org/officeDocument/2006/relationships" id="273" r:id="Rfaca687d731144db"/>
    <p:sldId xmlns:r="http://schemas.openxmlformats.org/officeDocument/2006/relationships" id="274" r:id="R3c636bf8b5724497"/>
    <p:sldId xmlns:r="http://schemas.openxmlformats.org/officeDocument/2006/relationships" id="275" r:id="R497425cb9ae0488e"/>
    <p:sldId xmlns:r="http://schemas.openxmlformats.org/officeDocument/2006/relationships" id="276" r:id="R1861ede14a4e4123"/>
    <p:sldId xmlns:r="http://schemas.openxmlformats.org/officeDocument/2006/relationships" id="277" r:id="R09c7fbae21eb42a2"/>
    <p:sldId xmlns:r="http://schemas.openxmlformats.org/officeDocument/2006/relationships" id="278" r:id="Rac2e3dc6ee5a4366"/>
    <p:sldId xmlns:r="http://schemas.openxmlformats.org/officeDocument/2006/relationships" id="279" r:id="R2fc800a7d16d4ea3"/>
    <p:sldId xmlns:r="http://schemas.openxmlformats.org/officeDocument/2006/relationships" id="280" r:id="R194e9af25417489f"/>
    <p:sldId xmlns:r="http://schemas.openxmlformats.org/officeDocument/2006/relationships" id="281" r:id="R121254bd23c94f5f"/>
    <p:sldId xmlns:r="http://schemas.openxmlformats.org/officeDocument/2006/relationships" id="282" r:id="R1bf7d4450be14775"/>
    <p:sldId xmlns:r="http://schemas.openxmlformats.org/officeDocument/2006/relationships" id="283" r:id="R482d4dac7a084f88"/>
    <p:sldId xmlns:r="http://schemas.openxmlformats.org/officeDocument/2006/relationships" id="284" r:id="Rf69f1bc97a394e21"/>
  </p:sldIdLst>
  <p:sldSz cx="12192000" cy="6858000"/>
  <p:notesSz cx="6858000" cy="9144000"/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a90d479196c40ea" /><Relationship Type="http://schemas.openxmlformats.org/officeDocument/2006/relationships/slideMaster" Target="/ppt/slideMasters/slideMaster1.xml" Id="Rc4037fbcfa864256" /><Relationship Type="http://schemas.openxmlformats.org/officeDocument/2006/relationships/notesMaster" Target="/ppt/notesMasters/notesMaster1.xml" Id="Rec7fde93225a457c" /><Relationship Type="http://schemas.openxmlformats.org/officeDocument/2006/relationships/presProps" Target="/ppt/presProps.xml" Id="R6ec17bf8aeff4139" /><Relationship Type="http://schemas.openxmlformats.org/officeDocument/2006/relationships/tableStyles" Target="/ppt/tableStyles.xml" Id="R63547d2e6b1346fa" /><Relationship Type="http://schemas.openxmlformats.org/officeDocument/2006/relationships/slide" Target="/ppt/slides/slide1.xml" Id="Rcd876cfe3056466a" /><Relationship Type="http://schemas.openxmlformats.org/officeDocument/2006/relationships/slide" Target="/ppt/slides/slide2.xml" Id="Rd6d4b087a6e34a51" /><Relationship Type="http://schemas.openxmlformats.org/officeDocument/2006/relationships/slide" Target="/ppt/slides/slide3.xml" Id="R5817c838004d4dd5" /><Relationship Type="http://schemas.openxmlformats.org/officeDocument/2006/relationships/slide" Target="/ppt/slides/slide4.xml" Id="Raea2f25d9df343b4" /><Relationship Type="http://schemas.openxmlformats.org/officeDocument/2006/relationships/slide" Target="/ppt/slides/slide5.xml" Id="Rb43ff2d6f12b4193" /><Relationship Type="http://schemas.openxmlformats.org/officeDocument/2006/relationships/slide" Target="/ppt/slides/slide6.xml" Id="Rf0d1381bcd144b8d" /><Relationship Type="http://schemas.openxmlformats.org/officeDocument/2006/relationships/slide" Target="/ppt/slides/slide7.xml" Id="Rcc34d78911284adb" /><Relationship Type="http://schemas.openxmlformats.org/officeDocument/2006/relationships/slide" Target="/ppt/slides/slide8.xml" Id="R2a7ed1e4e81042c5" /><Relationship Type="http://schemas.openxmlformats.org/officeDocument/2006/relationships/slide" Target="/ppt/slides/slide9.xml" Id="Rc70563783e5b484e" /><Relationship Type="http://schemas.openxmlformats.org/officeDocument/2006/relationships/slide" Target="/ppt/slides/slide10.xml" Id="R51bd8ffcd69c4f0b" /><Relationship Type="http://schemas.openxmlformats.org/officeDocument/2006/relationships/slide" Target="/ppt/slides/slide11.xml" Id="R070b3eb8ce414873" /><Relationship Type="http://schemas.openxmlformats.org/officeDocument/2006/relationships/slide" Target="/ppt/slides/slide12.xml" Id="Redb413d35fab43b6" /><Relationship Type="http://schemas.openxmlformats.org/officeDocument/2006/relationships/slide" Target="/ppt/slides/slide13.xml" Id="R4e2bcc964e7646b6" /><Relationship Type="http://schemas.openxmlformats.org/officeDocument/2006/relationships/slide" Target="/ppt/slides/slide14.xml" Id="R4396df0f51994ca9" /><Relationship Type="http://schemas.openxmlformats.org/officeDocument/2006/relationships/slide" Target="/ppt/slides/slide15.xml" Id="R116bb5609ad24daa" /><Relationship Type="http://schemas.openxmlformats.org/officeDocument/2006/relationships/slide" Target="/ppt/slides/slide16.xml" Id="R74ee880ae71e4cf6" /><Relationship Type="http://schemas.openxmlformats.org/officeDocument/2006/relationships/slide" Target="/ppt/slides/slide17.xml" Id="R09025893f96245ec" /><Relationship Type="http://schemas.openxmlformats.org/officeDocument/2006/relationships/slide" Target="/ppt/slides/slide18.xml" Id="Rfaca687d731144db" /><Relationship Type="http://schemas.openxmlformats.org/officeDocument/2006/relationships/slide" Target="/ppt/slides/slide19.xml" Id="R3c636bf8b5724497" /><Relationship Type="http://schemas.openxmlformats.org/officeDocument/2006/relationships/slide" Target="/ppt/slides/slide20.xml" Id="R497425cb9ae0488e" /><Relationship Type="http://schemas.openxmlformats.org/officeDocument/2006/relationships/slide" Target="/ppt/slides/slide21.xml" Id="R1861ede14a4e4123" /><Relationship Type="http://schemas.openxmlformats.org/officeDocument/2006/relationships/slide" Target="/ppt/slides/slide22.xml" Id="R09c7fbae21eb42a2" /><Relationship Type="http://schemas.openxmlformats.org/officeDocument/2006/relationships/slide" Target="/ppt/slides/slide23.xml" Id="Rac2e3dc6ee5a4366" /><Relationship Type="http://schemas.openxmlformats.org/officeDocument/2006/relationships/slide" Target="/ppt/slides/slide24.xml" Id="R2fc800a7d16d4ea3" /><Relationship Type="http://schemas.openxmlformats.org/officeDocument/2006/relationships/slide" Target="/ppt/slides/slide25.xml" Id="R194e9af25417489f" /><Relationship Type="http://schemas.openxmlformats.org/officeDocument/2006/relationships/slide" Target="/ppt/slides/slide26.xml" Id="R121254bd23c94f5f" /><Relationship Type="http://schemas.openxmlformats.org/officeDocument/2006/relationships/slide" Target="/ppt/slides/slide27.xml" Id="R1bf7d4450be14775" /><Relationship Type="http://schemas.openxmlformats.org/officeDocument/2006/relationships/slide" Target="/ppt/slides/slide28.xml" Id="R482d4dac7a084f88" /><Relationship Type="http://schemas.openxmlformats.org/officeDocument/2006/relationships/slide" Target="/ppt/slides/slide29.xml" Id="Rf69f1bc97a394e2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8dd994145794a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e0514667824dcf" /><Relationship Type="http://schemas.openxmlformats.org/officeDocument/2006/relationships/notesMaster" Target="/ppt/notesMasters/notesMaster1.xml" Id="R2e40f7be76ec40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5e209459ba4253" /><Relationship Type="http://schemas.openxmlformats.org/officeDocument/2006/relationships/notesMaster" Target="/ppt/notesMasters/notesMaster1.xml" Id="R6bef973a1c5f48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80ed355b8046ef" /><Relationship Type="http://schemas.openxmlformats.org/officeDocument/2006/relationships/notesMaster" Target="/ppt/notesMasters/notesMaster1.xml" Id="R03b982c14ce747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98eb85a0c04ea1" /><Relationship Type="http://schemas.openxmlformats.org/officeDocument/2006/relationships/notesMaster" Target="/ppt/notesMasters/notesMaster1.xml" Id="R98713b89dbf041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9f681a780dc4a9b" /><Relationship Type="http://schemas.openxmlformats.org/officeDocument/2006/relationships/notesMaster" Target="/ppt/notesMasters/notesMaster1.xml" Id="R822733ad53f344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3dc6b444e69440f" /><Relationship Type="http://schemas.openxmlformats.org/officeDocument/2006/relationships/notesMaster" Target="/ppt/notesMasters/notesMaster1.xml" Id="Rdb50ef3aaea144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94366b9914406b" /><Relationship Type="http://schemas.openxmlformats.org/officeDocument/2006/relationships/notesMaster" Target="/ppt/notesMasters/notesMaster1.xml" Id="R0b102c1dab394e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a159d49ff4543ba" /><Relationship Type="http://schemas.openxmlformats.org/officeDocument/2006/relationships/notesMaster" Target="/ppt/notesMasters/notesMaster1.xml" Id="R71d2385e377340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9cb820e89e24998" /><Relationship Type="http://schemas.openxmlformats.org/officeDocument/2006/relationships/notesMaster" Target="/ppt/notesMasters/notesMaster1.xml" Id="R5fd170110e8147a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c60959bd08d4744" /><Relationship Type="http://schemas.openxmlformats.org/officeDocument/2006/relationships/notesMaster" Target="/ppt/notesMasters/notesMaster1.xml" Id="R48c5734e5ae140b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bb8177316a844dd" /><Relationship Type="http://schemas.openxmlformats.org/officeDocument/2006/relationships/notesMaster" Target="/ppt/notesMasters/notesMaster1.xml" Id="R333f96cd18b84d1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910f7bc9f234002" /><Relationship Type="http://schemas.openxmlformats.org/officeDocument/2006/relationships/notesMaster" Target="/ppt/notesMasters/notesMaster1.xml" Id="Re5839f445e634f5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d374919939540db" /><Relationship Type="http://schemas.openxmlformats.org/officeDocument/2006/relationships/notesMaster" Target="/ppt/notesMasters/notesMaster1.xml" Id="R3b314023819349e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a00359e532e4c1b" /><Relationship Type="http://schemas.openxmlformats.org/officeDocument/2006/relationships/notesMaster" Target="/ppt/notesMasters/notesMaster1.xml" Id="Rae5608f51ea5474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3ecf9be9f1848b1" /><Relationship Type="http://schemas.openxmlformats.org/officeDocument/2006/relationships/notesMaster" Target="/ppt/notesMasters/notesMaster1.xml" Id="R99e42b5722b14de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a6a6693c8164393" /><Relationship Type="http://schemas.openxmlformats.org/officeDocument/2006/relationships/notesMaster" Target="/ppt/notesMasters/notesMaster1.xml" Id="Rb996e9a4454e431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93beefffbf7421b" /><Relationship Type="http://schemas.openxmlformats.org/officeDocument/2006/relationships/notesMaster" Target="/ppt/notesMasters/notesMaster1.xml" Id="R37442355928246f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7b442febf384172" /><Relationship Type="http://schemas.openxmlformats.org/officeDocument/2006/relationships/notesMaster" Target="/ppt/notesMasters/notesMaster1.xml" Id="R4c1e82677fb244a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965e19429444aee" /><Relationship Type="http://schemas.openxmlformats.org/officeDocument/2006/relationships/notesMaster" Target="/ppt/notesMasters/notesMaster1.xml" Id="R16b8477e71cf44a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4d60738e0864a02" /><Relationship Type="http://schemas.openxmlformats.org/officeDocument/2006/relationships/notesMaster" Target="/ppt/notesMasters/notesMaster1.xml" Id="R09628fa769e2478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1b982e41eec4b55" /><Relationship Type="http://schemas.openxmlformats.org/officeDocument/2006/relationships/notesMaster" Target="/ppt/notesMasters/notesMaster1.xml" Id="R084cbb6fd6f543a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6fb1d37afce40fb" /><Relationship Type="http://schemas.openxmlformats.org/officeDocument/2006/relationships/notesMaster" Target="/ppt/notesMasters/notesMaster1.xml" Id="R8152ed0b26a7462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7768e7b88ce4f5e" /><Relationship Type="http://schemas.openxmlformats.org/officeDocument/2006/relationships/notesMaster" Target="/ppt/notesMasters/notesMaster1.xml" Id="R39d2f562d85f49f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aa1c2519c0041c2" /><Relationship Type="http://schemas.openxmlformats.org/officeDocument/2006/relationships/notesMaster" Target="/ppt/notesMasters/notesMaster1.xml" Id="R2735e62b423041c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3940aabd9af43cd" /><Relationship Type="http://schemas.openxmlformats.org/officeDocument/2006/relationships/notesMaster" Target="/ppt/notesMasters/notesMaster1.xml" Id="R70cbd966a2ea4a8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9047d556fb447f2" /><Relationship Type="http://schemas.openxmlformats.org/officeDocument/2006/relationships/notesMaster" Target="/ppt/notesMasters/notesMaster1.xml" Id="R1c181c9fab3a411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4a5f53ffa6a4709" /><Relationship Type="http://schemas.openxmlformats.org/officeDocument/2006/relationships/notesMaster" Target="/ppt/notesMasters/notesMaster1.xml" Id="R9769e796734b413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f9ff15af7b04bb0" /><Relationship Type="http://schemas.openxmlformats.org/officeDocument/2006/relationships/notesMaster" Target="/ppt/notesMasters/notesMaster1.xml" Id="R8dc7be00e4aa442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dbf6fbbae6b46d4" /><Relationship Type="http://schemas.openxmlformats.org/officeDocument/2006/relationships/notesMaster" Target="/ppt/notesMasters/notesMaster1.xml" Id="R6eb98946505e46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## Slide 1: ReactJS · Day One</a:t>
            </a:r>
            <a:endParaRPr sz="1200"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Welcome learners and introduce the small shop Product Catalog example.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2: Meet your trainer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Introduce yourself without inventing credentials. Ask learners to type their name and JavaScript experience in Teams chat.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3: Today’s topic index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Use this index to establish the learning path. Advanced syntax slides can be revisited after the session.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4: HTML, CSS and JavaScript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Use a building analogy briefly: structure, appearance, behaviour. Explain that JSX looks like HTML but is JavaScript syntax.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5: What React does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https://react.dev/learn/your-first-component and https://react.dev/learn/render-and-commit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6: Values and data types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Open src/lessons/javascript-basics.js. Ask which value describes a yes/no condition.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7: const and let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Explain that const does not freeze object properties. Use const by default and let when reassignment is required.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8: An object describes one product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Ask learners to add category: Stationery. Objects can contain many types of values.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9: An array stores a collection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Relate this to the products array in src/data/products.js.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10: Functions turn inputs into results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Identify definition and call separately. Without return this function would return undefined.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11: Conditions choose an outcome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Use true/false examples. Explain ? and : slowly.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12: Arrow function syntax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Explain arrow as function syntax before using map. Differences in this binding are outside today’s core scope.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13: map transforms every item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Show the input items and the returned names one at a time. Source: https://developer.mozilla.org/en-US/docs/Web/JavaScript/Reference/Global_Objects/Array/map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14: filter selects matching items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Use ready.length to connect the example to the dashboard count.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15: Destructuring and spread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Optional deeper explanation after class if learners need more time on functions. Nested objects still share references in a shallow copy.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16: import and export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Explain named exports and matching braces. App uses a default export for its main component.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17: The prepared training project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Clone the tcs-sme-reactjs/day-one branch using the README command, then run these commands. Use an organisation-approved compatible Node version. Source: https://vite.dev/guide/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18: Where each piece belongs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Open the files in this order during the demo. Explain the root div in index.html.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19: Your first function component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https://react.dev/learn/your-first-component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20: JSX rules with an example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https://react.dev/learn/writing-markup-with-jsx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21: JavaScript values inside JSX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https://react.dev/learn/javascript-in-jsx-with-curly-braces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22: One component, different data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Introduce props only enough to understand the guided project. Day 2 covers props in depth. Source: https://react.dev/learn/passing-props-to-a-component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23: Product data becomes a list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key is a special React attribute, not a normal prop. Source: https://react.dev/learn/rendering-lists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24: The Product Catalog demo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Use npm run check:lessons. Show how count, name, price, category and inStock come from data. Keep this walkthrough inside the 20-minute React/demo block.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25: A fourth product on the screen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10 minutes. First 2 min demonstrate the file, next 6 min learner work, final 2 min verify. Keep IDs unique.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26: Common Day 1 mistakes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Show one console error and its file location. If setup fails, learners can edit the JavaScript lesson and predict the expected output.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27: Five questions before we finish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Ask learners to respond in Teams chat before revealing answers. Answers: let, map, filter, a JavaScript expression, a capital letter.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28: What you can now explain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Ask a learner to explain the route from products.js to the browser. Try at home: brand and Out of stock count. Day 2: deeper props, conditions and component reuse.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Slide 29: Practice and learning references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20–30 minutes practice. Official TCS E1 syllabus and assessment rules govern certification coverage. Sources: https://react.dev/learn https://developer.mozilla.org/en-US/docs/Web/JavaScript/Guide https://vite.dev/guide/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Project example: Product Catalog. Products have a numeric INR price and a boolean inStock field.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c3c97eb7a1416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798d36db7d4a7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cafaf364c94b6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b7d6d8dda4419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4379004f054e9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8f44036fb643d1" /></Relationships>
</file>

<file path=ppt/slideLayouts/slideLayout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 Shape;12;p3">
            <a:extLst xmlns:a="http://schemas.openxmlformats.org/drawingml/2006/main">
              <a:ext uri="{FF2B5EF4-FFF2-40B4-BE49-F238E27FC236}">
                <a16:creationId xmlns:a16="http://schemas.microsoft.com/office/drawing/2014/main" id="{BDDB4FF7-9A01-4C23-BC97-035E8CEFE4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/>
          </a:bodyPr>
          <a:lstStyle xmlns:a="http://schemas.openxmlformats.org/drawingml/2006/main">
            <a:lvl1pPr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3" name="Google Shape;13;p3">
            <a:extLst xmlns:a="http://schemas.openxmlformats.org/drawingml/2006/main">
              <a:ext uri="{FF2B5EF4-FFF2-40B4-BE49-F238E27FC236}">
                <a16:creationId xmlns:a16="http://schemas.microsoft.com/office/drawing/2014/main" id="{35D227A9-A31B-4F92-ACBB-F74959FA7E1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/>
          </a:bodyPr>
          <a:lstStyle xmlns:a="http://schemas.openxmlformats.org/drawingml/2006/main">
            <a:lvl1pPr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 matchingName="Section Header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4">
            <a:extLst xmlns:a="http://schemas.openxmlformats.org/drawingml/2006/main">
              <a:ext uri="{FF2B5EF4-FFF2-40B4-BE49-F238E27FC236}">
                <a16:creationId xmlns:a16="http://schemas.microsoft.com/office/drawing/2014/main" id="{493B9B57-69E4-4C66-A935-B13A517A2C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/>
          </a:bodyPr>
          <a:lstStyle xmlns:a="http://schemas.openxmlformats.org/drawingml/2006/main">
            <a:lvl1pPr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 matchingName="Title and Body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5">
            <a:extLst xmlns:a="http://schemas.openxmlformats.org/drawingml/2006/main">
              <a:ext uri="{FF2B5EF4-FFF2-40B4-BE49-F238E27FC236}">
                <a16:creationId xmlns:a16="http://schemas.microsoft.com/office/drawing/2014/main" id="{6C164325-E942-46F5-A6B7-D422AF7F5F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8" name="Google Shape;18;p5">
            <a:extLst xmlns:a="http://schemas.openxmlformats.org/drawingml/2006/main">
              <a:ext uri="{FF2B5EF4-FFF2-40B4-BE49-F238E27FC236}">
                <a16:creationId xmlns:a16="http://schemas.microsoft.com/office/drawing/2014/main" id="{49DC3AA1-C5FE-4BB7-815C-C1C6254306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marR="0" indent="-3810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marR="0" indent="-3556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marR="0" indent="-342900" algn="l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 matchingName="Title and Two Colum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Google Shape;20;p6">
            <a:extLst xmlns:a="http://schemas.openxmlformats.org/drawingml/2006/main">
              <a:ext uri="{FF2B5EF4-FFF2-40B4-BE49-F238E27FC236}">
                <a16:creationId xmlns:a16="http://schemas.microsoft.com/office/drawing/2014/main" id="{11859609-A750-473A-90BA-337213EF32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21" name="Google Shape;21;p6">
            <a:extLst xmlns:a="http://schemas.openxmlformats.org/drawingml/2006/main">
              <a:ext uri="{FF2B5EF4-FFF2-40B4-BE49-F238E27FC236}">
                <a16:creationId xmlns:a16="http://schemas.microsoft.com/office/drawing/2014/main" id="{F67FBC97-62D3-44DF-ABEA-F9144EF39E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marR="0" indent="-3810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marR="0" indent="-3556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marR="0" indent="-342900" algn="l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22" name="Google Shape;22;p6">
            <a:extLst xmlns:a="http://schemas.openxmlformats.org/drawingml/2006/main">
              <a:ext uri="{FF2B5EF4-FFF2-40B4-BE49-F238E27FC236}">
                <a16:creationId xmlns:a16="http://schemas.microsoft.com/office/drawing/2014/main" id="{77BA7F50-9155-493E-8165-496B285D73A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marR="0" indent="-3810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marR="0" indent="-3556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marR="0" indent="-342900" algn="l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matchingName="Title and One Colum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Google Shape;24;p7">
            <a:extLst xmlns:a="http://schemas.openxmlformats.org/drawingml/2006/main">
              <a:ext uri="{FF2B5EF4-FFF2-40B4-BE49-F238E27FC236}">
                <a16:creationId xmlns:a16="http://schemas.microsoft.com/office/drawing/2014/main" id="{F211BB00-C4B6-486A-A272-8E500CA2A9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25" name="Google Shape;25;p7">
            <a:extLst xmlns:a="http://schemas.openxmlformats.org/drawingml/2006/main">
              <a:ext uri="{FF2B5EF4-FFF2-40B4-BE49-F238E27FC236}">
                <a16:creationId xmlns:a16="http://schemas.microsoft.com/office/drawing/2014/main" id="{5E0B81BC-2FC2-4407-9AFF-9934AF8D11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marR="0" indent="-3810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marR="0" indent="-3556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marR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marR="0" indent="-342900" algn="l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d63099328d4cc1" /><Relationship Type="http://schemas.openxmlformats.org/officeDocument/2006/relationships/slideLayout" Target="/ppt/slideLayouts/slideLayout1.xml" Id="Reef246e7df6f44b8" /><Relationship Type="http://schemas.openxmlformats.org/officeDocument/2006/relationships/slideLayout" Target="/ppt/slideLayouts/slideLayout2.xml" Id="R1a1960505ab547d2" /><Relationship Type="http://schemas.openxmlformats.org/officeDocument/2006/relationships/slideLayout" Target="/ppt/slideLayouts/slideLayout3.xml" Id="Ra3b23cde36f74cbf" /><Relationship Type="http://schemas.openxmlformats.org/officeDocument/2006/relationships/slideLayout" Target="/ppt/slideLayouts/slideLayout4.xml" Id="Re121b45edc274279" /><Relationship Type="http://schemas.openxmlformats.org/officeDocument/2006/relationships/slideLayout" Target="/ppt/slideLayouts/slideLayout5.xml" Id="R52414c258e7f4633" /><Relationship Type="http://schemas.openxmlformats.org/officeDocument/2006/relationships/slideLayout" Target="/ppt/slideLayouts/slideLayout6.xml" Id="Rc35f661357664ee4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f246e7df6f44b8"/>
    <p:sldLayoutId xmlns:r="http://schemas.openxmlformats.org/officeDocument/2006/relationships" id="2147483650" r:id="R1a1960505ab547d2"/>
    <p:sldLayoutId xmlns:r="http://schemas.openxmlformats.org/officeDocument/2006/relationships" id="2147483651" r:id="Ra3b23cde36f74cbf"/>
    <p:sldLayoutId xmlns:r="http://schemas.openxmlformats.org/officeDocument/2006/relationships" id="2147483652" r:id="Re121b45edc274279"/>
    <p:sldLayoutId xmlns:r="http://schemas.openxmlformats.org/officeDocument/2006/relationships" id="2147483653" r:id="R52414c258e7f4633"/>
    <p:sldLayoutId xmlns:r="http://schemas.openxmlformats.org/officeDocument/2006/relationships" id="2147483654" r:id="Rc35f661357664ee4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59df527cb4254" /><Relationship Type="http://schemas.openxmlformats.org/officeDocument/2006/relationships/image" Target="/ppt/media/image.png" Id="R11e84632bb454e70" /><Relationship Type="http://schemas.openxmlformats.org/officeDocument/2006/relationships/notesSlide" Target="/ppt/notesSlides/notesSlide1.xml" Id="R033e55f7085d4c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ed1c579d4433b" /><Relationship Type="http://schemas.openxmlformats.org/officeDocument/2006/relationships/notesSlide" Target="/ppt/notesSlides/notesSlide2.xml" Id="Ra27f5860dfd74e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53b0fd91047e2" /><Relationship Type="http://schemas.openxmlformats.org/officeDocument/2006/relationships/notesSlide" Target="/ppt/notesSlides/notesSlide3.xml" Id="Re03072e25bbc4b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2f3ec1c9794e06" /><Relationship Type="http://schemas.openxmlformats.org/officeDocument/2006/relationships/notesSlide" Target="/ppt/notesSlides/notesSlide4.xml" Id="R595b05cfb901421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316f2c331740c8" /><Relationship Type="http://schemas.openxmlformats.org/officeDocument/2006/relationships/notesSlide" Target="/ppt/notesSlides/notesSlide5.xml" Id="R1c2e7954844a44b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2858715a484d54" /><Relationship Type="http://schemas.openxmlformats.org/officeDocument/2006/relationships/notesSlide" Target="/ppt/notesSlides/notesSlide6.xml" Id="Rec9a3517cac849c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050edabb448c9" /><Relationship Type="http://schemas.openxmlformats.org/officeDocument/2006/relationships/notesSlide" Target="/ppt/notesSlides/notesSlide7.xml" Id="Rb8e7ec31df5549c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7c445b39ac46fe" /><Relationship Type="http://schemas.openxmlformats.org/officeDocument/2006/relationships/notesSlide" Target="/ppt/notesSlides/notesSlide8.xml" Id="R2868589ca305453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be01e7800f4af4" /><Relationship Type="http://schemas.openxmlformats.org/officeDocument/2006/relationships/notesSlide" Target="/ppt/notesSlides/notesSlide9.xml" Id="Re522aa88b3534ba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83665b611b4e46" /><Relationship Type="http://schemas.openxmlformats.org/officeDocument/2006/relationships/notesSlide" Target="/ppt/notesSlides/notesSlide10.xml" Id="R32343eb0f5ac479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4fc747a9da4b28" /><Relationship Type="http://schemas.openxmlformats.org/officeDocument/2006/relationships/notesSlide" Target="/ppt/notesSlides/notesSlide11.xml" Id="R964349583ecd4cb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c99243b6c94328" /><Relationship Type="http://schemas.openxmlformats.org/officeDocument/2006/relationships/notesSlide" Target="/ppt/notesSlides/notesSlide12.xml" Id="R6c152e1b512040a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02aa44fa6943d2" /><Relationship Type="http://schemas.openxmlformats.org/officeDocument/2006/relationships/notesSlide" Target="/ppt/notesSlides/notesSlide13.xml" Id="R947437d51c044d9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3a01d622b3462f" /><Relationship Type="http://schemas.openxmlformats.org/officeDocument/2006/relationships/notesSlide" Target="/ppt/notesSlides/notesSlide14.xml" Id="Rd3927b64f35844b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b7eaf021124f84" /><Relationship Type="http://schemas.openxmlformats.org/officeDocument/2006/relationships/notesSlide" Target="/ppt/notesSlides/notesSlide15.xml" Id="R912ea83632244c3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2fadcca25495d" /><Relationship Type="http://schemas.openxmlformats.org/officeDocument/2006/relationships/notesSlide" Target="/ppt/notesSlides/notesSlide16.xml" Id="R2c37f5c75ad24b1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9d4c6383d44631" /><Relationship Type="http://schemas.openxmlformats.org/officeDocument/2006/relationships/notesSlide" Target="/ppt/notesSlides/notesSlide17.xml" Id="R88f8e6a3d8c1493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18eb3e79d74371" /><Relationship Type="http://schemas.openxmlformats.org/officeDocument/2006/relationships/notesSlide" Target="/ppt/notesSlides/notesSlide18.xml" Id="Rd0b12e4b72d84ff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25573bbbef4d16" /><Relationship Type="http://schemas.openxmlformats.org/officeDocument/2006/relationships/notesSlide" Target="/ppt/notesSlides/notesSlide19.xml" Id="R26eeef87ec4e446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589c5f50054c66" /><Relationship Type="http://schemas.openxmlformats.org/officeDocument/2006/relationships/notesSlide" Target="/ppt/notesSlides/notesSlide20.xml" Id="R11945592903a4d3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42125b564c43f8" /><Relationship Type="http://schemas.openxmlformats.org/officeDocument/2006/relationships/notesSlide" Target="/ppt/notesSlides/notesSlide21.xml" Id="R81b165d9d1e14a1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887b4e6e914ecc" /><Relationship Type="http://schemas.openxmlformats.org/officeDocument/2006/relationships/notesSlide" Target="/ppt/notesSlides/notesSlide22.xml" Id="R62a6ea3fedf14ca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6e6fa75b6f4e85" /><Relationship Type="http://schemas.openxmlformats.org/officeDocument/2006/relationships/notesSlide" Target="/ppt/notesSlides/notesSlide23.xml" Id="Rd03265ea5c834ed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477a3f9d184237" /><Relationship Type="http://schemas.openxmlformats.org/officeDocument/2006/relationships/image" Target="/ppt/media/image2.png" Id="R78e290d08c574974" /><Relationship Type="http://schemas.openxmlformats.org/officeDocument/2006/relationships/notesSlide" Target="/ppt/notesSlides/notesSlide24.xml" Id="R9fce3b0e4ba94e3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21a0a81d584548" /><Relationship Type="http://schemas.openxmlformats.org/officeDocument/2006/relationships/notesSlide" Target="/ppt/notesSlides/notesSlide25.xml" Id="R64b17c9f44654e3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1c3b253b274804" /><Relationship Type="http://schemas.openxmlformats.org/officeDocument/2006/relationships/notesSlide" Target="/ppt/notesSlides/notesSlide26.xml" Id="R69490a5685a14e9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502b7f53444a4" /><Relationship Type="http://schemas.openxmlformats.org/officeDocument/2006/relationships/notesSlide" Target="/ppt/notesSlides/notesSlide27.xml" Id="Rc94357b96d2148e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c6d2ebd5734b5b" /><Relationship Type="http://schemas.openxmlformats.org/officeDocument/2006/relationships/notesSlide" Target="/ppt/notesSlides/notesSlide28.xml" Id="R711e1426ad234b3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2f188118324656" /><Relationship Type="http://schemas.openxmlformats.org/officeDocument/2006/relationships/notesSlide" Target="/ppt/notesSlides/notesSlide29.xml" Id="R3767f34dc7864dc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37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Google Shape;31;p8">
            <a:extLst xmlns:a="http://schemas.openxmlformats.org/drawingml/2006/main">
              <a:ext uri="{FF2B5EF4-FFF2-40B4-BE49-F238E27FC236}">
                <a16:creationId xmlns:a16="http://schemas.microsoft.com/office/drawing/2014/main" id="{012FE4CE-A3E9-4D3E-9B9A-08D75177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92E8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92E8D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2E8DF"/>
                </a:solidFill>
                <a:latin typeface="Arial"/>
                <a:ea typeface="Arial"/>
                <a:cs typeface="Arial"/>
              </a:rPr>
              <a:t>INTRODUCTION</a:t>
            </a:r>
            <a:endParaRPr/>
          </a:p>
        </p:txBody>
      </p:sp>
      <p:sp>
        <p:nvSpPr>
          <p:cNvPr id="32" name="Google Shape;32;p8">
            <a:extLst xmlns:a="http://schemas.openxmlformats.org/drawingml/2006/main">
              <a:ext uri="{FF2B5EF4-FFF2-40B4-BE49-F238E27FC236}">
                <a16:creationId xmlns:a16="http://schemas.microsoft.com/office/drawing/2014/main" id="{BB23E279-7E59-48DB-95DF-42AE05CA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47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ReactJS · Day One</a:t>
            </a:r>
            <a:endParaRPr/>
          </a:p>
        </p:txBody>
      </p:sp>
      <p:pic>
        <p:nvPic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9A9AFB74-4455-4432-85F7-46B2D467FC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e84632bb454e7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477000" y="2000250"/>
            <a:ext cx="5143500" cy="3429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5DA89364-3D89-4A4B-AA51-A2F8F755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5524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3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JavaScript foundations and your first React screen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Subha Prasad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12 October 2026 · 10:00–11:00 AM IST</a:t>
            </a:r>
            <a:endParaRPr/>
          </a:p>
        </p:txBody>
      </p:sp>
      <p:sp>
        <p:nvSpPr>
          <p:cNvPr id="35" name="Google Shape;35;p8">
            <a:extLst xmlns:a="http://schemas.openxmlformats.org/drawingml/2006/main">
              <a:ext uri="{FF2B5EF4-FFF2-40B4-BE49-F238E27FC236}">
                <a16:creationId xmlns:a16="http://schemas.microsoft.com/office/drawing/2014/main" id="{746A7C66-B767-4666-BE0D-9857EDF1E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92B4C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2B4C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B4C2"/>
                </a:solidFill>
                <a:latin typeface="Arial"/>
                <a:ea typeface="Arial"/>
                <a:cs typeface="Arial"/>
              </a:rPr>
              <a:t>01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770250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Google Shape;41;p9">
            <a:extLst xmlns:a="http://schemas.openxmlformats.org/drawingml/2006/main">
              <a:ext uri="{FF2B5EF4-FFF2-40B4-BE49-F238E27FC236}">
                <a16:creationId xmlns:a16="http://schemas.microsoft.com/office/drawing/2014/main" id="{7497C533-4141-4526-A274-6B28147C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INTRODUCTION</a:t>
            </a:r>
            <a:endParaRPr/>
          </a:p>
        </p:txBody>
      </p:sp>
      <p:sp>
        <p:nvSpPr>
          <p:cNvPr id="42" name="Google Shape;42;p9">
            <a:extLst xmlns:a="http://schemas.openxmlformats.org/drawingml/2006/main">
              <a:ext uri="{FF2B5EF4-FFF2-40B4-BE49-F238E27FC236}">
                <a16:creationId xmlns:a16="http://schemas.microsoft.com/office/drawing/2014/main" id="{887B74B4-7338-4E95-B8A2-B5F6E73A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47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Meet your trainer</a:t>
            </a:r>
            <a:endParaRPr/>
          </a:p>
        </p:txBody>
      </p:sp>
      <p:sp>
        <p:nvSpPr>
          <p:cNvPr id="43" name="Google Shape;43;p9">
            <a:extLst xmlns:a="http://schemas.openxmlformats.org/drawingml/2006/main">
              <a:ext uri="{FF2B5EF4-FFF2-40B4-BE49-F238E27FC236}">
                <a16:creationId xmlns:a16="http://schemas.microsoft.com/office/drawing/2014/main" id="{EFD1449B-B2E0-4401-A785-5277B0C1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477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Subha Prasad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TCS · Assets Consultant (C3A)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SME trainer for this ReactJS learning programme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25" b="0">
              <a:solidFill>
                <a:srgbClr val="203B4D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Today we learn through fictional product data.</a:t>
            </a:r>
            <a:endParaRPr/>
          </a:p>
        </p:txBody>
      </p:sp>
      <p:sp>
        <p:nvSpPr>
          <p:cNvPr id="44" name="Google Shape;44;p9">
            <a:extLst xmlns:a="http://schemas.openxmlformats.org/drawingml/2006/main">
              <a:ext uri="{FF2B5EF4-FFF2-40B4-BE49-F238E27FC236}">
                <a16:creationId xmlns:a16="http://schemas.microsoft.com/office/drawing/2014/main" id="{4CEEE8C1-A13A-4184-B25A-4A4F1284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02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578370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Google Shape;50;p10">
            <a:extLst xmlns:a="http://schemas.openxmlformats.org/drawingml/2006/main">
              <a:ext uri="{FF2B5EF4-FFF2-40B4-BE49-F238E27FC236}">
                <a16:creationId xmlns:a16="http://schemas.microsoft.com/office/drawing/2014/main" id="{21CE9D7D-E2E6-42CB-B700-8557EDFF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TOPIC INDEX</a:t>
            </a:r>
            <a:endParaRPr/>
          </a:p>
        </p:txBody>
      </p:sp>
      <p:sp>
        <p:nvSpPr>
          <p:cNvPr id="51" name="Google Shape;51;p10">
            <a:extLst xmlns:a="http://schemas.openxmlformats.org/drawingml/2006/main">
              <a:ext uri="{FF2B5EF4-FFF2-40B4-BE49-F238E27FC236}">
                <a16:creationId xmlns:a16="http://schemas.microsoft.com/office/drawing/2014/main" id="{F5EA41F4-CBE4-4719-8B90-5EDC275B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47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Today’s topic index</a:t>
            </a:r>
            <a:endParaRPr/>
          </a:p>
        </p:txBody>
      </p:sp>
      <p:sp>
        <p:nvSpPr>
          <p:cNvPr id="52" name="Google Shape;52;p10">
            <a:extLst xmlns:a="http://schemas.openxmlformats.org/drawingml/2006/main">
              <a:ext uri="{FF2B5EF4-FFF2-40B4-BE49-F238E27FC236}">
                <a16:creationId xmlns:a16="http://schemas.microsoft.com/office/drawing/2014/main" id="{8597007B-3AF4-41A9-89F3-35835D663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477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01  The web and React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02  JavaScript values and variables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03  Objects, arrays and functions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04  map, filter and modules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05  React setup, components and JSX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06  Product Catalog hands-on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07  Quiz and next steps</a:t>
            </a:r>
            <a:endParaRPr/>
          </a:p>
        </p:txBody>
      </p:sp>
      <p:sp>
        <p:nvSpPr>
          <p:cNvPr id="53" name="Google Shape;53;p10">
            <a:extLst xmlns:a="http://schemas.openxmlformats.org/drawingml/2006/main">
              <a:ext uri="{FF2B5EF4-FFF2-40B4-BE49-F238E27FC236}">
                <a16:creationId xmlns:a16="http://schemas.microsoft.com/office/drawing/2014/main" id="{93A1E0D9-6D68-4383-A37D-14FE7C18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03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546310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11">
            <a:extLst xmlns:a="http://schemas.openxmlformats.org/drawingml/2006/main">
              <a:ext uri="{FF2B5EF4-FFF2-40B4-BE49-F238E27FC236}">
                <a16:creationId xmlns:a16="http://schemas.microsoft.com/office/drawing/2014/main" id="{84107DCF-33C6-4C38-86C0-65A762F5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WEB FOUNDATIONS</a:t>
            </a:r>
            <a:endParaRPr/>
          </a:p>
        </p:txBody>
      </p:sp>
      <p:sp>
        <p:nvSpPr>
          <p:cNvPr id="60" name="Google Shape;60;p11">
            <a:extLst xmlns:a="http://schemas.openxmlformats.org/drawingml/2006/main">
              <a:ext uri="{FF2B5EF4-FFF2-40B4-BE49-F238E27FC236}">
                <a16:creationId xmlns:a16="http://schemas.microsoft.com/office/drawing/2014/main" id="{F60DC95A-7797-4B33-B615-DA1AF2F9B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HTML, CSS and JavaScript</a:t>
            </a:r>
            <a:endParaRPr/>
          </a:p>
        </p:txBody>
      </p:sp>
      <p:sp>
        <p:nvSpPr>
          <p:cNvPr id="61" name="Google Shape;61;p11">
            <a:extLst xmlns:a="http://schemas.openxmlformats.org/drawingml/2006/main">
              <a:ext uri="{FF2B5EF4-FFF2-40B4-BE49-F238E27FC236}">
                <a16:creationId xmlns:a16="http://schemas.microsoft.com/office/drawing/2014/main" id="{34B783BF-8841-4930-8799-6577ED78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HTML describes the content and structure.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CSS controls appearance and layout.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JavaScript works with data and behaviour.</a:t>
            </a:r>
            <a:endParaRPr/>
          </a:p>
        </p:txBody>
      </p:sp>
      <p:sp>
        <p:nvSpPr>
          <p:cNvPr id="62" name="Google Shape;62;p11">
            <a:extLst xmlns:a="http://schemas.openxmlformats.org/drawingml/2006/main">
              <a:ext uri="{FF2B5EF4-FFF2-40B4-BE49-F238E27FC236}">
                <a16:creationId xmlns:a16="http://schemas.microsoft.com/office/drawing/2014/main" id="{2A31E253-FF32-475C-B4DD-A43C7409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&lt;h1&gt;Product Catalog&lt;/h1&gt;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 b="0">
              <a:solidFill>
                <a:srgbClr val="087B80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h1 { color: teal; }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 b="0">
              <a:solidFill>
                <a:srgbClr val="087B80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productCount = 3;</a:t>
            </a:r>
            <a:endParaRPr/>
          </a:p>
        </p:txBody>
      </p:sp>
      <p:sp>
        <p:nvSpPr>
          <p:cNvPr id="63" name="Google Shape;63;p11">
            <a:extLst xmlns:a="http://schemas.openxmlformats.org/drawingml/2006/main">
              <a:ext uri="{FF2B5EF4-FFF2-40B4-BE49-F238E27FC236}">
                <a16:creationId xmlns:a16="http://schemas.microsoft.com/office/drawing/2014/main" id="{89475FF1-0C92-47B1-A277-3E91D984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One heading, one style rule, one value</a:t>
            </a:r>
            <a:endParaRPr/>
          </a:p>
        </p:txBody>
      </p:sp>
      <p:sp>
        <p:nvSpPr>
          <p:cNvPr id="64" name="Google Shape;64;p11">
            <a:extLst xmlns:a="http://schemas.openxmlformats.org/drawingml/2006/main">
              <a:ext uri="{FF2B5EF4-FFF2-40B4-BE49-F238E27FC236}">
                <a16:creationId xmlns:a16="http://schemas.microsoft.com/office/drawing/2014/main" id="{CAB05EC6-3702-4C74-8331-FC3AD1ED7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04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86541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Google Shape;70;p12">
            <a:extLst xmlns:a="http://schemas.openxmlformats.org/drawingml/2006/main">
              <a:ext uri="{FF2B5EF4-FFF2-40B4-BE49-F238E27FC236}">
                <a16:creationId xmlns:a16="http://schemas.microsoft.com/office/drawing/2014/main" id="{E5ED8245-BD47-461B-8791-60A3609C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REACT INTRODUCTION</a:t>
            </a:r>
            <a:endParaRPr/>
          </a:p>
        </p:txBody>
      </p:sp>
      <p:sp>
        <p:nvSpPr>
          <p:cNvPr id="71" name="Google Shape;71;p12">
            <a:extLst xmlns:a="http://schemas.openxmlformats.org/drawingml/2006/main">
              <a:ext uri="{FF2B5EF4-FFF2-40B4-BE49-F238E27FC236}">
                <a16:creationId xmlns:a16="http://schemas.microsoft.com/office/drawing/2014/main" id="{6357B984-EE04-41E2-9053-8A89A54F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What React does</a:t>
            </a:r>
            <a:endParaRPr/>
          </a:p>
        </p:txBody>
      </p:sp>
      <p:sp>
        <p:nvSpPr>
          <p:cNvPr id="72" name="Google Shape;72;p12">
            <a:extLst xmlns:a="http://schemas.openxmlformats.org/drawingml/2006/main">
              <a:ext uri="{FF2B5EF4-FFF2-40B4-BE49-F238E27FC236}">
                <a16:creationId xmlns:a16="http://schemas.microsoft.com/office/drawing/2014/main" id="{F3423AF1-9A2F-413A-A950-75EAECC0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React is a library for building user interfaces.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component describes a reusable part of a screen.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Components use data to produce JSX.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React commits necessary changes to the browser DOM.</a:t>
            </a:r>
            <a:endParaRPr/>
          </a:p>
        </p:txBody>
      </p:sp>
      <p:sp>
        <p:nvSpPr>
          <p:cNvPr id="73" name="Google Shape;73;p12">
            <a:extLst xmlns:a="http://schemas.openxmlformats.org/drawingml/2006/main">
              <a:ext uri="{FF2B5EF4-FFF2-40B4-BE49-F238E27FC236}">
                <a16:creationId xmlns:a16="http://schemas.microsoft.com/office/drawing/2014/main" id="{D4256BEF-3DFE-42B3-A91D-038895BC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function Heading() {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return &lt;h1&gt;Product Catalog&lt;/h1&gt;;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</p:txBody>
      </p:sp>
      <p:sp>
        <p:nvSpPr>
          <p:cNvPr id="74" name="Google Shape;74;p12">
            <a:extLst xmlns:a="http://schemas.openxmlformats.org/drawingml/2006/main">
              <a:ext uri="{FF2B5EF4-FFF2-40B4-BE49-F238E27FC236}">
                <a16:creationId xmlns:a16="http://schemas.microsoft.com/office/drawing/2014/main" id="{3500BAEF-F4A9-47F1-BE1E-2CA46B5AA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&lt;Heading /&gt; displays the heading</a:t>
            </a:r>
            <a:endParaRPr/>
          </a:p>
        </p:txBody>
      </p:sp>
      <p:sp>
        <p:nvSpPr>
          <p:cNvPr id="75" name="Google Shape;75;p12">
            <a:extLst xmlns:a="http://schemas.openxmlformats.org/drawingml/2006/main">
              <a:ext uri="{FF2B5EF4-FFF2-40B4-BE49-F238E27FC236}">
                <a16:creationId xmlns:a16="http://schemas.microsoft.com/office/drawing/2014/main" id="{14EE8924-C647-49C0-BAE2-E2B8F856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05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048582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Google Shape;81;p13">
            <a:extLst xmlns:a="http://schemas.openxmlformats.org/drawingml/2006/main">
              <a:ext uri="{FF2B5EF4-FFF2-40B4-BE49-F238E27FC236}">
                <a16:creationId xmlns:a16="http://schemas.microsoft.com/office/drawing/2014/main" id="{65A18BE9-41FD-404D-8E24-A608B504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JAVASCRIPT · VALUES</a:t>
            </a:r>
            <a:endParaRPr/>
          </a:p>
        </p:txBody>
      </p:sp>
      <p:sp>
        <p:nvSpPr>
          <p:cNvPr id="82" name="Google Shape;82;p13">
            <a:extLst xmlns:a="http://schemas.openxmlformats.org/drawingml/2006/main">
              <a:ext uri="{FF2B5EF4-FFF2-40B4-BE49-F238E27FC236}">
                <a16:creationId xmlns:a16="http://schemas.microsoft.com/office/drawing/2014/main" id="{AD5D0442-0D20-4D95-BDDE-5BF8DAC0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Values and data types</a:t>
            </a:r>
            <a:endParaRPr/>
          </a:p>
        </p:txBody>
      </p:sp>
      <p:sp>
        <p:nvSpPr>
          <p:cNvPr id="83" name="Google Shape;83;p13">
            <a:extLst xmlns:a="http://schemas.openxmlformats.org/drawingml/2006/main">
              <a:ext uri="{FF2B5EF4-FFF2-40B4-BE49-F238E27FC236}">
                <a16:creationId xmlns:a16="http://schemas.microsoft.com/office/drawing/2014/main" id="{C2A5DFFC-C528-4C9D-9DF8-457DA46CC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string stores text. A number stores numeric data.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boolean represents true or false.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value determines what operations make sense.</a:t>
            </a:r>
            <a:endParaRPr/>
          </a:p>
        </p:txBody>
      </p:sp>
      <p:sp>
        <p:nvSpPr>
          <p:cNvPr id="84" name="Google Shape;84;p13">
            <a:extLst xmlns:a="http://schemas.openxmlformats.org/drawingml/2006/main">
              <a:ext uri="{FF2B5EF4-FFF2-40B4-BE49-F238E27FC236}">
                <a16:creationId xmlns:a16="http://schemas.microsoft.com/office/drawing/2014/main" id="{0977E2B6-EC16-47DF-BBE5-7B52444A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name = 'Notebook';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price = 80;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inStock = true;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console.log(typeof price);</a:t>
            </a:r>
            <a:endParaRPr/>
          </a:p>
        </p:txBody>
      </p:sp>
      <p:sp>
        <p:nvSpPr>
          <p:cNvPr id="85" name="Google Shape;85;p13">
            <a:extLst xmlns:a="http://schemas.openxmlformats.org/drawingml/2006/main">
              <a:ext uri="{FF2B5EF4-FFF2-40B4-BE49-F238E27FC236}">
                <a16:creationId xmlns:a16="http://schemas.microsoft.com/office/drawing/2014/main" id="{695EC15E-B5F5-4723-80C3-A963A3B21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Console output: number</a:t>
            </a:r>
            <a:endParaRPr/>
          </a:p>
        </p:txBody>
      </p:sp>
      <p:sp>
        <p:nvSpPr>
          <p:cNvPr id="86" name="Google Shape;86;p13">
            <a:extLst xmlns:a="http://schemas.openxmlformats.org/drawingml/2006/main">
              <a:ext uri="{FF2B5EF4-FFF2-40B4-BE49-F238E27FC236}">
                <a16:creationId xmlns:a16="http://schemas.microsoft.com/office/drawing/2014/main" id="{2704B90B-89A3-431A-A230-2DE2823F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06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920163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2" name="Google Shape;92;p14">
            <a:extLst xmlns:a="http://schemas.openxmlformats.org/drawingml/2006/main">
              <a:ext uri="{FF2B5EF4-FFF2-40B4-BE49-F238E27FC236}">
                <a16:creationId xmlns:a16="http://schemas.microsoft.com/office/drawing/2014/main" id="{168D4B4B-D971-4C3C-8609-17ED7DB6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JAVASCRIPT · VARIABLES</a:t>
            </a:r>
            <a:endParaRPr/>
          </a:p>
        </p:txBody>
      </p:sp>
      <p:sp>
        <p:nvSpPr>
          <p:cNvPr id="93" name="Google Shape;93;p14">
            <a:extLst xmlns:a="http://schemas.openxmlformats.org/drawingml/2006/main">
              <a:ext uri="{FF2B5EF4-FFF2-40B4-BE49-F238E27FC236}">
                <a16:creationId xmlns:a16="http://schemas.microsoft.com/office/drawing/2014/main" id="{EA2BFA5D-A19B-4B39-9A3C-9EF5E7357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const and let</a:t>
            </a:r>
            <a:endParaRPr/>
          </a:p>
        </p:txBody>
      </p:sp>
      <p:sp>
        <p:nvSpPr>
          <p:cNvPr id="94" name="Google Shape;94;p14">
            <a:extLst xmlns:a="http://schemas.openxmlformats.org/drawingml/2006/main">
              <a:ext uri="{FF2B5EF4-FFF2-40B4-BE49-F238E27FC236}">
                <a16:creationId xmlns:a16="http://schemas.microsoft.com/office/drawing/2014/main" id="{7668D715-CFCE-4787-914B-3B0359E1E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variable gives a value a name.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const prevents reassignment of the binding.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let allows reassignment when the value changes.</a:t>
            </a:r>
            <a:endParaRPr/>
          </a:p>
        </p:txBody>
      </p:sp>
      <p:sp>
        <p:nvSpPr>
          <p:cNvPr id="95" name="Google Shape;95;p14">
            <a:extLst xmlns:a="http://schemas.openxmlformats.org/drawingml/2006/main">
              <a:ext uri="{FF2B5EF4-FFF2-40B4-BE49-F238E27FC236}">
                <a16:creationId xmlns:a16="http://schemas.microsoft.com/office/drawing/2014/main" id="{7B74E271-B753-4DBD-9CCA-B16F359F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trainer = 'Subha Prasad';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let topic = 'JavaScript';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topic = 'ReactJS';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console.log(topic);</a:t>
            </a:r>
            <a:endParaRPr/>
          </a:p>
        </p:txBody>
      </p:sp>
      <p:sp>
        <p:nvSpPr>
          <p:cNvPr id="96" name="Google Shape;96;p14">
            <a:extLst xmlns:a="http://schemas.openxmlformats.org/drawingml/2006/main">
              <a:ext uri="{FF2B5EF4-FFF2-40B4-BE49-F238E27FC236}">
                <a16:creationId xmlns:a16="http://schemas.microsoft.com/office/drawing/2014/main" id="{03384BF5-9D7C-430A-83DA-4BF2FCE00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Console output: ReactJS</a:t>
            </a:r>
            <a:endParaRPr/>
          </a:p>
        </p:txBody>
      </p:sp>
      <p:sp>
        <p:nvSpPr>
          <p:cNvPr id="97" name="Google Shape;97;p14">
            <a:extLst xmlns:a="http://schemas.openxmlformats.org/drawingml/2006/main">
              <a:ext uri="{FF2B5EF4-FFF2-40B4-BE49-F238E27FC236}">
                <a16:creationId xmlns:a16="http://schemas.microsoft.com/office/drawing/2014/main" id="{58311180-0ABE-4C6B-BAF8-BBCC934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07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584976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Google Shape;103;p15">
            <a:extLst xmlns:a="http://schemas.openxmlformats.org/drawingml/2006/main">
              <a:ext uri="{FF2B5EF4-FFF2-40B4-BE49-F238E27FC236}">
                <a16:creationId xmlns:a16="http://schemas.microsoft.com/office/drawing/2014/main" id="{36EAE35A-0FEC-4086-9E33-AA93584B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JAVASCRIPT · OBJECTS</a:t>
            </a:r>
            <a:endParaRPr/>
          </a:p>
        </p:txBody>
      </p:sp>
      <p:sp>
        <p:nvSpPr>
          <p:cNvPr id="104" name="Google Shape;104;p15">
            <a:extLst xmlns:a="http://schemas.openxmlformats.org/drawingml/2006/main">
              <a:ext uri="{FF2B5EF4-FFF2-40B4-BE49-F238E27FC236}">
                <a16:creationId xmlns:a16="http://schemas.microsoft.com/office/drawing/2014/main" id="{FBE6DFD7-B677-41FA-8F69-DE4D0570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An object describes one product</a:t>
            </a:r>
            <a:endParaRPr/>
          </a:p>
        </p:txBody>
      </p:sp>
      <p:sp>
        <p:nvSpPr>
          <p:cNvPr id="105" name="Google Shape;105;p15">
            <a:extLst xmlns:a="http://schemas.openxmlformats.org/drawingml/2006/main">
              <a:ext uri="{FF2B5EF4-FFF2-40B4-BE49-F238E27FC236}">
                <a16:creationId xmlns:a16="http://schemas.microsoft.com/office/drawing/2014/main" id="{28BC7B8A-C974-431C-8CD7-2BB9C36A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Properties group related facts.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Each property has a name and a value.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Dot notation reads a property.</a:t>
            </a:r>
            <a:endParaRPr/>
          </a:p>
        </p:txBody>
      </p:sp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67F4C0F6-3A2D-4019-8FDA-C90C35E1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product = {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id: 'P-101', name: 'Notebook',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price: 80, category: 'Stationery',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inStock: true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};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console.log(product.name);</a:t>
            </a:r>
            <a:endParaRPr/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A172E9B8-3D8E-49C2-92B7-5285C2D73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Console output: Notebook</a:t>
            </a:r>
            <a:endParaRPr/>
          </a:p>
        </p:txBody>
      </p:sp>
      <p:sp>
        <p:nvSpPr>
          <p:cNvPr id="108" name="Google Shape;108;p15">
            <a:extLst xmlns:a="http://schemas.openxmlformats.org/drawingml/2006/main">
              <a:ext uri="{FF2B5EF4-FFF2-40B4-BE49-F238E27FC236}">
                <a16:creationId xmlns:a16="http://schemas.microsoft.com/office/drawing/2014/main" id="{8856AB1C-F66D-42A9-B5E7-F15925CC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08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21962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018D8A74-A31C-437E-A05C-5887CE83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JAVASCRIPT · ARRAYS</a:t>
            </a:r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EB160390-5881-4A4D-A3B8-E9FDA09DA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An array stores a collection</a:t>
            </a:r>
            <a:endParaRPr/>
          </a:p>
        </p:txBody>
      </p:sp>
      <p:sp>
        <p:nvSpPr>
          <p:cNvPr id="116" name="Google Shape;116;p16">
            <a:extLst xmlns:a="http://schemas.openxmlformats.org/drawingml/2006/main">
              <a:ext uri="{FF2B5EF4-FFF2-40B4-BE49-F238E27FC236}">
                <a16:creationId xmlns:a16="http://schemas.microsoft.com/office/drawing/2014/main" id="{D1823EA9-9482-48C8-A9FE-9ADA5DA6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An array holds an ordered list of values.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Indexes begin at zero.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length gives the number of items.</a:t>
            </a:r>
            <a:endParaRPr/>
          </a:p>
        </p:txBody>
      </p:sp>
      <p:sp>
        <p:nvSpPr>
          <p:cNvPr id="117" name="Google Shape;117;p16">
            <a:extLst xmlns:a="http://schemas.openxmlformats.org/drawingml/2006/main">
              <a:ext uri="{FF2B5EF4-FFF2-40B4-BE49-F238E27FC236}">
                <a16:creationId xmlns:a16="http://schemas.microsoft.com/office/drawing/2014/main" id="{E0F6D690-8392-4B01-8BDC-0FBD7827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names = ['Notebook', 'Pen'];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console.log(names[0]);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console.log(names.length);</a:t>
            </a:r>
            <a:endParaRPr/>
          </a:p>
        </p:txBody>
      </p:sp>
      <p:sp>
        <p:nvSpPr>
          <p:cNvPr id="118" name="Google Shape;118;p16">
            <a:extLst xmlns:a="http://schemas.openxmlformats.org/drawingml/2006/main">
              <a:ext uri="{FF2B5EF4-FFF2-40B4-BE49-F238E27FC236}">
                <a16:creationId xmlns:a16="http://schemas.microsoft.com/office/drawing/2014/main" id="{74764058-8E38-4B33-9A2C-77E893D9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Console output: Notebook, then 2</a:t>
            </a:r>
            <a:endParaRPr/>
          </a:p>
        </p:txBody>
      </p:sp>
      <p:sp>
        <p:nvSpPr>
          <p:cNvPr id="119" name="Google Shape;119;p16">
            <a:extLst xmlns:a="http://schemas.openxmlformats.org/drawingml/2006/main">
              <a:ext uri="{FF2B5EF4-FFF2-40B4-BE49-F238E27FC236}">
                <a16:creationId xmlns:a16="http://schemas.microsoft.com/office/drawing/2014/main" id="{27DCFCA9-98F7-4BBC-8ACE-65D84C7F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09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984871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Google Shape;125;p17">
            <a:extLst xmlns:a="http://schemas.openxmlformats.org/drawingml/2006/main">
              <a:ext uri="{FF2B5EF4-FFF2-40B4-BE49-F238E27FC236}">
                <a16:creationId xmlns:a16="http://schemas.microsoft.com/office/drawing/2014/main" id="{C0C43BFD-B34B-45C3-BACB-6CDA9FCB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JAVASCRIPT · FUNCTIONS</a:t>
            </a:r>
            <a:endParaRPr/>
          </a:p>
        </p:txBody>
      </p:sp>
      <p:sp>
        <p:nvSpPr>
          <p:cNvPr id="126" name="Google Shape;126;p17">
            <a:extLst xmlns:a="http://schemas.openxmlformats.org/drawingml/2006/main">
              <a:ext uri="{FF2B5EF4-FFF2-40B4-BE49-F238E27FC236}">
                <a16:creationId xmlns:a16="http://schemas.microsoft.com/office/drawing/2014/main" id="{93A094A6-A67E-4B3B-988B-15CA0A8A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Functions turn inputs into results</a:t>
            </a:r>
            <a:endParaRPr/>
          </a:p>
        </p:txBody>
      </p:sp>
      <p:sp>
        <p:nvSpPr>
          <p:cNvPr id="127" name="Google Shape;127;p17">
            <a:extLst xmlns:a="http://schemas.openxmlformats.org/drawingml/2006/main">
              <a:ext uri="{FF2B5EF4-FFF2-40B4-BE49-F238E27FC236}">
                <a16:creationId xmlns:a16="http://schemas.microsoft.com/office/drawing/2014/main" id="{FE6244A4-FDEA-4A7A-BBED-C6682199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parameter names an input.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function body performs the work.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return sends the result back to the caller.</a:t>
            </a:r>
            <a:endParaRPr/>
          </a:p>
        </p:txBody>
      </p:sp>
      <p:sp>
        <p:nvSpPr>
          <p:cNvPr id="128" name="Google Shape;128;p17">
            <a:extLst xmlns:a="http://schemas.openxmlformats.org/drawingml/2006/main">
              <a:ext uri="{FF2B5EF4-FFF2-40B4-BE49-F238E27FC236}">
                <a16:creationId xmlns:a16="http://schemas.microsoft.com/office/drawing/2014/main" id="{EAF8DA43-7B8D-4CFE-B170-C0D999FA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function getName(product) {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return product.name;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name = getName({ name: 'Notebook' });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console.log(name);</a:t>
            </a:r>
            <a:endParaRPr/>
          </a:p>
        </p:txBody>
      </p:sp>
      <p:sp>
        <p:nvSpPr>
          <p:cNvPr id="129" name="Google Shape;129;p17">
            <a:extLst xmlns:a="http://schemas.openxmlformats.org/drawingml/2006/main">
              <a:ext uri="{FF2B5EF4-FFF2-40B4-BE49-F238E27FC236}">
                <a16:creationId xmlns:a16="http://schemas.microsoft.com/office/drawing/2014/main" id="{A2B7B071-207B-43C4-88C5-EBF32EC2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Console output: Notebook</a:t>
            </a:r>
            <a:endParaRPr/>
          </a:p>
        </p:txBody>
      </p:sp>
      <p:sp>
        <p:nvSpPr>
          <p:cNvPr id="130" name="Google Shape;130;p17">
            <a:extLst xmlns:a="http://schemas.openxmlformats.org/drawingml/2006/main">
              <a:ext uri="{FF2B5EF4-FFF2-40B4-BE49-F238E27FC236}">
                <a16:creationId xmlns:a16="http://schemas.microsoft.com/office/drawing/2014/main" id="{A2ECD571-C868-4543-8F00-D09B9C95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10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811620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6" name="Google Shape;136;p18">
            <a:extLst xmlns:a="http://schemas.openxmlformats.org/drawingml/2006/main">
              <a:ext uri="{FF2B5EF4-FFF2-40B4-BE49-F238E27FC236}">
                <a16:creationId xmlns:a16="http://schemas.microsoft.com/office/drawing/2014/main" id="{E08578FD-4C8C-47BE-A27A-3F6B341F1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JAVASCRIPT · CONDITIONS</a:t>
            </a:r>
            <a:endParaRPr/>
          </a:p>
        </p:txBody>
      </p:sp>
      <p:sp>
        <p:nvSpPr>
          <p:cNvPr id="137" name="Google Shape;137;p18">
            <a:extLst xmlns:a="http://schemas.openxmlformats.org/drawingml/2006/main">
              <a:ext uri="{FF2B5EF4-FFF2-40B4-BE49-F238E27FC236}">
                <a16:creationId xmlns:a16="http://schemas.microsoft.com/office/drawing/2014/main" id="{F27C17E3-E9F3-4E24-9D54-C0BE6CA7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Conditions choose an outcome</a:t>
            </a:r>
            <a:endParaRPr/>
          </a:p>
        </p:txBody>
      </p:sp>
      <p:sp>
        <p:nvSpPr>
          <p:cNvPr id="138" name="Google Shape;138;p18">
            <a:extLst xmlns:a="http://schemas.openxmlformats.org/drawingml/2006/main">
              <a:ext uri="{FF2B5EF4-FFF2-40B4-BE49-F238E27FC236}">
                <a16:creationId xmlns:a16="http://schemas.microsoft.com/office/drawing/2014/main" id="{8B518685-DA5A-4366-9A89-733645EF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if runs a branch when its condition is true.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=== compares without type conversion.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ternary is an expression with two outcomes.</a:t>
            </a:r>
            <a:endParaRPr/>
          </a:p>
        </p:txBody>
      </p:sp>
      <p:sp>
        <p:nvSpPr>
          <p:cNvPr id="139" name="Google Shape;139;p18">
            <a:extLst xmlns:a="http://schemas.openxmlformats.org/drawingml/2006/main">
              <a:ext uri="{FF2B5EF4-FFF2-40B4-BE49-F238E27FC236}">
                <a16:creationId xmlns:a16="http://schemas.microsoft.com/office/drawing/2014/main" id="{B311524D-41EC-48A5-AC7D-25329223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inStock = true;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if (inStock === true) {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console.log('Ready to order');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label = inStock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? 'In stock' : 'Out of stock';</a:t>
            </a:r>
            <a:endParaRPr/>
          </a:p>
        </p:txBody>
      </p:sp>
      <p:sp>
        <p:nvSpPr>
          <p:cNvPr id="140" name="Google Shape;140;p18">
            <a:extLst xmlns:a="http://schemas.openxmlformats.org/drawingml/2006/main">
              <a:ext uri="{FF2B5EF4-FFF2-40B4-BE49-F238E27FC236}">
                <a16:creationId xmlns:a16="http://schemas.microsoft.com/office/drawing/2014/main" id="{902C336D-3E43-43C3-93E6-68E7C73E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label contains In stock</a:t>
            </a:r>
            <a:endParaRPr/>
          </a:p>
        </p:txBody>
      </p:sp>
      <p:sp>
        <p:nvSpPr>
          <p:cNvPr id="141" name="Google Shape;141;p18">
            <a:extLst xmlns:a="http://schemas.openxmlformats.org/drawingml/2006/main">
              <a:ext uri="{FF2B5EF4-FFF2-40B4-BE49-F238E27FC236}">
                <a16:creationId xmlns:a16="http://schemas.microsoft.com/office/drawing/2014/main" id="{8C5BD67F-E9D0-4B52-89FC-07155B843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11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168090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19">
            <a:extLst xmlns:a="http://schemas.openxmlformats.org/drawingml/2006/main">
              <a:ext uri="{FF2B5EF4-FFF2-40B4-BE49-F238E27FC236}">
                <a16:creationId xmlns:a16="http://schemas.microsoft.com/office/drawing/2014/main" id="{561C6A59-A774-4394-9E76-D3D791587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JAVASCRIPT · ARROW FUNCTIONS</a:t>
            </a:r>
            <a:endParaRPr/>
          </a:p>
        </p:txBody>
      </p:sp>
      <p:sp>
        <p:nvSpPr>
          <p:cNvPr id="148" name="Google Shape;148;p19">
            <a:extLst xmlns:a="http://schemas.openxmlformats.org/drawingml/2006/main">
              <a:ext uri="{FF2B5EF4-FFF2-40B4-BE49-F238E27FC236}">
                <a16:creationId xmlns:a16="http://schemas.microsoft.com/office/drawing/2014/main" id="{2B87719C-FB04-49CB-9F3B-23B93C35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Arrow function syntax</a:t>
            </a:r>
            <a:endParaRPr/>
          </a:p>
        </p:txBody>
      </p:sp>
      <p:sp>
        <p:nvSpPr>
          <p:cNvPr id="149" name="Google Shape;149;p19">
            <a:extLst xmlns:a="http://schemas.openxmlformats.org/drawingml/2006/main">
              <a:ext uri="{FF2B5EF4-FFF2-40B4-BE49-F238E27FC236}">
                <a16:creationId xmlns:a16="http://schemas.microsoft.com/office/drawing/2014/main" id="{673CE567-60B4-4828-B151-46C486F4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Arrow functions offer compact function syntax.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One expression can return without return.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This form appears often in array callbacks.</a:t>
            </a:r>
            <a:endParaRPr/>
          </a:p>
        </p:txBody>
      </p:sp>
      <p:sp>
        <p:nvSpPr>
          <p:cNvPr id="150" name="Google Shape;150;p19">
            <a:extLst xmlns:a="http://schemas.openxmlformats.org/drawingml/2006/main">
              <a:ext uri="{FF2B5EF4-FFF2-40B4-BE49-F238E27FC236}">
                <a16:creationId xmlns:a16="http://schemas.microsoft.com/office/drawing/2014/main" id="{C28BD28F-2737-4323-8885-8AC4C701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getName = product =&gt; product.name;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 b="0">
              <a:solidFill>
                <a:srgbClr val="087B80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// Equivalent for this example: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function getNameLong(product) {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return product.name;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</p:txBody>
      </p:sp>
      <p:sp>
        <p:nvSpPr>
          <p:cNvPr id="151" name="Google Shape;151;p19">
            <a:extLst xmlns:a="http://schemas.openxmlformats.org/drawingml/2006/main">
              <a:ext uri="{FF2B5EF4-FFF2-40B4-BE49-F238E27FC236}">
                <a16:creationId xmlns:a16="http://schemas.microsoft.com/office/drawing/2014/main" id="{380A538F-EABD-41BF-A600-66C2F924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Both return the product’s name</a:t>
            </a:r>
            <a:endParaRPr/>
          </a:p>
        </p:txBody>
      </p:sp>
      <p:sp>
        <p:nvSpPr>
          <p:cNvPr id="152" name="Google Shape;152;p19">
            <a:extLst xmlns:a="http://schemas.openxmlformats.org/drawingml/2006/main">
              <a:ext uri="{FF2B5EF4-FFF2-40B4-BE49-F238E27FC236}">
                <a16:creationId xmlns:a16="http://schemas.microsoft.com/office/drawing/2014/main" id="{14EA1719-DF31-4E1A-B599-BC3223BF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12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0881730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0">
            <a:extLst xmlns:a="http://schemas.openxmlformats.org/drawingml/2006/main">
              <a:ext uri="{FF2B5EF4-FFF2-40B4-BE49-F238E27FC236}">
                <a16:creationId xmlns:a16="http://schemas.microsoft.com/office/drawing/2014/main" id="{F764014F-7736-4F08-A29B-146F9AC02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JAVASCRIPT · MAP</a:t>
            </a:r>
            <a:endParaRPr/>
          </a:p>
        </p:txBody>
      </p:sp>
      <p:sp>
        <p:nvSpPr>
          <p:cNvPr id="159" name="Google Shape;159;p20">
            <a:extLst xmlns:a="http://schemas.openxmlformats.org/drawingml/2006/main">
              <a:ext uri="{FF2B5EF4-FFF2-40B4-BE49-F238E27FC236}">
                <a16:creationId xmlns:a16="http://schemas.microsoft.com/office/drawing/2014/main" id="{498D0634-7BAF-42C6-AC8F-FDA54A72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map transforms every item</a:t>
            </a:r>
            <a:endParaRPr/>
          </a:p>
        </p:txBody>
      </p:sp>
      <p:sp>
        <p:nvSpPr>
          <p:cNvPr id="160" name="Google Shape;160;p20">
            <a:extLst xmlns:a="http://schemas.openxmlformats.org/drawingml/2006/main">
              <a:ext uri="{FF2B5EF4-FFF2-40B4-BE49-F238E27FC236}">
                <a16:creationId xmlns:a16="http://schemas.microsoft.com/office/drawing/2014/main" id="{E8A17E43-A7CE-4FE1-B5BF-62AF86408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map calls a function for each array item.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It collects the returned values into a new array.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React often uses it to create a list of elements.</a:t>
            </a:r>
            <a:endParaRPr/>
          </a:p>
        </p:txBody>
      </p:sp>
      <p:sp>
        <p:nvSpPr>
          <p:cNvPr id="161" name="Google Shape;161;p20">
            <a:extLst xmlns:a="http://schemas.openxmlformats.org/drawingml/2006/main">
              <a:ext uri="{FF2B5EF4-FFF2-40B4-BE49-F238E27FC236}">
                <a16:creationId xmlns:a16="http://schemas.microsoft.com/office/drawing/2014/main" id="{40EA05CF-C401-4899-A677-C20A9DFB6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products = [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{ name: 'Notebook' },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{ name: 'Pen' }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];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names = products.map(a =&gt; a.name);</a:t>
            </a:r>
            <a:endParaRPr/>
          </a:p>
        </p:txBody>
      </p:sp>
      <p:sp>
        <p:nvSpPr>
          <p:cNvPr id="162" name="Google Shape;162;p20">
            <a:extLst xmlns:a="http://schemas.openxmlformats.org/drawingml/2006/main">
              <a:ext uri="{FF2B5EF4-FFF2-40B4-BE49-F238E27FC236}">
                <a16:creationId xmlns:a16="http://schemas.microsoft.com/office/drawing/2014/main" id="{526D3FC5-A2A5-4093-82F1-3109C496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names: ["Notebook", "Pen"]</a:t>
            </a:r>
            <a:endParaRPr/>
          </a:p>
        </p:txBody>
      </p:sp>
      <p:sp>
        <p:nvSpPr>
          <p:cNvPr id="163" name="Google Shape;163;p20">
            <a:extLst xmlns:a="http://schemas.openxmlformats.org/drawingml/2006/main">
              <a:ext uri="{FF2B5EF4-FFF2-40B4-BE49-F238E27FC236}">
                <a16:creationId xmlns:a16="http://schemas.microsoft.com/office/drawing/2014/main" id="{B418A7B6-8B6E-42A6-8E59-C17C90ED1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13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209312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9" name="Google Shape;169;p21">
            <a:extLst xmlns:a="http://schemas.openxmlformats.org/drawingml/2006/main">
              <a:ext uri="{FF2B5EF4-FFF2-40B4-BE49-F238E27FC236}">
                <a16:creationId xmlns:a16="http://schemas.microsoft.com/office/drawing/2014/main" id="{F36A37A7-BA3C-4ADA-A941-52B46282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JAVASCRIPT · FILTER</a:t>
            </a:r>
            <a:endParaRPr/>
          </a:p>
        </p:txBody>
      </p:sp>
      <p:sp>
        <p:nvSpPr>
          <p:cNvPr id="170" name="Google Shape;170;p21">
            <a:extLst xmlns:a="http://schemas.openxmlformats.org/drawingml/2006/main">
              <a:ext uri="{FF2B5EF4-FFF2-40B4-BE49-F238E27FC236}">
                <a16:creationId xmlns:a16="http://schemas.microsoft.com/office/drawing/2014/main" id="{8FD82EBD-3180-4EA0-83BB-939F15DB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filter selects matching items</a:t>
            </a:r>
            <a:endParaRPr/>
          </a:p>
        </p:txBody>
      </p:sp>
      <p:sp>
        <p:nvSpPr>
          <p:cNvPr id="171" name="Google Shape;171;p21">
            <a:extLst xmlns:a="http://schemas.openxmlformats.org/drawingml/2006/main">
              <a:ext uri="{FF2B5EF4-FFF2-40B4-BE49-F238E27FC236}">
                <a16:creationId xmlns:a16="http://schemas.microsoft.com/office/drawing/2014/main" id="{149EE98E-BE6F-44D0-BBDF-038F044F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callback returns true to keep an item.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filter creates a new array of matches.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original array remains unchanged.</a:t>
            </a:r>
            <a:endParaRPr/>
          </a:p>
        </p:txBody>
      </p:sp>
      <p:sp>
        <p:nvSpPr>
          <p:cNvPr id="172" name="Google Shape;172;p21">
            <a:extLst xmlns:a="http://schemas.openxmlformats.org/drawingml/2006/main">
              <a:ext uri="{FF2B5EF4-FFF2-40B4-BE49-F238E27FC236}">
                <a16:creationId xmlns:a16="http://schemas.microsoft.com/office/drawing/2014/main" id="{FC9F2224-4366-4B43-BA28-09087F38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products = [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{ name: 'Notebook', inStock: true },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{ name: 'Pen', inStock: false }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];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ready = products.filter(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p =&gt; p.inStock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);</a:t>
            </a:r>
            <a:endParaRPr/>
          </a:p>
        </p:txBody>
      </p:sp>
      <p:sp>
        <p:nvSpPr>
          <p:cNvPr id="173" name="Google Shape;173;p21">
            <a:extLst xmlns:a="http://schemas.openxmlformats.org/drawingml/2006/main">
              <a:ext uri="{FF2B5EF4-FFF2-40B4-BE49-F238E27FC236}">
                <a16:creationId xmlns:a16="http://schemas.microsoft.com/office/drawing/2014/main" id="{0D3A6D6E-F524-4239-9DDB-EBB93094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ready contains only the Notebook object</a:t>
            </a:r>
            <a:endParaRPr/>
          </a:p>
        </p:txBody>
      </p:sp>
      <p:sp>
        <p:nvSpPr>
          <p:cNvPr id="174" name="Google Shape;174;p21">
            <a:extLst xmlns:a="http://schemas.openxmlformats.org/drawingml/2006/main">
              <a:ext uri="{FF2B5EF4-FFF2-40B4-BE49-F238E27FC236}">
                <a16:creationId xmlns:a16="http://schemas.microsoft.com/office/drawing/2014/main" id="{D3F94B6F-8387-4155-BDAD-E8A0E80E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14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8239900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0" name="Google Shape;180;p22">
            <a:extLst xmlns:a="http://schemas.openxmlformats.org/drawingml/2006/main">
              <a:ext uri="{FF2B5EF4-FFF2-40B4-BE49-F238E27FC236}">
                <a16:creationId xmlns:a16="http://schemas.microsoft.com/office/drawing/2014/main" id="{6A25FF04-4680-4133-882A-1B7425C7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JAVASCRIPT · MODERN SYNTAX</a:t>
            </a:r>
            <a:endParaRPr/>
          </a:p>
        </p:txBody>
      </p:sp>
      <p:sp>
        <p:nvSpPr>
          <p:cNvPr id="181" name="Google Shape;181;p22">
            <a:extLst xmlns:a="http://schemas.openxmlformats.org/drawingml/2006/main">
              <a:ext uri="{FF2B5EF4-FFF2-40B4-BE49-F238E27FC236}">
                <a16:creationId xmlns:a16="http://schemas.microsoft.com/office/drawing/2014/main" id="{CA04456F-5964-49FB-8A32-2108F923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Destructuring and spread</a:t>
            </a:r>
            <a:endParaRPr/>
          </a:p>
        </p:txBody>
      </p:sp>
      <p:sp>
        <p:nvSpPr>
          <p:cNvPr id="182" name="Google Shape;182;p22">
            <a:extLst xmlns:a="http://schemas.openxmlformats.org/drawingml/2006/main">
              <a:ext uri="{FF2B5EF4-FFF2-40B4-BE49-F238E27FC236}">
                <a16:creationId xmlns:a16="http://schemas.microsoft.com/office/drawing/2014/main" id="{C1380DC2-0DDA-427F-BD17-991E3724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Destructuring reads named properties.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Spread copies properties into another object.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Later properties override earlier values.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copy is shallow.</a:t>
            </a:r>
            <a:endParaRPr/>
          </a:p>
        </p:txBody>
      </p:sp>
      <p:sp>
        <p:nvSpPr>
          <p:cNvPr id="183" name="Google Shape;183;p22">
            <a:extLst xmlns:a="http://schemas.openxmlformats.org/drawingml/2006/main">
              <a:ext uri="{FF2B5EF4-FFF2-40B4-BE49-F238E27FC236}">
                <a16:creationId xmlns:a16="http://schemas.microsoft.com/office/drawing/2014/main" id="{0733C42A-AA75-46C1-B481-1FC228FA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product = { id: 'P-101', inStock: true };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{ id } = product;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copy = { ...product, inStock: false };</a:t>
            </a:r>
            <a:endParaRPr/>
          </a:p>
        </p:txBody>
      </p:sp>
      <p:sp>
        <p:nvSpPr>
          <p:cNvPr id="184" name="Google Shape;184;p22">
            <a:extLst xmlns:a="http://schemas.openxmlformats.org/drawingml/2006/main">
              <a:ext uri="{FF2B5EF4-FFF2-40B4-BE49-F238E27FC236}">
                <a16:creationId xmlns:a16="http://schemas.microsoft.com/office/drawing/2014/main" id="{43C42F24-747C-42AB-88AB-AED7C1BC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id: P-101 · original inStock: true</a:t>
            </a:r>
            <a:endParaRPr/>
          </a:p>
        </p:txBody>
      </p:sp>
      <p:sp>
        <p:nvSpPr>
          <p:cNvPr id="185" name="Google Shape;185;p22">
            <a:extLst xmlns:a="http://schemas.openxmlformats.org/drawingml/2006/main">
              <a:ext uri="{FF2B5EF4-FFF2-40B4-BE49-F238E27FC236}">
                <a16:creationId xmlns:a16="http://schemas.microsoft.com/office/drawing/2014/main" id="{EE47BD94-4E65-4280-B2F6-06EF0CC5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15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623981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1" name="Google Shape;191;p23">
            <a:extLst xmlns:a="http://schemas.openxmlformats.org/drawingml/2006/main">
              <a:ext uri="{FF2B5EF4-FFF2-40B4-BE49-F238E27FC236}">
                <a16:creationId xmlns:a16="http://schemas.microsoft.com/office/drawing/2014/main" id="{AD89FB4F-D0DD-47ED-A656-0A24738FF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JAVASCRIPT · MODULES</a:t>
            </a:r>
            <a:endParaRPr/>
          </a:p>
        </p:txBody>
      </p:sp>
      <p:sp>
        <p:nvSpPr>
          <p:cNvPr id="192" name="Google Shape;192;p23">
            <a:extLst xmlns:a="http://schemas.openxmlformats.org/drawingml/2006/main">
              <a:ext uri="{FF2B5EF4-FFF2-40B4-BE49-F238E27FC236}">
                <a16:creationId xmlns:a16="http://schemas.microsoft.com/office/drawing/2014/main" id="{181702F8-9D37-4883-B91B-E78C4C83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import and export</a:t>
            </a:r>
            <a:endParaRPr/>
          </a:p>
        </p:txBody>
      </p:sp>
      <p:sp>
        <p:nvSpPr>
          <p:cNvPr id="193" name="Google Shape;193;p23">
            <a:extLst xmlns:a="http://schemas.openxmlformats.org/drawingml/2006/main">
              <a:ext uri="{FF2B5EF4-FFF2-40B4-BE49-F238E27FC236}">
                <a16:creationId xmlns:a16="http://schemas.microsoft.com/office/drawing/2014/main" id="{0679BB4F-2B2A-4C22-B8AB-7F9042A2D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module is a file with its own declarations.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export makes a value available to another file.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import reads that exported value.</a:t>
            </a:r>
            <a:endParaRPr/>
          </a:p>
        </p:txBody>
      </p:sp>
      <p:sp>
        <p:nvSpPr>
          <p:cNvPr id="194" name="Google Shape;194;p23">
            <a:extLst xmlns:a="http://schemas.openxmlformats.org/drawingml/2006/main">
              <a:ext uri="{FF2B5EF4-FFF2-40B4-BE49-F238E27FC236}">
                <a16:creationId xmlns:a16="http://schemas.microsoft.com/office/drawing/2014/main" id="{5AA5F6B6-380C-428B-A8DC-B6CA40789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// src/data/products.js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export const products = [{ id: 'P-101' }];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 b="0">
              <a:solidFill>
                <a:srgbClr val="087B80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// src/App.jsx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import { products } from './data/products.js';</a:t>
            </a:r>
            <a:endParaRPr/>
          </a:p>
        </p:txBody>
      </p:sp>
      <p:sp>
        <p:nvSpPr>
          <p:cNvPr id="195" name="Google Shape;195;p23">
            <a:extLst xmlns:a="http://schemas.openxmlformats.org/drawingml/2006/main">
              <a:ext uri="{FF2B5EF4-FFF2-40B4-BE49-F238E27FC236}">
                <a16:creationId xmlns:a16="http://schemas.microsoft.com/office/drawing/2014/main" id="{D30A39C6-43ED-4643-B59F-5DD850750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App can now read products</a:t>
            </a:r>
            <a:endParaRPr/>
          </a:p>
        </p:txBody>
      </p:sp>
      <p:sp>
        <p:nvSpPr>
          <p:cNvPr id="196" name="Google Shape;196;p23">
            <a:extLst xmlns:a="http://schemas.openxmlformats.org/drawingml/2006/main">
              <a:ext uri="{FF2B5EF4-FFF2-40B4-BE49-F238E27FC236}">
                <a16:creationId xmlns:a16="http://schemas.microsoft.com/office/drawing/2014/main" id="{A552DD94-41F2-4AF0-80B3-EC8210B0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16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6834278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24">
            <a:extLst xmlns:a="http://schemas.openxmlformats.org/drawingml/2006/main">
              <a:ext uri="{FF2B5EF4-FFF2-40B4-BE49-F238E27FC236}">
                <a16:creationId xmlns:a16="http://schemas.microsoft.com/office/drawing/2014/main" id="{6DC70982-D2CB-44E4-88A7-BAA0EDCE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REACT · SETUP</a:t>
            </a:r>
            <a:endParaRPr/>
          </a:p>
        </p:txBody>
      </p:sp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9FB8F183-A2E0-4132-8B8B-9DD3CC6F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prepared training project</a:t>
            </a:r>
            <a:endParaRPr/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0AB5061B-66EC-42C8-AEE9-5C6D5052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Node.js runs development tools.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Vite serves and builds this React project.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lockfile keeps installations reproducible.</a:t>
            </a:r>
            <a:endParaRPr/>
          </a:p>
        </p:txBody>
      </p:sp>
      <p:sp>
        <p:nvSpPr>
          <p:cNvPr id="205" name="Google Shape;205;p24">
            <a:extLst xmlns:a="http://schemas.openxmlformats.org/drawingml/2006/main">
              <a:ext uri="{FF2B5EF4-FFF2-40B4-BE49-F238E27FC236}">
                <a16:creationId xmlns:a16="http://schemas.microsoft.com/office/drawing/2014/main" id="{6E8362D2-8D49-40E0-90BD-E071C628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// In the cloned project folder: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npm ci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npm run check:lessons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npm run dev</a:t>
            </a:r>
            <a:endParaRPr/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5C153540-593E-462A-90E3-5B476D4C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Open the local URL printed by Vite</a:t>
            </a:r>
            <a:endParaRPr/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1B0D909D-4099-4080-89B0-AB22EE09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8248102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3" name="Google Shape;213;p25">
            <a:extLst xmlns:a="http://schemas.openxmlformats.org/drawingml/2006/main">
              <a:ext uri="{FF2B5EF4-FFF2-40B4-BE49-F238E27FC236}">
                <a16:creationId xmlns:a16="http://schemas.microsoft.com/office/drawing/2014/main" id="{5AC779FB-8C1B-45B8-85CB-E66DB794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REACT · PROJECT STRUCTURE</a:t>
            </a:r>
            <a:endParaRPr/>
          </a:p>
        </p:txBody>
      </p:sp>
      <p:sp>
        <p:nvSpPr>
          <p:cNvPr id="214" name="Google Shape;214;p25">
            <a:extLst xmlns:a="http://schemas.openxmlformats.org/drawingml/2006/main">
              <a:ext uri="{FF2B5EF4-FFF2-40B4-BE49-F238E27FC236}">
                <a16:creationId xmlns:a16="http://schemas.microsoft.com/office/drawing/2014/main" id="{8F46673C-9519-4757-9A62-2B3B6E39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Where each piece belongs</a:t>
            </a:r>
            <a:endParaRPr/>
          </a:p>
        </p:txBody>
      </p:sp>
      <p:sp>
        <p:nvSpPr>
          <p:cNvPr id="215" name="Google Shape;215;p25">
            <a:extLst xmlns:a="http://schemas.openxmlformats.org/drawingml/2006/main">
              <a:ext uri="{FF2B5EF4-FFF2-40B4-BE49-F238E27FC236}">
                <a16:creationId xmlns:a16="http://schemas.microsoft.com/office/drawing/2014/main" id="{ED2D39D2-BF45-43A0-B796-17750683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main.jsx mounts React in the root element.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App.jsx composes the page.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ProductCard.jsx displays a single product.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products.js supplies fictional data.</a:t>
            </a:r>
            <a:endParaRPr/>
          </a:p>
        </p:txBody>
      </p:sp>
      <p:sp>
        <p:nvSpPr>
          <p:cNvPr id="216" name="Google Shape;216;p25">
            <a:extLst xmlns:a="http://schemas.openxmlformats.org/drawingml/2006/main">
              <a:ext uri="{FF2B5EF4-FFF2-40B4-BE49-F238E27FC236}">
                <a16:creationId xmlns:a16="http://schemas.microsoft.com/office/drawing/2014/main" id="{458CE2F0-3FB3-46C6-822F-98117398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src/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main.jsx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App.jsx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styles.css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components/ProductCard.jsx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data/products.js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lessons/javascript-basics.js</a:t>
            </a:r>
            <a:endParaRPr/>
          </a:p>
        </p:txBody>
      </p:sp>
      <p:sp>
        <p:nvSpPr>
          <p:cNvPr id="217" name="Google Shape;217;p25">
            <a:extLst xmlns:a="http://schemas.openxmlformats.org/drawingml/2006/main">
              <a:ext uri="{FF2B5EF4-FFF2-40B4-BE49-F238E27FC236}">
                <a16:creationId xmlns:a16="http://schemas.microsoft.com/office/drawing/2014/main" id="{7977BAA5-9CB5-4A5F-8CFE-5BF5B606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Data, component and presentation have clear homes</a:t>
            </a:r>
            <a:endParaRPr/>
          </a:p>
        </p:txBody>
      </p:sp>
      <p:sp>
        <p:nvSpPr>
          <p:cNvPr id="218" name="Google Shape;218;p25">
            <a:extLst xmlns:a="http://schemas.openxmlformats.org/drawingml/2006/main">
              <a:ext uri="{FF2B5EF4-FFF2-40B4-BE49-F238E27FC236}">
                <a16:creationId xmlns:a16="http://schemas.microsoft.com/office/drawing/2014/main" id="{5A6D5673-1A5E-44B4-9764-4F8D84ACD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18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349383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4" name="Google Shape;224;p26">
            <a:extLst xmlns:a="http://schemas.openxmlformats.org/drawingml/2006/main">
              <a:ext uri="{FF2B5EF4-FFF2-40B4-BE49-F238E27FC236}">
                <a16:creationId xmlns:a16="http://schemas.microsoft.com/office/drawing/2014/main" id="{E497FD5C-B611-4039-9CA6-4B126C0A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REACT · COMPONENTS</a:t>
            </a:r>
            <a:endParaRPr/>
          </a:p>
        </p:txBody>
      </p:sp>
      <p:sp>
        <p:nvSpPr>
          <p:cNvPr id="225" name="Google Shape;225;p26">
            <a:extLst xmlns:a="http://schemas.openxmlformats.org/drawingml/2006/main">
              <a:ext uri="{FF2B5EF4-FFF2-40B4-BE49-F238E27FC236}">
                <a16:creationId xmlns:a16="http://schemas.microsoft.com/office/drawing/2014/main" id="{C988FA58-49BB-4DB2-9D09-018BC840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Your first function component</a:t>
            </a:r>
            <a:endParaRPr/>
          </a:p>
        </p:txBody>
      </p:sp>
      <p:sp>
        <p:nvSpPr>
          <p:cNvPr id="226" name="Google Shape;226;p26">
            <a:extLst xmlns:a="http://schemas.openxmlformats.org/drawingml/2006/main">
              <a:ext uri="{FF2B5EF4-FFF2-40B4-BE49-F238E27FC236}">
                <a16:creationId xmlns:a16="http://schemas.microsoft.com/office/drawing/2014/main" id="{E060D05E-AB8D-49FD-8A69-3344D744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Component names begin with a capital letter.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function returns the UI it describes.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export default makes this the file’s main export.</a:t>
            </a:r>
            <a:endParaRPr/>
          </a:p>
        </p:txBody>
      </p:sp>
      <p:sp>
        <p:nvSpPr>
          <p:cNvPr id="227" name="Google Shape;227;p26">
            <a:extLst xmlns:a="http://schemas.openxmlformats.org/drawingml/2006/main">
              <a:ext uri="{FF2B5EF4-FFF2-40B4-BE49-F238E27FC236}">
                <a16:creationId xmlns:a16="http://schemas.microsoft.com/office/drawing/2014/main" id="{26602FB4-991C-4E50-887D-EEB16EBEF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export default function App() {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return (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&lt;main&gt;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  &lt;h1&gt;Product Catalog&lt;/h1&gt;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&lt;/main&gt;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);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</p:txBody>
      </p:sp>
      <p:sp>
        <p:nvSpPr>
          <p:cNvPr id="228" name="Google Shape;228;p26">
            <a:extLst xmlns:a="http://schemas.openxmlformats.org/drawingml/2006/main">
              <a:ext uri="{FF2B5EF4-FFF2-40B4-BE49-F238E27FC236}">
                <a16:creationId xmlns:a16="http://schemas.microsoft.com/office/drawing/2014/main" id="{B42815EC-58A6-448E-9746-1FF77E17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App displays the page heading</a:t>
            </a:r>
            <a:endParaRPr/>
          </a:p>
        </p:txBody>
      </p:sp>
      <p:sp>
        <p:nvSpPr>
          <p:cNvPr id="229" name="Google Shape;229;p26">
            <a:extLst xmlns:a="http://schemas.openxmlformats.org/drawingml/2006/main">
              <a:ext uri="{FF2B5EF4-FFF2-40B4-BE49-F238E27FC236}">
                <a16:creationId xmlns:a16="http://schemas.microsoft.com/office/drawing/2014/main" id="{A1BF85EE-58B6-4D50-B068-13AA49222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19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4799025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5" name="Google Shape;235;p27">
            <a:extLst xmlns:a="http://schemas.openxmlformats.org/drawingml/2006/main">
              <a:ext uri="{FF2B5EF4-FFF2-40B4-BE49-F238E27FC236}">
                <a16:creationId xmlns:a16="http://schemas.microsoft.com/office/drawing/2014/main" id="{D4112052-02A1-4349-A68E-03E2BE2B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REACT · JSX</a:t>
            </a:r>
            <a:endParaRPr/>
          </a:p>
        </p:txBody>
      </p:sp>
      <p:sp>
        <p:nvSpPr>
          <p:cNvPr id="236" name="Google Shape;236;p27">
            <a:extLst xmlns:a="http://schemas.openxmlformats.org/drawingml/2006/main">
              <a:ext uri="{FF2B5EF4-FFF2-40B4-BE49-F238E27FC236}">
                <a16:creationId xmlns:a16="http://schemas.microsoft.com/office/drawing/2014/main" id="{EDFB98D3-C8A8-42AD-ABD9-54B9852A0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JSX rules with an example</a:t>
            </a:r>
            <a:endParaRPr/>
          </a:p>
        </p:txBody>
      </p:sp>
      <p:sp>
        <p:nvSpPr>
          <p:cNvPr id="237" name="Google Shape;237;p27">
            <a:extLst xmlns:a="http://schemas.openxmlformats.org/drawingml/2006/main">
              <a:ext uri="{FF2B5EF4-FFF2-40B4-BE49-F238E27FC236}">
                <a16:creationId xmlns:a16="http://schemas.microsoft.com/office/drawing/2014/main" id="{CC044EA1-C8A4-4436-8734-8F9D36A1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Return one root element or a fragment.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Close every tag.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Use className for a CSS class.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Use parentheses for multiline returned JSX.</a:t>
            </a:r>
            <a:endParaRPr/>
          </a:p>
        </p:txBody>
      </p:sp>
      <p:sp>
        <p:nvSpPr>
          <p:cNvPr id="238" name="Google Shape;238;p27">
            <a:extLst xmlns:a="http://schemas.openxmlformats.org/drawingml/2006/main">
              <a:ext uri="{FF2B5EF4-FFF2-40B4-BE49-F238E27FC236}">
                <a16:creationId xmlns:a16="http://schemas.microsoft.com/office/drawing/2014/main" id="{84B24A91-4134-4B31-8F17-4D2F6610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return (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&lt;&gt;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&lt;h1 className="title"&gt;Products&lt;/h1&gt;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&lt;input aria-label="Product name" /&gt;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&lt;/&gt;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);</a:t>
            </a:r>
            <a:endParaRPr/>
          </a:p>
        </p:txBody>
      </p:sp>
      <p:sp>
        <p:nvSpPr>
          <p:cNvPr id="239" name="Google Shape;239;p27">
            <a:extLst xmlns:a="http://schemas.openxmlformats.org/drawingml/2006/main">
              <a:ext uri="{FF2B5EF4-FFF2-40B4-BE49-F238E27FC236}">
                <a16:creationId xmlns:a16="http://schemas.microsoft.com/office/drawing/2014/main" id="{D12EE613-2FE5-40A4-9A46-DC468973D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The fragment groups elements without an extra div</a:t>
            </a:r>
            <a:endParaRPr/>
          </a:p>
        </p:txBody>
      </p:sp>
      <p:sp>
        <p:nvSpPr>
          <p:cNvPr id="240" name="Google Shape;240;p27">
            <a:extLst xmlns:a="http://schemas.openxmlformats.org/drawingml/2006/main">
              <a:ext uri="{FF2B5EF4-FFF2-40B4-BE49-F238E27FC236}">
                <a16:creationId xmlns:a16="http://schemas.microsoft.com/office/drawing/2014/main" id="{BD2EF461-01C5-47E7-A912-106ABBDC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20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6571430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6" name="Google Shape;246;p28">
            <a:extLst xmlns:a="http://schemas.openxmlformats.org/drawingml/2006/main">
              <a:ext uri="{FF2B5EF4-FFF2-40B4-BE49-F238E27FC236}">
                <a16:creationId xmlns:a16="http://schemas.microsoft.com/office/drawing/2014/main" id="{80211572-E6F4-4A3A-B7FB-586B87B3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REACT · EXPRESSIONS</a:t>
            </a:r>
            <a:endParaRPr/>
          </a:p>
        </p:txBody>
      </p:sp>
      <p:sp>
        <p:nvSpPr>
          <p:cNvPr id="247" name="Google Shape;247;p28">
            <a:extLst xmlns:a="http://schemas.openxmlformats.org/drawingml/2006/main">
              <a:ext uri="{FF2B5EF4-FFF2-40B4-BE49-F238E27FC236}">
                <a16:creationId xmlns:a16="http://schemas.microsoft.com/office/drawing/2014/main" id="{5CF42CF9-6FB6-409C-BB2A-069B1265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JavaScript values inside JSX</a:t>
            </a:r>
            <a:endParaRPr/>
          </a:p>
        </p:txBody>
      </p:sp>
      <p:sp>
        <p:nvSpPr>
          <p:cNvPr id="248" name="Google Shape;248;p28">
            <a:extLst xmlns:a="http://schemas.openxmlformats.org/drawingml/2006/main">
              <a:ext uri="{FF2B5EF4-FFF2-40B4-BE49-F238E27FC236}">
                <a16:creationId xmlns:a16="http://schemas.microsoft.com/office/drawing/2014/main" id="{45534859-734A-4CE4-AE8E-751BA4F9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Braces insert a JavaScript expression.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Use a value, a property or a calculation.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Statements such as if belong outside these braces.</a:t>
            </a:r>
            <a:endParaRPr/>
          </a:p>
        </p:txBody>
      </p:sp>
      <p:sp>
        <p:nvSpPr>
          <p:cNvPr id="249" name="Google Shape;249;p28">
            <a:extLst xmlns:a="http://schemas.openxmlformats.org/drawingml/2006/main">
              <a:ext uri="{FF2B5EF4-FFF2-40B4-BE49-F238E27FC236}">
                <a16:creationId xmlns:a16="http://schemas.microsoft.com/office/drawing/2014/main" id="{0C784020-8CE1-468A-99B6-A63E4A28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trainer = 'Subha Prasad';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products = ['Notebook', 'Pen'];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return (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&lt;p&gt;{trainer}: {products.length} products&lt;/p&gt;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);</a:t>
            </a:r>
            <a:endParaRPr/>
          </a:p>
        </p:txBody>
      </p:sp>
      <p:sp>
        <p:nvSpPr>
          <p:cNvPr id="250" name="Google Shape;250;p28">
            <a:extLst xmlns:a="http://schemas.openxmlformats.org/drawingml/2006/main">
              <a:ext uri="{FF2B5EF4-FFF2-40B4-BE49-F238E27FC236}">
                <a16:creationId xmlns:a16="http://schemas.microsoft.com/office/drawing/2014/main" id="{36FBD720-472F-4826-A12A-FED6C63E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Subha Prasad: 2 products</a:t>
            </a:r>
            <a:endParaRPr/>
          </a:p>
        </p:txBody>
      </p:sp>
      <p:sp>
        <p:nvSpPr>
          <p:cNvPr id="251" name="Google Shape;251;p28">
            <a:extLst xmlns:a="http://schemas.openxmlformats.org/drawingml/2006/main">
              <a:ext uri="{FF2B5EF4-FFF2-40B4-BE49-F238E27FC236}">
                <a16:creationId xmlns:a16="http://schemas.microsoft.com/office/drawing/2014/main" id="{61B8931F-D620-42D7-B391-D12C08A0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21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8699659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7" name="Google Shape;257;p29">
            <a:extLst xmlns:a="http://schemas.openxmlformats.org/drawingml/2006/main">
              <a:ext uri="{FF2B5EF4-FFF2-40B4-BE49-F238E27FC236}">
                <a16:creationId xmlns:a16="http://schemas.microsoft.com/office/drawing/2014/main" id="{9DD48CBD-9904-4D17-9BD6-ACEEE970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REACT · COMPOSITION</a:t>
            </a:r>
            <a:endParaRPr/>
          </a:p>
        </p:txBody>
      </p:sp>
      <p:sp>
        <p:nvSpPr>
          <p:cNvPr id="258" name="Google Shape;258;p29">
            <a:extLst xmlns:a="http://schemas.openxmlformats.org/drawingml/2006/main">
              <a:ext uri="{FF2B5EF4-FFF2-40B4-BE49-F238E27FC236}">
                <a16:creationId xmlns:a16="http://schemas.microsoft.com/office/drawing/2014/main" id="{19828ABD-44C2-415B-B380-5BD781BF9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One component, different data</a:t>
            </a:r>
            <a:endParaRPr/>
          </a:p>
        </p:txBody>
      </p:sp>
      <p:sp>
        <p:nvSpPr>
          <p:cNvPr id="259" name="Google Shape;259;p29">
            <a:extLst xmlns:a="http://schemas.openxmlformats.org/drawingml/2006/main">
              <a:ext uri="{FF2B5EF4-FFF2-40B4-BE49-F238E27FC236}">
                <a16:creationId xmlns:a16="http://schemas.microsoft.com/office/drawing/2014/main" id="{92AEE526-909B-46F3-9C2F-3D827176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parent supplies a product through a prop.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child reads its name and stock value.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Reuse the same component for each product.</a:t>
            </a:r>
            <a:endParaRPr/>
          </a:p>
        </p:txBody>
      </p:sp>
      <p:sp>
        <p:nvSpPr>
          <p:cNvPr id="260" name="Google Shape;260;p29">
            <a:extLst xmlns:a="http://schemas.openxmlformats.org/drawingml/2006/main">
              <a:ext uri="{FF2B5EF4-FFF2-40B4-BE49-F238E27FC236}">
                <a16:creationId xmlns:a16="http://schemas.microsoft.com/office/drawing/2014/main" id="{1B961114-B8CF-4B64-9740-AC6A1827D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function ProductCard({ product }) {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return &lt;h3&gt;{product.name}&lt;/h3&gt;;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 b="0">
              <a:solidFill>
                <a:srgbClr val="087B80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&lt;ProductCard product={{ name: 'Notebook' }} /&gt;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&lt;ProductCard product={{ name: 'Pen' }} /&gt;</a:t>
            </a:r>
            <a:endParaRPr/>
          </a:p>
        </p:txBody>
      </p:sp>
      <p:sp>
        <p:nvSpPr>
          <p:cNvPr id="261" name="Google Shape;261;p29">
            <a:extLst xmlns:a="http://schemas.openxmlformats.org/drawingml/2006/main">
              <a:ext uri="{FF2B5EF4-FFF2-40B4-BE49-F238E27FC236}">
                <a16:creationId xmlns:a16="http://schemas.microsoft.com/office/drawing/2014/main" id="{FBA87842-4324-4ED4-8087-C4D4D76ED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Two headings: Notebook and Pen</a:t>
            </a:r>
            <a:endParaRPr/>
          </a:p>
        </p:txBody>
      </p:sp>
      <p:sp>
        <p:nvSpPr>
          <p:cNvPr id="262" name="Google Shape;262;p29">
            <a:extLst xmlns:a="http://schemas.openxmlformats.org/drawingml/2006/main">
              <a:ext uri="{FF2B5EF4-FFF2-40B4-BE49-F238E27FC236}">
                <a16:creationId xmlns:a16="http://schemas.microsoft.com/office/drawing/2014/main" id="{7E8C33F5-85F9-47A9-B045-4061EEB2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22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4204488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8" name="Google Shape;268;p30">
            <a:extLst xmlns:a="http://schemas.openxmlformats.org/drawingml/2006/main">
              <a:ext uri="{FF2B5EF4-FFF2-40B4-BE49-F238E27FC236}">
                <a16:creationId xmlns:a16="http://schemas.microsoft.com/office/drawing/2014/main" id="{96A5C625-48C6-433A-975C-505DFF3F1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REACT · LISTS</a:t>
            </a:r>
            <a:endParaRPr/>
          </a:p>
        </p:txBody>
      </p:sp>
      <p:sp>
        <p:nvSpPr>
          <p:cNvPr id="269" name="Google Shape;269;p30">
            <a:extLst xmlns:a="http://schemas.openxmlformats.org/drawingml/2006/main">
              <a:ext uri="{FF2B5EF4-FFF2-40B4-BE49-F238E27FC236}">
                <a16:creationId xmlns:a16="http://schemas.microsoft.com/office/drawing/2014/main" id="{3DCFABFA-808D-4E3E-89CB-9AE6F0B0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Product data becomes a list</a:t>
            </a:r>
            <a:endParaRPr/>
          </a:p>
        </p:txBody>
      </p:sp>
      <p:sp>
        <p:nvSpPr>
          <p:cNvPr id="270" name="Google Shape;270;p30">
            <a:extLst xmlns:a="http://schemas.openxmlformats.org/drawingml/2006/main">
              <a:ext uri="{FF2B5EF4-FFF2-40B4-BE49-F238E27FC236}">
                <a16:creationId xmlns:a16="http://schemas.microsoft.com/office/drawing/2014/main" id="{DAD91115-E55C-451E-BB44-9B2C0527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map returns one component for each product.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key identifies each sibling using its stable ID.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product prop carries the object into the child.</a:t>
            </a:r>
            <a:endParaRPr/>
          </a:p>
        </p:txBody>
      </p:sp>
      <p:sp>
        <p:nvSpPr>
          <p:cNvPr id="271" name="Google Shape;271;p30">
            <a:extLst xmlns:a="http://schemas.openxmlformats.org/drawingml/2006/main">
              <a:ext uri="{FF2B5EF4-FFF2-40B4-BE49-F238E27FC236}">
                <a16:creationId xmlns:a16="http://schemas.microsoft.com/office/drawing/2014/main" id="{AB70586D-7BF5-49D2-B887-7EE2252CD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{products.map(product =&gt; (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&lt;ProductCard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key={product.id}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product={product}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/&gt;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))}</a:t>
            </a:r>
            <a:endParaRPr/>
          </a:p>
        </p:txBody>
      </p:sp>
      <p:sp>
        <p:nvSpPr>
          <p:cNvPr id="272" name="Google Shape;272;p30">
            <a:extLst xmlns:a="http://schemas.openxmlformats.org/drawingml/2006/main">
              <a:ext uri="{FF2B5EF4-FFF2-40B4-BE49-F238E27FC236}">
                <a16:creationId xmlns:a16="http://schemas.microsoft.com/office/drawing/2014/main" id="{09652C49-B044-4CFD-9E03-77985551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Three objects produce three product cards</a:t>
            </a:r>
            <a:endParaRPr/>
          </a:p>
        </p:txBody>
      </p:sp>
      <p:sp>
        <p:nvSpPr>
          <p:cNvPr id="273" name="Google Shape;273;p30">
            <a:extLst xmlns:a="http://schemas.openxmlformats.org/drawingml/2006/main">
              <a:ext uri="{FF2B5EF4-FFF2-40B4-BE49-F238E27FC236}">
                <a16:creationId xmlns:a16="http://schemas.microsoft.com/office/drawing/2014/main" id="{72FE4099-158A-4BE9-BF74-1DA7B2B18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23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5195689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437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9" name="Google Shape;279;p31">
            <a:extLst xmlns:a="http://schemas.openxmlformats.org/drawingml/2006/main">
              <a:ext uri="{FF2B5EF4-FFF2-40B4-BE49-F238E27FC236}">
                <a16:creationId xmlns:a16="http://schemas.microsoft.com/office/drawing/2014/main" id="{AB6C1464-9153-4784-8C2E-40DA8695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92E8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92E8D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2E8DF"/>
                </a:solidFill>
                <a:latin typeface="Arial"/>
                <a:ea typeface="Arial"/>
                <a:cs typeface="Arial"/>
              </a:rPr>
              <a:t>HANDS-ON · WALKTHROUGH</a:t>
            </a:r>
            <a:endParaRPr/>
          </a:p>
        </p:txBody>
      </p:sp>
      <p:sp>
        <p:nvSpPr>
          <p:cNvPr id="280" name="Google Shape;280;p31">
            <a:extLst xmlns:a="http://schemas.openxmlformats.org/drawingml/2006/main">
              <a:ext uri="{FF2B5EF4-FFF2-40B4-BE49-F238E27FC236}">
                <a16:creationId xmlns:a16="http://schemas.microsoft.com/office/drawing/2014/main" id="{9367F912-0CA5-40CB-A20F-2A94F5F4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47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Product Catalog demo</a:t>
            </a:r>
            <a:endParaRPr/>
          </a:p>
        </p:txBody>
      </p:sp>
      <p:pic>
        <p:nvPicPr>
          <p:cNvPr id="281" name="Google Shape;281;p31">
            <a:extLst xmlns:a="http://schemas.openxmlformats.org/drawingml/2006/main">
              <a:ext uri="{FF2B5EF4-FFF2-40B4-BE49-F238E27FC236}">
                <a16:creationId xmlns:a16="http://schemas.microsoft.com/office/drawing/2014/main" id="{202ED0CA-D14C-4742-8E45-6359CC617B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8e290d08c57497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730050" y="2095500"/>
            <a:ext cx="5589651" cy="40481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82" name="Google Shape;282;p31">
            <a:extLst xmlns:a="http://schemas.openxmlformats.org/drawingml/2006/main">
              <a:ext uri="{FF2B5EF4-FFF2-40B4-BE49-F238E27FC236}">
                <a16:creationId xmlns:a16="http://schemas.microsoft.com/office/drawing/2014/main" id="{A6663719-6659-4F3B-981B-83E55E36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381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17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17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Run the JavaScript lesson and predict its output.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17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Inspect the three fictional product objects.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17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Open App and find map plus filter.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17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Follow the product prop into ProductCard.</a:t>
            </a:r>
            <a:endParaRPr/>
          </a:p>
        </p:txBody>
      </p:sp>
      <p:sp>
        <p:nvSpPr>
          <p:cNvPr id="283" name="Google Shape;283;p31">
            <a:extLst xmlns:a="http://schemas.openxmlformats.org/drawingml/2006/main">
              <a:ext uri="{FF2B5EF4-FFF2-40B4-BE49-F238E27FC236}">
                <a16:creationId xmlns:a16="http://schemas.microsoft.com/office/drawing/2014/main" id="{FCC5200D-207E-4519-A039-F891A462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92B4C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2B4C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B4C2"/>
                </a:solidFill>
                <a:latin typeface="Arial"/>
                <a:ea typeface="Arial"/>
                <a:cs typeface="Arial"/>
              </a:rPr>
              <a:t>24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8022262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9" name="Google Shape;289;p32">
            <a:extLst xmlns:a="http://schemas.openxmlformats.org/drawingml/2006/main">
              <a:ext uri="{FF2B5EF4-FFF2-40B4-BE49-F238E27FC236}">
                <a16:creationId xmlns:a16="http://schemas.microsoft.com/office/drawing/2014/main" id="{FCBA1C84-9CDD-4C6A-9F61-A08437D3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HANDS-ON · YOUR TURN</a:t>
            </a:r>
            <a:endParaRPr/>
          </a:p>
        </p:txBody>
      </p:sp>
      <p:sp>
        <p:nvSpPr>
          <p:cNvPr id="290" name="Google Shape;290;p32">
            <a:extLst xmlns:a="http://schemas.openxmlformats.org/drawingml/2006/main">
              <a:ext uri="{FF2B5EF4-FFF2-40B4-BE49-F238E27FC236}">
                <a16:creationId xmlns:a16="http://schemas.microsoft.com/office/drawing/2014/main" id="{D2352144-72C1-4B57-8E1C-110264CD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A fourth product on the screen</a:t>
            </a:r>
            <a:endParaRPr/>
          </a:p>
        </p:txBody>
      </p:sp>
      <p:sp>
        <p:nvSpPr>
          <p:cNvPr id="291" name="Google Shape;291;p32">
            <a:extLst xmlns:a="http://schemas.openxmlformats.org/drawingml/2006/main">
              <a:ext uri="{FF2B5EF4-FFF2-40B4-BE49-F238E27FC236}">
                <a16:creationId xmlns:a16="http://schemas.microsoft.com/office/drawing/2014/main" id="{84E5B943-B94E-42D8-ABC8-24B524FB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Add this object to src/data/products.js.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Save the file and observe the browser.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Explain why both counts changed.</a:t>
            </a:r>
            <a:endParaRPr/>
          </a:p>
        </p:txBody>
      </p:sp>
      <p:sp>
        <p:nvSpPr>
          <p:cNvPr id="292" name="Google Shape;292;p32">
            <a:extLst xmlns:a="http://schemas.openxmlformats.org/drawingml/2006/main">
              <a:ext uri="{FF2B5EF4-FFF2-40B4-BE49-F238E27FC236}">
                <a16:creationId xmlns:a16="http://schemas.microsoft.com/office/drawing/2014/main" id="{FE8A4C3A-8E23-49A8-9626-C3E494322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{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id: 'P-104',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name: 'Bottle',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price: 250,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category: 'Accessories',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inStock: true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</p:txBody>
      </p:sp>
      <p:sp>
        <p:nvSpPr>
          <p:cNvPr id="293" name="Google Shape;293;p32">
            <a:extLst xmlns:a="http://schemas.openxmlformats.org/drawingml/2006/main">
              <a:ext uri="{FF2B5EF4-FFF2-40B4-BE49-F238E27FC236}">
                <a16:creationId xmlns:a16="http://schemas.microsoft.com/office/drawing/2014/main" id="{4EEA72FA-6C33-4DCF-AD39-66CA6068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Expected counts: 4 total, 3 in stock</a:t>
            </a:r>
            <a:endParaRPr/>
          </a:p>
        </p:txBody>
      </p:sp>
      <p:sp>
        <p:nvSpPr>
          <p:cNvPr id="294" name="Google Shape;294;p32">
            <a:extLst xmlns:a="http://schemas.openxmlformats.org/drawingml/2006/main">
              <a:ext uri="{FF2B5EF4-FFF2-40B4-BE49-F238E27FC236}">
                <a16:creationId xmlns:a16="http://schemas.microsoft.com/office/drawing/2014/main" id="{EF537C69-FF50-41B3-A142-7501C7D4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25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4444499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0" name="Google Shape;300;p33">
            <a:extLst xmlns:a="http://schemas.openxmlformats.org/drawingml/2006/main">
              <a:ext uri="{FF2B5EF4-FFF2-40B4-BE49-F238E27FC236}">
                <a16:creationId xmlns:a16="http://schemas.microsoft.com/office/drawing/2014/main" id="{5ABE924A-47FF-4D02-BF25-BCFC37F6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HANDS-ON · TROUBLESHOOTING</a:t>
            </a:r>
            <a:endParaRPr/>
          </a:p>
        </p:txBody>
      </p:sp>
      <p:sp>
        <p:nvSpPr>
          <p:cNvPr id="301" name="Google Shape;301;p33">
            <a:extLst xmlns:a="http://schemas.openxmlformats.org/drawingml/2006/main">
              <a:ext uri="{FF2B5EF4-FFF2-40B4-BE49-F238E27FC236}">
                <a16:creationId xmlns:a16="http://schemas.microsoft.com/office/drawing/2014/main" id="{FC76D922-C7D5-4F3A-9ADB-0864DB00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47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Common Day 1 mistakes</a:t>
            </a:r>
            <a:endParaRPr/>
          </a:p>
        </p:txBody>
      </p:sp>
      <p:sp>
        <p:nvSpPr>
          <p:cNvPr id="302" name="Google Shape;302;p33">
            <a:extLst xmlns:a="http://schemas.openxmlformats.org/drawingml/2006/main">
              <a:ext uri="{FF2B5EF4-FFF2-40B4-BE49-F238E27FC236}">
                <a16:creationId xmlns:a16="http://schemas.microsoft.com/office/drawing/2014/main" id="{4C438C19-50D6-49BA-8727-3427D132E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477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missing comma can break an object or array.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lowercase component name behaves like an HTML tag.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An import path must match the file location.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missing list key causes a React warning.</a:t>
            </a:r>
            <a:endParaRPr/>
          </a:p>
        </p:txBody>
      </p:sp>
      <p:sp>
        <p:nvSpPr>
          <p:cNvPr id="303" name="Google Shape;303;p33">
            <a:extLst xmlns:a="http://schemas.openxmlformats.org/drawingml/2006/main">
              <a:ext uri="{FF2B5EF4-FFF2-40B4-BE49-F238E27FC236}">
                <a16:creationId xmlns:a16="http://schemas.microsoft.com/office/drawing/2014/main" id="{F4C36524-1B38-4903-9304-AB15204D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26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565606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9" name="Google Shape;309;p34">
            <a:extLst xmlns:a="http://schemas.openxmlformats.org/drawingml/2006/main">
              <a:ext uri="{FF2B5EF4-FFF2-40B4-BE49-F238E27FC236}">
                <a16:creationId xmlns:a16="http://schemas.microsoft.com/office/drawing/2014/main" id="{BEF7B0B4-FA34-48A7-8001-28DF687D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QUIZ</a:t>
            </a:r>
            <a:endParaRPr/>
          </a:p>
        </p:txBody>
      </p:sp>
      <p:sp>
        <p:nvSpPr>
          <p:cNvPr id="310" name="Google Shape;310;p34">
            <a:extLst xmlns:a="http://schemas.openxmlformats.org/drawingml/2006/main">
              <a:ext uri="{FF2B5EF4-FFF2-40B4-BE49-F238E27FC236}">
                <a16:creationId xmlns:a16="http://schemas.microsoft.com/office/drawing/2014/main" id="{C4E1B0CF-3AD0-4BB6-B81D-8F8C15ED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47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Five questions before we finish</a:t>
            </a:r>
            <a:endParaRPr/>
          </a:p>
        </p:txBody>
      </p:sp>
      <p:sp>
        <p:nvSpPr>
          <p:cNvPr id="311" name="Google Shape;311;p34">
            <a:extLst xmlns:a="http://schemas.openxmlformats.org/drawingml/2006/main">
              <a:ext uri="{FF2B5EF4-FFF2-40B4-BE49-F238E27FC236}">
                <a16:creationId xmlns:a16="http://schemas.microsoft.com/office/drawing/2014/main" id="{B5B2A397-A116-465A-BE3B-A67E1B9C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477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1. Which keyword allows reassignment?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2. Which method transforms every array item?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3. Which method selects matching items?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4. What belongs inside JSX braces?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5. How should a component name begin?</a:t>
            </a:r>
            <a:endParaRPr/>
          </a:p>
        </p:txBody>
      </p:sp>
      <p:sp>
        <p:nvSpPr>
          <p:cNvPr id="312" name="Google Shape;312;p34">
            <a:extLst xmlns:a="http://schemas.openxmlformats.org/drawingml/2006/main">
              <a:ext uri="{FF2B5EF4-FFF2-40B4-BE49-F238E27FC236}">
                <a16:creationId xmlns:a16="http://schemas.microsoft.com/office/drawing/2014/main" id="{3BDD16FE-0894-4B91-B194-D30B6952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27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6700871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1437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8" name="Google Shape;318;p35">
            <a:extLst xmlns:a="http://schemas.openxmlformats.org/drawingml/2006/main">
              <a:ext uri="{FF2B5EF4-FFF2-40B4-BE49-F238E27FC236}">
                <a16:creationId xmlns:a16="http://schemas.microsoft.com/office/drawing/2014/main" id="{0886F9B1-1033-45A4-A22B-E0350853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92E8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92E8D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2E8DF"/>
                </a:solidFill>
                <a:latin typeface="Arial"/>
                <a:ea typeface="Arial"/>
                <a:cs typeface="Arial"/>
              </a:rPr>
              <a:t>RECAP</a:t>
            </a:r>
            <a:endParaRPr/>
          </a:p>
        </p:txBody>
      </p:sp>
      <p:sp>
        <p:nvSpPr>
          <p:cNvPr id="319" name="Google Shape;319;p35">
            <a:extLst xmlns:a="http://schemas.openxmlformats.org/drawingml/2006/main">
              <a:ext uri="{FF2B5EF4-FFF2-40B4-BE49-F238E27FC236}">
                <a16:creationId xmlns:a16="http://schemas.microsoft.com/office/drawing/2014/main" id="{1126D01F-EB48-4C2C-AFD5-F9ADEAA8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47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you can now explain</a:t>
            </a:r>
            <a:endParaRPr/>
          </a:p>
        </p:txBody>
      </p:sp>
      <p:sp>
        <p:nvSpPr>
          <p:cNvPr id="320" name="Google Shape;320;p35">
            <a:extLst xmlns:a="http://schemas.openxmlformats.org/drawingml/2006/main">
              <a:ext uri="{FF2B5EF4-FFF2-40B4-BE49-F238E27FC236}">
                <a16:creationId xmlns:a16="http://schemas.microsoft.com/office/drawing/2014/main" id="{FABDE01A-A52F-49EF-99BC-42AE635F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477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3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JavaScript describes our product data.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Functions and array methods work with that data.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Components return JSX to describe the screen.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same ProductCard displays different products.</a:t>
            </a:r>
            <a:endParaRPr/>
          </a:p>
        </p:txBody>
      </p:sp>
      <p:sp>
        <p:nvSpPr>
          <p:cNvPr id="321" name="Google Shape;321;p35">
            <a:extLst xmlns:a="http://schemas.openxmlformats.org/drawingml/2006/main">
              <a:ext uri="{FF2B5EF4-FFF2-40B4-BE49-F238E27FC236}">
                <a16:creationId xmlns:a16="http://schemas.microsoft.com/office/drawing/2014/main" id="{058DE1AB-B5DC-44D2-9CB6-D6CE5BFA5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92B4C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2B4C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B4C2"/>
                </a:solidFill>
                <a:latin typeface="Arial"/>
                <a:ea typeface="Arial"/>
                <a:cs typeface="Arial"/>
              </a:rPr>
              <a:t>28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3950615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7" name="Google Shape;327;p36">
            <a:extLst xmlns:a="http://schemas.openxmlformats.org/drawingml/2006/main">
              <a:ext uri="{FF2B5EF4-FFF2-40B4-BE49-F238E27FC236}">
                <a16:creationId xmlns:a16="http://schemas.microsoft.com/office/drawing/2014/main" id="{DEFBA176-5C47-4455-AAE6-21F76CBF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AFTER CLASS</a:t>
            </a:r>
            <a:endParaRPr/>
          </a:p>
        </p:txBody>
      </p:sp>
      <p:sp>
        <p:nvSpPr>
          <p:cNvPr id="328" name="Google Shape;328;p36">
            <a:extLst xmlns:a="http://schemas.openxmlformats.org/drawingml/2006/main">
              <a:ext uri="{FF2B5EF4-FFF2-40B4-BE49-F238E27FC236}">
                <a16:creationId xmlns:a16="http://schemas.microsoft.com/office/drawing/2014/main" id="{7BB0BE1D-64E8-417C-8460-C47C568B4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47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Practice and learning references</a:t>
            </a:r>
            <a:endParaRPr/>
          </a:p>
        </p:txBody>
      </p:sp>
      <p:sp>
        <p:nvSpPr>
          <p:cNvPr id="329" name="Google Shape;329;p36">
            <a:extLst xmlns:a="http://schemas.openxmlformats.org/drawingml/2006/main">
              <a:ext uri="{FF2B5EF4-FFF2-40B4-BE49-F238E27FC236}">
                <a16:creationId xmlns:a16="http://schemas.microsoft.com/office/drawing/2014/main" id="{31934DBA-AAD4-45D2-83FE-3FD4E1B7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477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203B4D"/>
                </a:solidFill>
                <a:latin typeface="Arial"/>
                <a:ea typeface="Arial"/>
                <a:cs typeface="Arial"/>
              </a:rPr>
              <a:t>Try at home: add brand to each card.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Compute an Out of stock count using filter.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Repeat the JavaScript lesson without copying.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25" b="0">
              <a:solidFill>
                <a:srgbClr val="203B4D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React: react.dev/learn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JavaScript: MDN JavaScript Guide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Vite: vite.dev/guide</a:t>
            </a:r>
            <a:endParaRPr/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2325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Can learn from: w3schools.com/</a:t>
            </a:r>
            <a:endParaRPr/>
          </a:p>
        </p:txBody>
      </p:sp>
      <p:sp>
        <p:nvSpPr>
          <p:cNvPr id="330" name="Google Shape;330;p36">
            <a:extLst xmlns:a="http://schemas.openxmlformats.org/drawingml/2006/main">
              <a:ext uri="{FF2B5EF4-FFF2-40B4-BE49-F238E27FC236}">
                <a16:creationId xmlns:a16="http://schemas.microsoft.com/office/drawing/2014/main" id="{73A4F55C-C4FD-457C-AFB3-2690A623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29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76993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2026-10-11T16:56:53.6080000Z</dcterms:created>
  <dcterms:modified xsi:type="dcterms:W3CDTF">2026-10-11T16:56:53.6080000Z</dcterms:modified>
</coreProperties>
</file>