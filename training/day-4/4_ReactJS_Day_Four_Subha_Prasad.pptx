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f4ed6081614ed3" /><Relationship Type="http://schemas.openxmlformats.org/officeDocument/2006/relationships/extended-properties" Target="/docProps/app.xml" Id="Ref2853fce3324703" /><Relationship Type="http://schemas.openxmlformats.org/officeDocument/2006/relationships/officeDocument" Target="/ppt/presentation.xml" Id="Rc9ff2188654d4bc2" /></Relationships>
</file>

<file path=ppt/presentation.xml><?xml version="1.0" encoding="utf-8"?>
<p:presentation xmlns:p="http://schemas.openxmlformats.org/presentationml/2006/main">
  <p:sldMasterIdLst>
    <p:sldMasterId xmlns:r="http://schemas.openxmlformats.org/officeDocument/2006/relationships" id="2147483648" r:id="R8132e8e92ab24025"/>
  </p:sldMasterIdLst>
  <p:notesMasterIdLst>
    <p:notesMasterId xmlns:r="http://schemas.openxmlformats.org/officeDocument/2006/relationships" r:id="R0db8bf1c53644e2f"/>
  </p:notesMasterIdLst>
  <p:sldIdLst>
    <p:sldId xmlns:r="http://schemas.openxmlformats.org/officeDocument/2006/relationships" id="256" r:id="R73d59e1860c54ca1"/>
    <p:sldId xmlns:r="http://schemas.openxmlformats.org/officeDocument/2006/relationships" id="257" r:id="Rf28d5150ca034301"/>
    <p:sldId xmlns:r="http://schemas.openxmlformats.org/officeDocument/2006/relationships" id="258" r:id="Ree623ba58d714467"/>
    <p:sldId xmlns:r="http://schemas.openxmlformats.org/officeDocument/2006/relationships" id="259" r:id="R1618a3e51742480a"/>
    <p:sldId xmlns:r="http://schemas.openxmlformats.org/officeDocument/2006/relationships" id="260" r:id="Rf4bc9a4d070a4830"/>
    <p:sldId xmlns:r="http://schemas.openxmlformats.org/officeDocument/2006/relationships" id="261" r:id="R43aedea8725a421b"/>
    <p:sldId xmlns:r="http://schemas.openxmlformats.org/officeDocument/2006/relationships" id="262" r:id="R53379eb02711479d"/>
    <p:sldId xmlns:r="http://schemas.openxmlformats.org/officeDocument/2006/relationships" id="263" r:id="Raa6f8542af9448a4"/>
    <p:sldId xmlns:r="http://schemas.openxmlformats.org/officeDocument/2006/relationships" id="264" r:id="R961be55104e3427c"/>
    <p:sldId xmlns:r="http://schemas.openxmlformats.org/officeDocument/2006/relationships" id="265" r:id="R8eb8e84385074f00"/>
    <p:sldId xmlns:r="http://schemas.openxmlformats.org/officeDocument/2006/relationships" id="266" r:id="Rb115c06b02dc4cd6"/>
    <p:sldId xmlns:r="http://schemas.openxmlformats.org/officeDocument/2006/relationships" id="267" r:id="Rf108c97a9fbb4407"/>
    <p:sldId xmlns:r="http://schemas.openxmlformats.org/officeDocument/2006/relationships" id="268" r:id="R5c7c05fbdb784430"/>
    <p:sldId xmlns:r="http://schemas.openxmlformats.org/officeDocument/2006/relationships" id="269" r:id="Rfaad21c13f9740d8"/>
    <p:sldId xmlns:r="http://schemas.openxmlformats.org/officeDocument/2006/relationships" id="270" r:id="Rf3b9baeb37024620"/>
    <p:sldId xmlns:r="http://schemas.openxmlformats.org/officeDocument/2006/relationships" id="271" r:id="Re01a3feab1e5472f"/>
    <p:sldId xmlns:r="http://schemas.openxmlformats.org/officeDocument/2006/relationships" id="272" r:id="R789cf8fd5b05449b"/>
    <p:sldId xmlns:r="http://schemas.openxmlformats.org/officeDocument/2006/relationships" id="273" r:id="Re493d10053764d89"/>
    <p:sldId xmlns:r="http://schemas.openxmlformats.org/officeDocument/2006/relationships" id="274" r:id="R06ebcba96daa4b34"/>
    <p:sldId xmlns:r="http://schemas.openxmlformats.org/officeDocument/2006/relationships" id="275" r:id="R5d013139bfc84198"/>
    <p:sldId xmlns:r="http://schemas.openxmlformats.org/officeDocument/2006/relationships" id="276" r:id="R727e106d907045f2"/>
    <p:sldId xmlns:r="http://schemas.openxmlformats.org/officeDocument/2006/relationships" id="277" r:id="Rd92077ec0b9041ad"/>
    <p:sldId xmlns:r="http://schemas.openxmlformats.org/officeDocument/2006/relationships" id="278" r:id="Rcdb46a9ad6c84554"/>
    <p:sldId xmlns:r="http://schemas.openxmlformats.org/officeDocument/2006/relationships" id="279" r:id="Rbafa6bd40c2347ad"/>
    <p:sldId xmlns:r="http://schemas.openxmlformats.org/officeDocument/2006/relationships" id="280" r:id="R1672c22be5394a2c"/>
    <p:sldId xmlns:r="http://schemas.openxmlformats.org/officeDocument/2006/relationships" id="281" r:id="R239fb87c96414d92"/>
    <p:sldId xmlns:r="http://schemas.openxmlformats.org/officeDocument/2006/relationships" id="282" r:id="R851a9bc0d8da4b76"/>
    <p:sldId xmlns:r="http://schemas.openxmlformats.org/officeDocument/2006/relationships" id="283" r:id="R7280f86b95784c11"/>
    <p:sldId xmlns:r="http://schemas.openxmlformats.org/officeDocument/2006/relationships" id="284" r:id="R2e41343b8c3e4c90"/>
    <p:sldId xmlns:r="http://schemas.openxmlformats.org/officeDocument/2006/relationships" id="285" r:id="Rb842c572daf34d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f6aec2b00242ad" /><Relationship Type="http://schemas.openxmlformats.org/officeDocument/2006/relationships/slideMaster" Target="/ppt/slideMasters/slideMaster1.xml" Id="R8132e8e92ab24025" /><Relationship Type="http://schemas.openxmlformats.org/officeDocument/2006/relationships/notesMaster" Target="/ppt/notesMasters/notesMaster1.xml" Id="R0db8bf1c53644e2f" /><Relationship Type="http://schemas.openxmlformats.org/officeDocument/2006/relationships/presProps" Target="/ppt/presProps.xml" Id="R56f12385a6234867" /><Relationship Type="http://schemas.openxmlformats.org/officeDocument/2006/relationships/tableStyles" Target="/ppt/tableStyles.xml" Id="R4e10918507cc4a0a" /><Relationship Type="http://schemas.openxmlformats.org/officeDocument/2006/relationships/slide" Target="/ppt/slides/slide1.xml" Id="R73d59e1860c54ca1" /><Relationship Type="http://schemas.openxmlformats.org/officeDocument/2006/relationships/slide" Target="/ppt/slides/slide2.xml" Id="Rf28d5150ca034301" /><Relationship Type="http://schemas.openxmlformats.org/officeDocument/2006/relationships/slide" Target="/ppt/slides/slide3.xml" Id="Ree623ba58d714467" /><Relationship Type="http://schemas.openxmlformats.org/officeDocument/2006/relationships/slide" Target="/ppt/slides/slide4.xml" Id="R1618a3e51742480a" /><Relationship Type="http://schemas.openxmlformats.org/officeDocument/2006/relationships/slide" Target="/ppt/slides/slide5.xml" Id="Rf4bc9a4d070a4830" /><Relationship Type="http://schemas.openxmlformats.org/officeDocument/2006/relationships/slide" Target="/ppt/slides/slide6.xml" Id="R43aedea8725a421b" /><Relationship Type="http://schemas.openxmlformats.org/officeDocument/2006/relationships/slide" Target="/ppt/slides/slide7.xml" Id="R53379eb02711479d" /><Relationship Type="http://schemas.openxmlformats.org/officeDocument/2006/relationships/slide" Target="/ppt/slides/slide8.xml" Id="Raa6f8542af9448a4" /><Relationship Type="http://schemas.openxmlformats.org/officeDocument/2006/relationships/slide" Target="/ppt/slides/slide9.xml" Id="R961be55104e3427c" /><Relationship Type="http://schemas.openxmlformats.org/officeDocument/2006/relationships/slide" Target="/ppt/slides/slide10.xml" Id="R8eb8e84385074f00" /><Relationship Type="http://schemas.openxmlformats.org/officeDocument/2006/relationships/slide" Target="/ppt/slides/slide11.xml" Id="Rb115c06b02dc4cd6" /><Relationship Type="http://schemas.openxmlformats.org/officeDocument/2006/relationships/slide" Target="/ppt/slides/slide12.xml" Id="Rf108c97a9fbb4407" /><Relationship Type="http://schemas.openxmlformats.org/officeDocument/2006/relationships/slide" Target="/ppt/slides/slide13.xml" Id="R5c7c05fbdb784430" /><Relationship Type="http://schemas.openxmlformats.org/officeDocument/2006/relationships/slide" Target="/ppt/slides/slide14.xml" Id="Rfaad21c13f9740d8" /><Relationship Type="http://schemas.openxmlformats.org/officeDocument/2006/relationships/slide" Target="/ppt/slides/slide15.xml" Id="Rf3b9baeb37024620" /><Relationship Type="http://schemas.openxmlformats.org/officeDocument/2006/relationships/slide" Target="/ppt/slides/slide16.xml" Id="Re01a3feab1e5472f" /><Relationship Type="http://schemas.openxmlformats.org/officeDocument/2006/relationships/slide" Target="/ppt/slides/slide17.xml" Id="R789cf8fd5b05449b" /><Relationship Type="http://schemas.openxmlformats.org/officeDocument/2006/relationships/slide" Target="/ppt/slides/slide18.xml" Id="Re493d10053764d89" /><Relationship Type="http://schemas.openxmlformats.org/officeDocument/2006/relationships/slide" Target="/ppt/slides/slide19.xml" Id="R06ebcba96daa4b34" /><Relationship Type="http://schemas.openxmlformats.org/officeDocument/2006/relationships/slide" Target="/ppt/slides/slide20.xml" Id="R5d013139bfc84198" /><Relationship Type="http://schemas.openxmlformats.org/officeDocument/2006/relationships/slide" Target="/ppt/slides/slide21.xml" Id="R727e106d907045f2" /><Relationship Type="http://schemas.openxmlformats.org/officeDocument/2006/relationships/slide" Target="/ppt/slides/slide22.xml" Id="Rd92077ec0b9041ad" /><Relationship Type="http://schemas.openxmlformats.org/officeDocument/2006/relationships/slide" Target="/ppt/slides/slide23.xml" Id="Rcdb46a9ad6c84554" /><Relationship Type="http://schemas.openxmlformats.org/officeDocument/2006/relationships/slide" Target="/ppt/slides/slide24.xml" Id="Rbafa6bd40c2347ad" /><Relationship Type="http://schemas.openxmlformats.org/officeDocument/2006/relationships/slide" Target="/ppt/slides/slide25.xml" Id="R1672c22be5394a2c" /><Relationship Type="http://schemas.openxmlformats.org/officeDocument/2006/relationships/slide" Target="/ppt/slides/slide26.xml" Id="R239fb87c96414d92" /><Relationship Type="http://schemas.openxmlformats.org/officeDocument/2006/relationships/slide" Target="/ppt/slides/slide27.xml" Id="R851a9bc0d8da4b76" /><Relationship Type="http://schemas.openxmlformats.org/officeDocument/2006/relationships/slide" Target="/ppt/slides/slide28.xml" Id="R7280f86b95784c11" /><Relationship Type="http://schemas.openxmlformats.org/officeDocument/2006/relationships/slide" Target="/ppt/slides/slide29.xml" Id="R2e41343b8c3e4c90" /><Relationship Type="http://schemas.openxmlformats.org/officeDocument/2006/relationships/slide" Target="/ppt/slides/slide30.xml" Id="Rb842c572daf34d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0fb7e29f4849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077b0c920b4670" /><Relationship Type="http://schemas.openxmlformats.org/officeDocument/2006/relationships/notesMaster" Target="/ppt/notesMasters/notesMaster1.xml" Id="Rec7e942caed8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879b82c3c747b2" /><Relationship Type="http://schemas.openxmlformats.org/officeDocument/2006/relationships/notesMaster" Target="/ppt/notesMasters/notesMaster1.xml" Id="R00032eacda89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eee1424a584ee0" /><Relationship Type="http://schemas.openxmlformats.org/officeDocument/2006/relationships/notesMaster" Target="/ppt/notesMasters/notesMaster1.xml" Id="R448f19f5fac3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24e2a3a1eb4fe3" /><Relationship Type="http://schemas.openxmlformats.org/officeDocument/2006/relationships/notesMaster" Target="/ppt/notesMasters/notesMaster1.xml" Id="Re1e93ea70af049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79cc30136045ec" /><Relationship Type="http://schemas.openxmlformats.org/officeDocument/2006/relationships/notesMaster" Target="/ppt/notesMasters/notesMaster1.xml" Id="Rf2fbfba3c4344f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70d3c3c1804052" /><Relationship Type="http://schemas.openxmlformats.org/officeDocument/2006/relationships/notesMaster" Target="/ppt/notesMasters/notesMaster1.xml" Id="Rc56b163ff8d147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c1547111964a85" /><Relationship Type="http://schemas.openxmlformats.org/officeDocument/2006/relationships/notesMaster" Target="/ppt/notesMasters/notesMaster1.xml" Id="R0cfe2d2be4a047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1c03d3b40d485c" /><Relationship Type="http://schemas.openxmlformats.org/officeDocument/2006/relationships/notesMaster" Target="/ppt/notesMasters/notesMaster1.xml" Id="R3faa2251b7524d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46cf13fea54761" /><Relationship Type="http://schemas.openxmlformats.org/officeDocument/2006/relationships/notesMaster" Target="/ppt/notesMasters/notesMaster1.xml" Id="Rca158fefb7e64d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bb6b9d28b74e2b" /><Relationship Type="http://schemas.openxmlformats.org/officeDocument/2006/relationships/notesMaster" Target="/ppt/notesMasters/notesMaster1.xml" Id="R3aec1ad2132e4d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5c531bf30f4829" /><Relationship Type="http://schemas.openxmlformats.org/officeDocument/2006/relationships/notesMaster" Target="/ppt/notesMasters/notesMaster1.xml" Id="Rb2113d9d93264f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dc7ccf05ef4d05" /><Relationship Type="http://schemas.openxmlformats.org/officeDocument/2006/relationships/notesMaster" Target="/ppt/notesMasters/notesMaster1.xml" Id="R9e8fc83bdb2149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b37b1477d14cc8" /><Relationship Type="http://schemas.openxmlformats.org/officeDocument/2006/relationships/notesMaster" Target="/ppt/notesMasters/notesMaster1.xml" Id="Rf33c406d512a40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81ccc1c66d4ee7" /><Relationship Type="http://schemas.openxmlformats.org/officeDocument/2006/relationships/notesMaster" Target="/ppt/notesMasters/notesMaster1.xml" Id="R6e782fcff34449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f669b316a74c47" /><Relationship Type="http://schemas.openxmlformats.org/officeDocument/2006/relationships/notesMaster" Target="/ppt/notesMasters/notesMaster1.xml" Id="R12ca0a82f77246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526d102fee4ea4" /><Relationship Type="http://schemas.openxmlformats.org/officeDocument/2006/relationships/notesMaster" Target="/ppt/notesMasters/notesMaster1.xml" Id="R53db78e8a8f04b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b116b5c9cb44a0" /><Relationship Type="http://schemas.openxmlformats.org/officeDocument/2006/relationships/notesMaster" Target="/ppt/notesMasters/notesMaster1.xml" Id="Re47d9ae6107144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44c08254514264" /><Relationship Type="http://schemas.openxmlformats.org/officeDocument/2006/relationships/notesMaster" Target="/ppt/notesMasters/notesMaster1.xml" Id="R49ffdfca9d5c46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b88bf3fddb4c88" /><Relationship Type="http://schemas.openxmlformats.org/officeDocument/2006/relationships/notesMaster" Target="/ppt/notesMasters/notesMaster1.xml" Id="Rd2d1366bf53b4f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fcf6e9687d40a4" /><Relationship Type="http://schemas.openxmlformats.org/officeDocument/2006/relationships/notesMaster" Target="/ppt/notesMasters/notesMaster1.xml" Id="Rf06472fb400c45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7383a0f0494b48" /><Relationship Type="http://schemas.openxmlformats.org/officeDocument/2006/relationships/notesMaster" Target="/ppt/notesMasters/notesMaster1.xml" Id="Rc1e5a7c59aa94f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360d9aaf244eb6" /><Relationship Type="http://schemas.openxmlformats.org/officeDocument/2006/relationships/notesMaster" Target="/ppt/notesMasters/notesMaster1.xml" Id="R73d98125302f40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47b63e53d7499e" /><Relationship Type="http://schemas.openxmlformats.org/officeDocument/2006/relationships/notesMaster" Target="/ppt/notesMasters/notesMaster1.xml" Id="R7b3ed9a48d8845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8ebbf79cf24225" /><Relationship Type="http://schemas.openxmlformats.org/officeDocument/2006/relationships/notesMaster" Target="/ppt/notesMasters/notesMaster1.xml" Id="Re32a2720be8b49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fd6ee103aa44890" /><Relationship Type="http://schemas.openxmlformats.org/officeDocument/2006/relationships/notesMaster" Target="/ppt/notesMasters/notesMaster1.xml" Id="R9f441d9edfb347e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22b8e489f34fe1" /><Relationship Type="http://schemas.openxmlformats.org/officeDocument/2006/relationships/notesMaster" Target="/ppt/notesMasters/notesMaster1.xml" Id="Rf4ead6c37c894d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b80de349f104915" /><Relationship Type="http://schemas.openxmlformats.org/officeDocument/2006/relationships/notesMaster" Target="/ppt/notesMasters/notesMaster1.xml" Id="R7d45fd69b04e43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5c6ab0281f44a0c" /><Relationship Type="http://schemas.openxmlformats.org/officeDocument/2006/relationships/notesMaster" Target="/ppt/notesMasters/notesMaster1.xml" Id="R76d6e463477540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6003be5678e48e4" /><Relationship Type="http://schemas.openxmlformats.org/officeDocument/2006/relationships/notesMaster" Target="/ppt/notesMasters/notesMaster1.xml" Id="R6d89414303974f0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6ba32bca8a34e8b" /><Relationship Type="http://schemas.openxmlformats.org/officeDocument/2006/relationships/notesMaster" Target="/ppt/notesMasters/notesMaster1.xml" Id="R7c05c4aa46524a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Introduce yourself as TCS Assets Consultant (C3A) and SME trainer. Continue the same small Product Catalog used on Days 2 and 3. Delivery is via Microsoft Teams. This session supports beginner learning; official E1 assessment rules determine certification.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Ask learners whether a page always receives its data immediately. Explain that they will keep all Day 3 interactions while changing the source of product data.</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Orient learners to the five parts. Keep the browser and App.jsx ready to share; source code and detailed notes remain available after the session.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Recall: props carry values, callbacks request changes, and state triggers rendering. matchesFilter is an illustrative predicate; the complete project combines name, category and stock checks inline. Initial products is an empty array while status is loading.</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Open public/products.json. Contrast JSON with the earlier JavaScript module: no export statement, single quotes or comments. The example on screen is one object inside the full array. Prices are fictional INR. JSON comments are explained in README and loadProducts.js.</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Open http://127.0.0.1:5184/products.json during your prepared demo; learners use their own Vite URL. Do not fetch /public/products.json. Use the dev server rather than double-clicking index.html. Root-relative URLs assume this training app is hosted at the root; adjust for a deployment subpath.</a:t>
            </a:r>
          </a:p>
          <a:p xmlns:a="http://schemas.openxmlformats.org/drawingml/2006/main">
            <a:r>
              <a:t>Source: https://vite.dev/guide/assets.html#the-public-directory</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Explain with ordering: start a request, keep running, then receive a response later. Avoid calling a Promise a thread. A fulfilled fetch Promise supplies a Response; the body still needs to be read.</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Read each await aloud. This introductory function omits HTTP checks, validation and cancellation; the complete loadProducts helper adds those. Do not describe await as making the request synchronous globally.</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excerpt belongs inside an async function. Demonstrate that catch handles rejected fetch or rejected body parsing. A server HTTP error needs an explicit check before it becomes a thrown error.</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Explain 404 as missing resource and 500 as server failure. Network failure rejects fetch; HTTP 404 usually resolves with a Response. Code is an excerpt of loadProducts, with shorter teaching error text.</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Open validateProducts in src/data/loadProducts.js. It checks nonblank unique IDs, nonblank names, finite nonnegative numeric prices, allowed categories and boolean stock. An empty array is valid. Do not spend the whole session on every condition; learners first understand the boundary between parsing and validation.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Ask learners to classify search filtering, Add to cart, and fetching. Rendering should stay pure. This is a small teaching app; larger apps often use framework loaders or a data library instead of hand-writing every request Effect.</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Explain setup, cleanup and dependency list separately. Effects are tied to committed renders, not a guarantee that they always run after browser paint. The empty example illustrates syntax rather than fetching.</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Mention the development StrictMode extra setup/cleanup cycle even for []. React compares dependency values using Object.is. In this project the URL is fixed, the loader is imported, setters are stable, and retryCount is deliberately the request trigger. Do not present dependencies as an arbitrary scheduling trick.</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fetchCatalog is defined inside the real Effect. This is a conceptual incorrect example, not code to paste. The fetched array changes identity and triggers another run if used as the dependency. Explain that a dynamic resource URL must itself be included when used.</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Explain why products=[] cannot distinguish waiting from a successful empty catalog. The project uses one status string to avoid contradictory isLoading and hasError booleans. The cart and filters retain their separate Day 3 state.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App.jsx and trace the first three lines of setup. This partial excerpt omits request and cleanup shown next. There is no artificial delay in app code; use browser Network throttling for a visible loading demonstration.</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is the try branch inside async fetchCatalog, not a standalone Effect. The loaded array flows through ProductSummary and ProductList; derived filters recompute using state. The guard prevents an old continuation from writing results after cleanup.</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slide shows JSX excerpts; the actual error section also includes a heading and Retry button. Show that summary/cards are hidden during loading and error. Success with zero products receives its own message; success with products shows the full Day 3 interface.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Temporarily put [] in public/products.json and reload, then restore it. Afterwards search for Laptop in the normal dataset to show the different no-filter-matches message. A successful JSON request can contain no items.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For live practice rename products.json to products-backup.json, reload to cause failure, restore the filename, then click Retry. Vite may return HTML fallback for a missing JSON path; this becomes a parsing error rather than necessarily a 404. The project shows the actual error message. Retry is manual, not an endless automatic loop.</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Setup creates a new controller for each request. Cleanup runs before setup repeats and when App unmounts. The signal check also guards continuations after response parsing. Explain cancellation as stopping obsolete work; do not call it a guaranteed rollback of server actions.</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excerpt omits controller construction shown on slide 17. Open the full Effect in App.jsx so every fragment connects. StrictMode runs an extra setup/cleanup cycle during development; one cancelled request can appear in Network. Keep StrictMode enabled and write correct cleanup.</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Show the actual screenshot, then share the live browser. Network → products.json demonstrates the HTTP response. Compare App products state with public/products.json. Add Notebook and Bag to reach ₹580. Point out that state remains in memory: there is no checkout or payment.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Open these three files in order. Run npm run check:day-four to show async file loading in Node; explain that it does not execute React Hooks. Run the Vite app. Ask one learner to narrate request → body → validation → setProducts → render. Leave earlier Day 1–3 lesson files for revision.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Use browser Network Slow 3G or equivalent, with cache disabled. In development StrictMode can show a cancelled request plus the active request. For error rename the JSON file, reload, then restore and Retry; missing-path HTML can trigger JSON parsing failure. Close throttling after the demo. Show that filters do not request products again.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a:t>
            </a:r>
          </a:p>
          <a:p xmlns:a="http://schemas.openxmlformats.org/drawingml/2006/main">
            <a:r>
              <a:t>Give learners 5 minutes. Keep JSON valid: double quotes, no comments, no trailing commas. Expected totals: Notebook100+Bag500=600. Empty JSON array displays No products are available yet. Restore80 and all4products before continuing. Optional exercise: add a success message showing the loaded count, without adding an 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Ask learners to point to the matching correct code. Dependency arrays include reactive resource URLs when present. This project intentionally uses a fixed root-relative URL. Mention that derived search/cart totals need no Effect. Production data-loading tools can add caching and request deduplication.</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Answers: 1 No, it is a Response reached through a Promise; read response.json. 2 No, check response.ok. 3 retryCount changes. 4 It cancels obsolete requests and prevents old continuations from updating this component. 5 No, successful empty data is valid. Have learners answer aloud before revealing the explanations.</a:t>
            </a:r>
          </a:p>
          <a:p xmlns:a="http://schemas.openxmlformats.org/drawingml/2006/main">
            <a:r>
              <a:t>Source: https://developer.mozilla.org/en-US/docs/Web/API/Fetch_API/Using_Fetch</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Homework: add P-105 Pencil price10 Stationery inStocktrue to public/products.json. Reload and expect5total,3in stock,2out of stock; addingNotebook+Bag+Pencil gives590. Keep unique IDs and known categories. Day5 can consolidate components, forms and the final mini-project. Reference React useEffect, MDN Using Fetch, Vite public directory; W3Schools React useEffect can be supplementary reading, not the technical authority.</a:t>
            </a:r>
          </a:p>
          <a:p xmlns:a="http://schemas.openxmlformats.org/drawingml/2006/main">
            <a:r>
              <a:t>Source: https://react.dev/reference/react/useEffect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da8f2cb8b849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55326bf64a42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3ce38ba22342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b7985c81ee49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791086693b4c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512584502e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988ce1c2704f08" /><Relationship Type="http://schemas.openxmlformats.org/officeDocument/2006/relationships/slideLayout" Target="/ppt/slideLayouts/slideLayout1.xml" Id="R856469fda6554a5b" /><Relationship Type="http://schemas.openxmlformats.org/officeDocument/2006/relationships/slideLayout" Target="/ppt/slideLayouts/slideLayout2.xml" Id="R8742f4679d02445e" /><Relationship Type="http://schemas.openxmlformats.org/officeDocument/2006/relationships/slideLayout" Target="/ppt/slideLayouts/slideLayout3.xml" Id="Rfbf92d2240ad4fe2" /><Relationship Type="http://schemas.openxmlformats.org/officeDocument/2006/relationships/slideLayout" Target="/ppt/slideLayouts/slideLayout4.xml" Id="Rd668acc472f640f3" /><Relationship Type="http://schemas.openxmlformats.org/officeDocument/2006/relationships/slideLayout" Target="/ppt/slideLayouts/slideLayout5.xml" Id="R1f2238b35dcb42ab" /><Relationship Type="http://schemas.openxmlformats.org/officeDocument/2006/relationships/slideLayout" Target="/ppt/slideLayouts/slideLayout6.xml" Id="Rc20bd028442e4f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6469fda6554a5b"/>
    <p:sldLayoutId xmlns:r="http://schemas.openxmlformats.org/officeDocument/2006/relationships" id="2147483650" r:id="R8742f4679d02445e"/>
    <p:sldLayoutId xmlns:r="http://schemas.openxmlformats.org/officeDocument/2006/relationships" id="2147483651" r:id="Rfbf92d2240ad4fe2"/>
    <p:sldLayoutId xmlns:r="http://schemas.openxmlformats.org/officeDocument/2006/relationships" id="2147483652" r:id="Rd668acc472f640f3"/>
    <p:sldLayoutId xmlns:r="http://schemas.openxmlformats.org/officeDocument/2006/relationships" id="2147483653" r:id="R1f2238b35dcb42ab"/>
    <p:sldLayoutId xmlns:r="http://schemas.openxmlformats.org/officeDocument/2006/relationships" id="2147483654" r:id="Rc20bd028442e4f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6ba98405804e8c" /><Relationship Type="http://schemas.openxmlformats.org/officeDocument/2006/relationships/image" Target="/ppt/media/image.png" Id="Rfab597b20f6541dc" /><Relationship Type="http://schemas.openxmlformats.org/officeDocument/2006/relationships/notesSlide" Target="/ppt/notesSlides/notesSlide1.xml" Id="R81a1d3ce1e6e4c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82b2f29a7a40ba" /><Relationship Type="http://schemas.openxmlformats.org/officeDocument/2006/relationships/notesSlide" Target="/ppt/notesSlides/notesSlide2.xml" Id="R0120a63e940246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3974c4dee04133" /><Relationship Type="http://schemas.openxmlformats.org/officeDocument/2006/relationships/notesSlide" Target="/ppt/notesSlides/notesSlide3.xml" Id="R61b9bda152d84a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6999205a924ef9" /><Relationship Type="http://schemas.openxmlformats.org/officeDocument/2006/relationships/notesSlide" Target="/ppt/notesSlides/notesSlide4.xml" Id="Rafd3514eb3844c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694879e74d4918" /><Relationship Type="http://schemas.openxmlformats.org/officeDocument/2006/relationships/notesSlide" Target="/ppt/notesSlides/notesSlide5.xml" Id="R1ed1f75f36264d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a1b51ede6a4c2d" /><Relationship Type="http://schemas.openxmlformats.org/officeDocument/2006/relationships/notesSlide" Target="/ppt/notesSlides/notesSlide6.xml" Id="R2ed7e3079b56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f01ed3e9004cce" /><Relationship Type="http://schemas.openxmlformats.org/officeDocument/2006/relationships/notesSlide" Target="/ppt/notesSlides/notesSlide7.xml" Id="R9f5c2e565cbf42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753e07dd454f4f" /><Relationship Type="http://schemas.openxmlformats.org/officeDocument/2006/relationships/notesSlide" Target="/ppt/notesSlides/notesSlide8.xml" Id="R6046c9431e6247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55f2904c6845ad" /><Relationship Type="http://schemas.openxmlformats.org/officeDocument/2006/relationships/notesSlide" Target="/ppt/notesSlides/notesSlide9.xml" Id="R2350df47bdf044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67e180f52854811" /><Relationship Type="http://schemas.openxmlformats.org/officeDocument/2006/relationships/notesSlide" Target="/ppt/notesSlides/notesSlide10.xml" Id="Rc48d7baed12542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8911eba26f4c22" /><Relationship Type="http://schemas.openxmlformats.org/officeDocument/2006/relationships/notesSlide" Target="/ppt/notesSlides/notesSlide11.xml" Id="R577c4a3fa1294e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793338bd3344172" /><Relationship Type="http://schemas.openxmlformats.org/officeDocument/2006/relationships/notesSlide" Target="/ppt/notesSlides/notesSlide12.xml" Id="R28de4e1ebc744e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1385764023740ba" /><Relationship Type="http://schemas.openxmlformats.org/officeDocument/2006/relationships/notesSlide" Target="/ppt/notesSlides/notesSlide13.xml" Id="R7d41078bb9f14f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354682b39214279" /><Relationship Type="http://schemas.openxmlformats.org/officeDocument/2006/relationships/notesSlide" Target="/ppt/notesSlides/notesSlide14.xml" Id="R858eb720125d47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e9c685ce07542aa" /><Relationship Type="http://schemas.openxmlformats.org/officeDocument/2006/relationships/notesSlide" Target="/ppt/notesSlides/notesSlide15.xml" Id="R1e9ba6b38c294e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8a467feb8a4651" /><Relationship Type="http://schemas.openxmlformats.org/officeDocument/2006/relationships/notesSlide" Target="/ppt/notesSlides/notesSlide16.xml" Id="R78961a5d729b42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cc57a0e70c1449b" /><Relationship Type="http://schemas.openxmlformats.org/officeDocument/2006/relationships/notesSlide" Target="/ppt/notesSlides/notesSlide17.xml" Id="R13d0c533216448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535e1f41084719" /><Relationship Type="http://schemas.openxmlformats.org/officeDocument/2006/relationships/notesSlide" Target="/ppt/notesSlides/notesSlide18.xml" Id="R876506ee43d447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fa0b64e1014e49" /><Relationship Type="http://schemas.openxmlformats.org/officeDocument/2006/relationships/notesSlide" Target="/ppt/notesSlides/notesSlide19.xml" Id="R0ef6bf714f1946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a652613236e46d3" /><Relationship Type="http://schemas.openxmlformats.org/officeDocument/2006/relationships/notesSlide" Target="/ppt/notesSlides/notesSlide20.xml" Id="R7d045d8f637b46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934f672859e4256" /><Relationship Type="http://schemas.openxmlformats.org/officeDocument/2006/relationships/notesSlide" Target="/ppt/notesSlides/notesSlide21.xml" Id="Rec6781a33b0242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421efa540904b4e" /><Relationship Type="http://schemas.openxmlformats.org/officeDocument/2006/relationships/notesSlide" Target="/ppt/notesSlides/notesSlide22.xml" Id="Rf515e76a792042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e251e6963da4362" /><Relationship Type="http://schemas.openxmlformats.org/officeDocument/2006/relationships/notesSlide" Target="/ppt/notesSlides/notesSlide23.xml" Id="Rb153f6785b6949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bcf258fe6584018" /><Relationship Type="http://schemas.openxmlformats.org/officeDocument/2006/relationships/image" Target="/ppt/media/image2.png" Id="R1c035c6338dd4153" /><Relationship Type="http://schemas.openxmlformats.org/officeDocument/2006/relationships/notesSlide" Target="/ppt/notesSlides/notesSlide24.xml" Id="Rf4ab61b16f3a402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eaf990e5cae44f2" /><Relationship Type="http://schemas.openxmlformats.org/officeDocument/2006/relationships/notesSlide" Target="/ppt/notesSlides/notesSlide25.xml" Id="R0384df9cf23042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fad6dd1faea4806" /><Relationship Type="http://schemas.openxmlformats.org/officeDocument/2006/relationships/notesSlide" Target="/ppt/notesSlides/notesSlide26.xml" Id="R00126347217547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ae88b9b4503464d" /><Relationship Type="http://schemas.openxmlformats.org/officeDocument/2006/relationships/notesSlide" Target="/ppt/notesSlides/notesSlide27.xml" Id="R61fb333b2ea6478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ab20f96d13e49be" /><Relationship Type="http://schemas.openxmlformats.org/officeDocument/2006/relationships/notesSlide" Target="/ppt/notesSlides/notesSlide28.xml" Id="R1c261d007b2344a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2cd1148761a47fe" /><Relationship Type="http://schemas.openxmlformats.org/officeDocument/2006/relationships/notesSlide" Target="/ppt/notesSlides/notesSlide29.xml" Id="R29b3b101fa45428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22871416de44481" /><Relationship Type="http://schemas.openxmlformats.org/officeDocument/2006/relationships/notesSlide" Target="/ppt/notesSlides/notesSlide30.xml" Id="R36a15494a1ee4b1f"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ReactJS · Day Four</a:t>
            </a:r>
          </a:p>
        </p:txBody>
      </p:sp>
      <p:pic>
        <p:nvPicPr>
          <p:cNvPr id="3" name="">
            <a:extLst xmlns:a="http://schemas.openxmlformats.org/drawingml/2006/main">
              <a:ext uri="{FF2B5EF4-FFF2-40B4-BE49-F238E27FC236}">
                <a16:creationId xmlns:a16="http://schemas.microsoft.com/office/drawing/2014/main" id="{ABD0857B-9B13-4056-B17C-274FA7613FA5}"/>
              </a:ext>
            </a:extLst>
          </p:cNvPr>
          <p:cNvPicPr>
            <a:picLocks xmlns:a="http://schemas.openxmlformats.org/drawingml/2006/main" noChangeAspect="1"/>
          </p:cNvPicPr>
          <p:nvPr/>
        </p:nvPicPr>
        <p:blipFill>
          <a:blip xmlns:r="http://schemas.openxmlformats.org/officeDocument/2006/relationships" xmlns:a="http://schemas.openxmlformats.org/drawingml/2006/main" r:embed="Rfab597b20f6541dc"/>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Effects and data loading</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15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goals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Load products from a JSON resource.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when an Effect is useful.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Show loading, error and empty states.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Retry a failed request and clean up old work.</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4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Day 3 recap and JSON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Promises, async/await and fetch</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useEffect and dependencies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Request states, retry and cleanup</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Hands-on, exercise and quiz</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RECALL</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3 state and derived values</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Search and cart still use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Filters run during rendering.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Today, products arrive after an HTTP request.</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[products, setProducts]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visibleProducts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products.filter(matchesFilter);</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loaded array becomes the source of the catalog</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DATA</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JSON product data</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JSON is a text format for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Keys and strings use double quotes.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Booleans and numbers stay unquoted.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Comments and trailing commas are invalid.</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"id": "P-101",</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"name": "Notebook",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"price": 80,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"category": "Stationery",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"inStock": true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Our resource contains an array of four objects</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DATA</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local resource URL</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Vite serves public files from the site root.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browser requests /products.json.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file is local to this project, but loading uses HTTP.</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File in the project: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public/products.json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URL requested by the browser: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fetch("/products.json");</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 external API key or backend is needed</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JAVASCRIPT</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Promise represents a future result</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request takes time.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Its Promise may fulfil or reject.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browser can keep responding while the request is pending.</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request = fetch("/products.json");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console.log("Request started");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The response is not ready here.</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Promise is not the product array</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JAVASCRIPT</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async and await</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async makes a function return a Promise.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await waits inside that function.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does not block the whole page.</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async function readCatalog()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response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await fetch("/products.json");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data = await response.json();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data;</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Request first, parse the body second</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JAVASCRIPT</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try and catch</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Put awaited work inside try.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If it fails, catch receives the error.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a helpful message instead of silently hiding the problem.</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try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data = await readCatalog();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console.log(data.length);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catch (error)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console.log(error.message);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failed request follows the error path</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FETCH</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HTTP status and response.ok</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fetch can fulfil for HTTP 404 or 500.</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response.ok is true for status 200–299.</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Throw an error for other HTTP statuses.</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response = await fetch(url);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(!response.ok)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throw new 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`Request failed: ${response.status}`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data = await response.json();</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 HTTP error and a network failure differ</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FETCH</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Checking the loaded data</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 JSON can still contain the wrong shape.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catalog expects an array of products.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fields before rendering cards.</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(!Array.isArray(data))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throw new 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 data must be an array."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return validateProducts(data);</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Bad data goes to the error screen</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EFFECTS</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Render, event and Effect</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Render calculates what to show.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event handler responds to a user action.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Effect synchronizes with a system outside React.</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Render: compute visible 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Event: add a clicked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Effect: load the JSON resource.</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Keep fetching out of the component’s render body</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EFFECTS</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useEffect structure</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useEffect at the top level.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runs setup after the component commits.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setup may return cleanup.</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import { useEffect } from "react";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Set up external work.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Stop or undo that work.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Hooks stay outside conditions and loops</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EFFECTS</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Dependency lists</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 setup on mount, with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[retryCount]: rerun when it changes.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No list: rerun after every commit.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Include the reactive values used by setup.</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useEffect(setup,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useEffect(setup, [retryCount]);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useEffect(setup);</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Dependencies describe what setup reads</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EFFECTS</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Avoid accidental request loops</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Setting products requests a render.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If the same Effect depends on products, it can fetch repeatedly.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Typing in search should not refetch this fixed catalog.</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Avoid in this example: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fetchCatalog();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Project trigger: [retryCount]</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Keep derived filters in rendering, not an Effect</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REQUEST STATES</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Loading, error and success</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status describes the request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products holds successful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error holds a useful failure message.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retryCount lets Retry request another attempt.</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[products, setProducts]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[status, setStatus]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useState("loading");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[error, setError] =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[retryCount, setRetryCount]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useState(0);</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 empty array alone does not mean loading</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REQUEST STATES</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Starting the request</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Start each attempt with loading status.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Clear the previous error.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Create a controller for this attempt.</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const controller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new AbortController();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setStatus("loading");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Fetch and cleanup follow.</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[retryCount]);</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user sees progress while the resource loads</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REQUEST STATES</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Receiving successful data</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Await the shared loader.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Ignore work cancelled by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Save products, then show success.</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nextProducts = await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loadProducts("/products.json",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controller.signal);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(controller.signal.aborted) return;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setProducts(nextProducts);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setStatus("success");</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Four loaded products feed the existing components</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REQUEST STATES</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Displaying request states</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progress during loading.</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the error and Retry on failure.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the catalog after success.</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{status === "loading" &amp;&amp;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role="status"&gt;Loading products…&lt;/p&gt;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{status === "error" &amp;&amp;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role="alert"&gt;{error}&lt;/p&gt;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Request messages use accessible status and alert roles</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REQUEST STATES</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Empty data and no filter matches</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Empty resource: no products available yet.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Nonempty resource, zero matches: change the filters.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Both are valid outcomes, separate from failure.</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status === "success" &amp;&amp;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products.length ===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Later, ProductList handles: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visibleProducts.length === 0</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Do not turn an empty array into a request error</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RETRY</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Retry after a failed request</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 changes the request trigger.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 runs cleanup, then new setup.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loading message replaces the old error.</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 onClick={()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setRetryCount(count =&gt; count + 1)</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Retry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&lt;/button&gt;</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Restore the resource, then click Retry without reloading</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CLEANUP</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AbortController and cleanup</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Give fetch the controller’s signal.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Cleanup aborts the old request.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Ignore a cancelled attempt in catch.</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return () =&gt; controller.abort();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Inside the async catch block: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(controller.signal.aborted) return;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setError(requestError.message);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setStatus("error");</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Cancelled work should not show a failure message</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CLEANUP</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async work inside an Effect</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Effect callback returns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async function returns a Promise.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Define the async function inside setup, then call it.</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async function fetchCatalog()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Await work inside try/catch.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fetchCatalog();</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 =&gt; controller.abort();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[retryCount]);</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Do not write useEffect(async () =&gt; …)</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loaded Product Catalog</a:t>
            </a:r>
          </a:p>
        </p:txBody>
      </p:sp>
      <p:pic>
        <p:nvPicPr>
          <p:cNvPr id="3" name="">
            <a:extLst xmlns:a="http://schemas.openxmlformats.org/drawingml/2006/main">
              <a:ext uri="{FF2B5EF4-FFF2-40B4-BE49-F238E27FC236}">
                <a16:creationId xmlns:a16="http://schemas.microsoft.com/office/drawing/2014/main" id="{CFCB816D-02B9-4854-A213-24E0CE838B96}"/>
              </a:ext>
            </a:extLst>
          </p:cNvPr>
          <p:cNvPicPr>
            <a:picLocks xmlns:a="http://schemas.openxmlformats.org/drawingml/2006/main" noChangeAspect="1"/>
          </p:cNvPicPr>
          <p:nvPr/>
        </p:nvPicPr>
        <p:blipFill>
          <a:blip xmlns:r="http://schemas.openxmlformats.org/officeDocument/2006/relationships" xmlns:a="http://schemas.openxmlformats.org/drawingml/2006/main" r:embed="R1c035c6338dd4153"/>
          <a:srcRect xmlns:a="http://schemas.openxmlformats.org/drawingml/2006/main" l="0" t="0" r="0" b="0"/>
          <a:stretch xmlns:a="http://schemas.openxmlformats.org/drawingml/2006/main"/>
        </p:blipFill>
        <p:spPr>
          <a:xfrm xmlns:a="http://schemas.openxmlformats.org/drawingml/2006/main">
            <a:off x="6016441" y="2095500"/>
            <a:ext cx="5016867"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JSON request supplies four products.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Search and stock filters still work.</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Notebook and Bag make a ₹580 cart.</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Reload starts a new request and resets local state.</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Trace the request in the project</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public/products.json → resource data</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src/data/loadProducts.js → HTTP and validation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src/App.jsx → Effect and request state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Existing components → catalog and cart</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Loading and error experiments</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Throttle the network and reload.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Watch Loading products, then four cards.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Make the resource unavailable and reload.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Restore it and click Retry.</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YOUR TURN</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Change the JSON and empty state</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Change Notebook’s price from 80 to 100.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Reload, add Notebook and Bag: expect ₹600.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 and identify the empty message.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Restore the original data.</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DEBUGGING</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mistakes</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Fetching in render → repeated work.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Skipping response.ok → missed HTTP errors.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An async Effect callback → no proper cleanup.</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Using [] for a changing URL → stale resource.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Mutating JSON into invalid syntax → parsing error.</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CHECK YOUR UNDERSTANDING</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Quick quiz</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Is the fetch result the product array?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Does HTTP 404 always reject fetch?</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What makes Retry rerun our Effect?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Why should cleanup abort old work?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Does an empty array mean failure?</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RECAP · TRY AT HOME</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4 recap and next practice</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Effect: connect to the resource.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fetch + await: request and parse JSON.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State: loading, error and success.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Cleanup: stop obsolete requests.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a valid fifth product.</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2026-10-11T17:28:45.9660000Z</dcterms:created>
  <dcterms:modified xsi:type="dcterms:W3CDTF">2026-10-11T17:28:45.9660000Z</dcterms:modified>
</coreProperties>
</file>