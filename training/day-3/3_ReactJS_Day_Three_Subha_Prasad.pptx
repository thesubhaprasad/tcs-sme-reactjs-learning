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4e55561ce54f4e" /><Relationship Type="http://schemas.openxmlformats.org/officeDocument/2006/relationships/extended-properties" Target="/docProps/app.xml" Id="R7ae074542fac43bb" /><Relationship Type="http://schemas.openxmlformats.org/officeDocument/2006/relationships/officeDocument" Target="/ppt/presentation.xml" Id="R9430e8326c8047c5" /></Relationships>
</file>

<file path=ppt/presentation.xml><?xml version="1.0" encoding="utf-8"?>
<p:presentation xmlns:p="http://schemas.openxmlformats.org/presentationml/2006/main">
  <p:sldMasterIdLst>
    <p:sldMasterId xmlns:r="http://schemas.openxmlformats.org/officeDocument/2006/relationships" id="2147483648" r:id="R3903cdeb7e1b41bb"/>
  </p:sldMasterIdLst>
  <p:notesMasterIdLst>
    <p:notesMasterId xmlns:r="http://schemas.openxmlformats.org/officeDocument/2006/relationships" r:id="R1978096dbe7d4aec"/>
  </p:notesMasterIdLst>
  <p:sldIdLst>
    <p:sldId xmlns:r="http://schemas.openxmlformats.org/officeDocument/2006/relationships" id="256" r:id="R1eeb8a1716804e08"/>
    <p:sldId xmlns:r="http://schemas.openxmlformats.org/officeDocument/2006/relationships" id="257" r:id="Rd593afe056a9407e"/>
    <p:sldId xmlns:r="http://schemas.openxmlformats.org/officeDocument/2006/relationships" id="258" r:id="Rf2ad1ac4d4d648d9"/>
    <p:sldId xmlns:r="http://schemas.openxmlformats.org/officeDocument/2006/relationships" id="259" r:id="Rffa66c70966846c2"/>
    <p:sldId xmlns:r="http://schemas.openxmlformats.org/officeDocument/2006/relationships" id="260" r:id="Rebf3e03c884a49a7"/>
    <p:sldId xmlns:r="http://schemas.openxmlformats.org/officeDocument/2006/relationships" id="261" r:id="Rb66e74d88cfd4856"/>
    <p:sldId xmlns:r="http://schemas.openxmlformats.org/officeDocument/2006/relationships" id="262" r:id="R92eecdf5ae0e4d9f"/>
    <p:sldId xmlns:r="http://schemas.openxmlformats.org/officeDocument/2006/relationships" id="263" r:id="R3d6b5932b8944fe4"/>
    <p:sldId xmlns:r="http://schemas.openxmlformats.org/officeDocument/2006/relationships" id="264" r:id="R356a4fa9b07941f2"/>
    <p:sldId xmlns:r="http://schemas.openxmlformats.org/officeDocument/2006/relationships" id="265" r:id="Rb0d8be9969cf438f"/>
    <p:sldId xmlns:r="http://schemas.openxmlformats.org/officeDocument/2006/relationships" id="266" r:id="R9ef3b14df47a48e1"/>
    <p:sldId xmlns:r="http://schemas.openxmlformats.org/officeDocument/2006/relationships" id="267" r:id="R6999f47a0571426e"/>
    <p:sldId xmlns:r="http://schemas.openxmlformats.org/officeDocument/2006/relationships" id="268" r:id="R9487e55dc3d441e4"/>
    <p:sldId xmlns:r="http://schemas.openxmlformats.org/officeDocument/2006/relationships" id="269" r:id="Rf400a02a9a7d4db9"/>
    <p:sldId xmlns:r="http://schemas.openxmlformats.org/officeDocument/2006/relationships" id="270" r:id="Ra68028f2a1b14607"/>
    <p:sldId xmlns:r="http://schemas.openxmlformats.org/officeDocument/2006/relationships" id="271" r:id="R0aec815174ec45c4"/>
    <p:sldId xmlns:r="http://schemas.openxmlformats.org/officeDocument/2006/relationships" id="272" r:id="Rd0a464efffc04c01"/>
    <p:sldId xmlns:r="http://schemas.openxmlformats.org/officeDocument/2006/relationships" id="273" r:id="R7f46449f441447af"/>
    <p:sldId xmlns:r="http://schemas.openxmlformats.org/officeDocument/2006/relationships" id="274" r:id="Rcf649c09bbd942fc"/>
    <p:sldId xmlns:r="http://schemas.openxmlformats.org/officeDocument/2006/relationships" id="275" r:id="R155991412a664441"/>
    <p:sldId xmlns:r="http://schemas.openxmlformats.org/officeDocument/2006/relationships" id="276" r:id="Rd9ba2e05912445ce"/>
    <p:sldId xmlns:r="http://schemas.openxmlformats.org/officeDocument/2006/relationships" id="277" r:id="R07bb3768bb234b67"/>
    <p:sldId xmlns:r="http://schemas.openxmlformats.org/officeDocument/2006/relationships" id="278" r:id="Rcadd628541384226"/>
    <p:sldId xmlns:r="http://schemas.openxmlformats.org/officeDocument/2006/relationships" id="279" r:id="R17823917407b4f3d"/>
    <p:sldId xmlns:r="http://schemas.openxmlformats.org/officeDocument/2006/relationships" id="280" r:id="R61c2a4299b474a9d"/>
    <p:sldId xmlns:r="http://schemas.openxmlformats.org/officeDocument/2006/relationships" id="281" r:id="R70581f09a6f44ecc"/>
    <p:sldId xmlns:r="http://schemas.openxmlformats.org/officeDocument/2006/relationships" id="282" r:id="R5fbfb4d81f5c4553"/>
    <p:sldId xmlns:r="http://schemas.openxmlformats.org/officeDocument/2006/relationships" id="283" r:id="Rf2efc6ff124b40a6"/>
    <p:sldId xmlns:r="http://schemas.openxmlformats.org/officeDocument/2006/relationships" id="284" r:id="R8daae978062d4b9c"/>
    <p:sldId xmlns:r="http://schemas.openxmlformats.org/officeDocument/2006/relationships" id="285" r:id="R3b77b26dafea44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b82f3778434856" /><Relationship Type="http://schemas.openxmlformats.org/officeDocument/2006/relationships/slideMaster" Target="/ppt/slideMasters/slideMaster1.xml" Id="R3903cdeb7e1b41bb" /><Relationship Type="http://schemas.openxmlformats.org/officeDocument/2006/relationships/notesMaster" Target="/ppt/notesMasters/notesMaster1.xml" Id="R1978096dbe7d4aec" /><Relationship Type="http://schemas.openxmlformats.org/officeDocument/2006/relationships/presProps" Target="/ppt/presProps.xml" Id="Rf2780bf6a1dc4f4c" /><Relationship Type="http://schemas.openxmlformats.org/officeDocument/2006/relationships/tableStyles" Target="/ppt/tableStyles.xml" Id="Raf2851332f524aa8" /><Relationship Type="http://schemas.openxmlformats.org/officeDocument/2006/relationships/slide" Target="/ppt/slides/slide1.xml" Id="R1eeb8a1716804e08" /><Relationship Type="http://schemas.openxmlformats.org/officeDocument/2006/relationships/slide" Target="/ppt/slides/slide2.xml" Id="Rd593afe056a9407e" /><Relationship Type="http://schemas.openxmlformats.org/officeDocument/2006/relationships/slide" Target="/ppt/slides/slide3.xml" Id="Rf2ad1ac4d4d648d9" /><Relationship Type="http://schemas.openxmlformats.org/officeDocument/2006/relationships/slide" Target="/ppt/slides/slide4.xml" Id="Rffa66c70966846c2" /><Relationship Type="http://schemas.openxmlformats.org/officeDocument/2006/relationships/slide" Target="/ppt/slides/slide5.xml" Id="Rebf3e03c884a49a7" /><Relationship Type="http://schemas.openxmlformats.org/officeDocument/2006/relationships/slide" Target="/ppt/slides/slide6.xml" Id="Rb66e74d88cfd4856" /><Relationship Type="http://schemas.openxmlformats.org/officeDocument/2006/relationships/slide" Target="/ppt/slides/slide7.xml" Id="R92eecdf5ae0e4d9f" /><Relationship Type="http://schemas.openxmlformats.org/officeDocument/2006/relationships/slide" Target="/ppt/slides/slide8.xml" Id="R3d6b5932b8944fe4" /><Relationship Type="http://schemas.openxmlformats.org/officeDocument/2006/relationships/slide" Target="/ppt/slides/slide9.xml" Id="R356a4fa9b07941f2" /><Relationship Type="http://schemas.openxmlformats.org/officeDocument/2006/relationships/slide" Target="/ppt/slides/slide10.xml" Id="Rb0d8be9969cf438f" /><Relationship Type="http://schemas.openxmlformats.org/officeDocument/2006/relationships/slide" Target="/ppt/slides/slide11.xml" Id="R9ef3b14df47a48e1" /><Relationship Type="http://schemas.openxmlformats.org/officeDocument/2006/relationships/slide" Target="/ppt/slides/slide12.xml" Id="R6999f47a0571426e" /><Relationship Type="http://schemas.openxmlformats.org/officeDocument/2006/relationships/slide" Target="/ppt/slides/slide13.xml" Id="R9487e55dc3d441e4" /><Relationship Type="http://schemas.openxmlformats.org/officeDocument/2006/relationships/slide" Target="/ppt/slides/slide14.xml" Id="Rf400a02a9a7d4db9" /><Relationship Type="http://schemas.openxmlformats.org/officeDocument/2006/relationships/slide" Target="/ppt/slides/slide15.xml" Id="Ra68028f2a1b14607" /><Relationship Type="http://schemas.openxmlformats.org/officeDocument/2006/relationships/slide" Target="/ppt/slides/slide16.xml" Id="R0aec815174ec45c4" /><Relationship Type="http://schemas.openxmlformats.org/officeDocument/2006/relationships/slide" Target="/ppt/slides/slide17.xml" Id="Rd0a464efffc04c01" /><Relationship Type="http://schemas.openxmlformats.org/officeDocument/2006/relationships/slide" Target="/ppt/slides/slide18.xml" Id="R7f46449f441447af" /><Relationship Type="http://schemas.openxmlformats.org/officeDocument/2006/relationships/slide" Target="/ppt/slides/slide19.xml" Id="Rcf649c09bbd942fc" /><Relationship Type="http://schemas.openxmlformats.org/officeDocument/2006/relationships/slide" Target="/ppt/slides/slide20.xml" Id="R155991412a664441" /><Relationship Type="http://schemas.openxmlformats.org/officeDocument/2006/relationships/slide" Target="/ppt/slides/slide21.xml" Id="Rd9ba2e05912445ce" /><Relationship Type="http://schemas.openxmlformats.org/officeDocument/2006/relationships/slide" Target="/ppt/slides/slide22.xml" Id="R07bb3768bb234b67" /><Relationship Type="http://schemas.openxmlformats.org/officeDocument/2006/relationships/slide" Target="/ppt/slides/slide23.xml" Id="Rcadd628541384226" /><Relationship Type="http://schemas.openxmlformats.org/officeDocument/2006/relationships/slide" Target="/ppt/slides/slide24.xml" Id="R17823917407b4f3d" /><Relationship Type="http://schemas.openxmlformats.org/officeDocument/2006/relationships/slide" Target="/ppt/slides/slide25.xml" Id="R61c2a4299b474a9d" /><Relationship Type="http://schemas.openxmlformats.org/officeDocument/2006/relationships/slide" Target="/ppt/slides/slide26.xml" Id="R70581f09a6f44ecc" /><Relationship Type="http://schemas.openxmlformats.org/officeDocument/2006/relationships/slide" Target="/ppt/slides/slide27.xml" Id="R5fbfb4d81f5c4553" /><Relationship Type="http://schemas.openxmlformats.org/officeDocument/2006/relationships/slide" Target="/ppt/slides/slide28.xml" Id="Rf2efc6ff124b40a6" /><Relationship Type="http://schemas.openxmlformats.org/officeDocument/2006/relationships/slide" Target="/ppt/slides/slide29.xml" Id="R8daae978062d4b9c" /><Relationship Type="http://schemas.openxmlformats.org/officeDocument/2006/relationships/slide" Target="/ppt/slides/slide30.xml" Id="R3b77b26dafea44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5b8820f04c4c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837d397ff8478f" /><Relationship Type="http://schemas.openxmlformats.org/officeDocument/2006/relationships/notesMaster" Target="/ppt/notesMasters/notesMaster1.xml" Id="Rb3b59ea121464b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4f2133a3e54288" /><Relationship Type="http://schemas.openxmlformats.org/officeDocument/2006/relationships/notesMaster" Target="/ppt/notesMasters/notesMaster1.xml" Id="R5d7f946aaba841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fafcdc60814bfb" /><Relationship Type="http://schemas.openxmlformats.org/officeDocument/2006/relationships/notesMaster" Target="/ppt/notesMasters/notesMaster1.xml" Id="Rde866e27be2344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2e361b04de4302" /><Relationship Type="http://schemas.openxmlformats.org/officeDocument/2006/relationships/notesMaster" Target="/ppt/notesMasters/notesMaster1.xml" Id="R137a277ca92747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648423b6304dbf" /><Relationship Type="http://schemas.openxmlformats.org/officeDocument/2006/relationships/notesMaster" Target="/ppt/notesMasters/notesMaster1.xml" Id="Rf31150b90d2d4e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49f40205924193" /><Relationship Type="http://schemas.openxmlformats.org/officeDocument/2006/relationships/notesMaster" Target="/ppt/notesMasters/notesMaster1.xml" Id="R1c58662512d141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394d2695b047c9" /><Relationship Type="http://schemas.openxmlformats.org/officeDocument/2006/relationships/notesMaster" Target="/ppt/notesMasters/notesMaster1.xml" Id="Ra03ee2852f0b48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c02297f86740a3" /><Relationship Type="http://schemas.openxmlformats.org/officeDocument/2006/relationships/notesMaster" Target="/ppt/notesMasters/notesMaster1.xml" Id="Rd1fb89d89c3a40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6584f0dc04460b" /><Relationship Type="http://schemas.openxmlformats.org/officeDocument/2006/relationships/notesMaster" Target="/ppt/notesMasters/notesMaster1.xml" Id="Rb13f904243d644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6ab12d728a401e" /><Relationship Type="http://schemas.openxmlformats.org/officeDocument/2006/relationships/notesMaster" Target="/ppt/notesMasters/notesMaster1.xml" Id="Re921158c159a49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1d8b5205ea4d52" /><Relationship Type="http://schemas.openxmlformats.org/officeDocument/2006/relationships/notesMaster" Target="/ppt/notesMasters/notesMaster1.xml" Id="R7dd1adc4d74c43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404069437c466b" /><Relationship Type="http://schemas.openxmlformats.org/officeDocument/2006/relationships/notesMaster" Target="/ppt/notesMasters/notesMaster1.xml" Id="Rc2b078a7e2df41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e7d1b7b3254294" /><Relationship Type="http://schemas.openxmlformats.org/officeDocument/2006/relationships/notesMaster" Target="/ppt/notesMasters/notesMaster1.xml" Id="R5837117c322c42c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493b534f6d4695" /><Relationship Type="http://schemas.openxmlformats.org/officeDocument/2006/relationships/notesMaster" Target="/ppt/notesMasters/notesMaster1.xml" Id="Ra099ff7c4f324d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7e9f31eb8f442b" /><Relationship Type="http://schemas.openxmlformats.org/officeDocument/2006/relationships/notesMaster" Target="/ppt/notesMasters/notesMaster1.xml" Id="R04ec92cb7c5a40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ee4dd97b5049df" /><Relationship Type="http://schemas.openxmlformats.org/officeDocument/2006/relationships/notesMaster" Target="/ppt/notesMasters/notesMaster1.xml" Id="R87a63b3fd0d84e5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2b2af6f9a64051" /><Relationship Type="http://schemas.openxmlformats.org/officeDocument/2006/relationships/notesMaster" Target="/ppt/notesMasters/notesMaster1.xml" Id="Rea0e709350e243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577c2425854023" /><Relationship Type="http://schemas.openxmlformats.org/officeDocument/2006/relationships/notesMaster" Target="/ppt/notesMasters/notesMaster1.xml" Id="R20069b701ef6452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ba19ca177084560" /><Relationship Type="http://schemas.openxmlformats.org/officeDocument/2006/relationships/notesMaster" Target="/ppt/notesMasters/notesMaster1.xml" Id="R66d9a147126d440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a089f7f6a214239" /><Relationship Type="http://schemas.openxmlformats.org/officeDocument/2006/relationships/notesMaster" Target="/ppt/notesMasters/notesMaster1.xml" Id="R6782be595bed4e7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63569d648df43cd" /><Relationship Type="http://schemas.openxmlformats.org/officeDocument/2006/relationships/notesMaster" Target="/ppt/notesMasters/notesMaster1.xml" Id="R529e28592be040e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cf1651e4e4d45a7" /><Relationship Type="http://schemas.openxmlformats.org/officeDocument/2006/relationships/notesMaster" Target="/ppt/notesMasters/notesMaster1.xml" Id="R3b6c4a3fd63144d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bf3559294334006" /><Relationship Type="http://schemas.openxmlformats.org/officeDocument/2006/relationships/notesMaster" Target="/ppt/notesMasters/notesMaster1.xml" Id="R589af2d3531448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654af3f5b324875" /><Relationship Type="http://schemas.openxmlformats.org/officeDocument/2006/relationships/notesMaster" Target="/ppt/notesMasters/notesMaster1.xml" Id="Ra1686bf8d3a0403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59a61c68ec84688" /><Relationship Type="http://schemas.openxmlformats.org/officeDocument/2006/relationships/notesMaster" Target="/ppt/notesMasters/notesMaster1.xml" Id="R7f897aa08a55402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b7bd84e5c134fc7" /><Relationship Type="http://schemas.openxmlformats.org/officeDocument/2006/relationships/notesMaster" Target="/ppt/notesMasters/notesMaster1.xml" Id="Re871288e8ee846c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51656d0948f4b81" /><Relationship Type="http://schemas.openxmlformats.org/officeDocument/2006/relationships/notesMaster" Target="/ppt/notesMasters/notesMaster1.xml" Id="R60a0b0d29e8b42a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d0947bdbe5d42bf" /><Relationship Type="http://schemas.openxmlformats.org/officeDocument/2006/relationships/notesMaster" Target="/ppt/notesMasters/notesMaster1.xml" Id="R92b0dd13583b414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462b71ea70f47d9" /><Relationship Type="http://schemas.openxmlformats.org/officeDocument/2006/relationships/notesMaster" Target="/ppt/notesMasters/notesMaster1.xml" Id="R1cd50252a166436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60b33383bf640bf" /><Relationship Type="http://schemas.openxmlformats.org/officeDocument/2006/relationships/notesMaster" Target="/ppt/notesMasters/notesMaster1.xml" Id="R1e2f6473cafe4a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Welcome learners. Ask who changed a prop in Day 2. Today users change the screen through browser controls.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Use the same fictional shop: Notebook ₹80, Pen ₹20, Bag ₹500 and Bottle ₹250. Notebook and Bag are in stock. One entry per product keeps the cart example small.</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Keep extra discussion of state snapshots for revision if learners need more input practice. There is no separate schedule slide.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Recall ProductList and StockBadge. Preview the checkbox, without explaining all its code yet.</a:t>
            </a:r>
          </a:p>
          <a:p xmlns:a="http://schemas.openxmlformats.org/drawingml/2006/main">
            <a:r>
              <a:t>Source: https://react.dev/learn/state-a-components-memory</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is an excerpt from a component. setSearch comes from useState, introduced next. Ask learners to identify the function definition and its JSX reference.</a:t>
            </a:r>
          </a:p>
          <a:p xmlns:a="http://schemas.openxmlformats.org/drawingml/2006/main">
            <a:r>
              <a:t>Source: https://react.dev/learn/responding-to-events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Discuss why the second form can cause repeated renders when the function sets state. Keep the teaching example as an excerpt rather than applying the broken version to the project.</a:t>
            </a:r>
          </a:p>
          <a:p xmlns:a="http://schemas.openxmlformats.org/drawingml/2006/main">
            <a:r>
              <a:t>Source: https://react.dev/learn/responding-to-events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Point to ProductCard.jsx. The outer callback has no arguments. It calls the parent handler with this product.</a:t>
            </a:r>
          </a:p>
          <a:p xmlns:a="http://schemas.openxmlformats.org/drawingml/2006/main">
            <a:r>
              <a:t>Source: https://react.dev/learn/responding-to-events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Explain the difference between a changing JavaScript variable and the component remembering data. Do not turn this broken excerpt into a learner copy-and-paste task.</a:t>
            </a:r>
          </a:p>
          <a:p xmlns:a="http://schemas.openxmlformats.org/drawingml/2006/main">
            <a:r>
              <a:t>Source: https://react.dev/learn/state-a-components-memory</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Array destructuring gives the two returned values names. The example only introduces state syntax. The full app also reads search while filtering its products.</a:t>
            </a:r>
          </a:p>
          <a:p xmlns:a="http://schemas.openxmlformats.org/drawingml/2006/main">
            <a:r>
              <a:t>Source: https://react.dev/learn/state-a-components-memory</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Do not call useState inside an if, a loop or an event handler. Hooks can also run inside custom Hooks, which are outside today’s core lesson.</a:t>
            </a:r>
          </a:p>
          <a:p xmlns:a="http://schemas.openxmlformats.org/drawingml/2006/main">
            <a:r>
              <a:t>Source: https://react.dev/reference/rules/rules-of-hooks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This is an excerpt from a counter click handler. Ask learners to predict the console output. Avoid the vague claim that state is always immediately available after the setter.</a:t>
            </a:r>
          </a:p>
          <a:p xmlns:a="http://schemas.openxmlformats.org/drawingml/2006/main">
            <a:r>
              <a:t>Source: https://react.dev/learn/state-as-a-snapshot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React can queue updates and may call updaters twice in development StrictMode to check purity. Return data from the updater. Avoid side effects such as sending requests or showing alerts inside it.</a:t>
            </a:r>
          </a:p>
          <a:p xmlns:a="http://schemas.openxmlformats.org/drawingml/2006/main">
            <a:r>
              <a:t>Source: https://react.dev/learn/queueing-a-series-of-state-updates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actual input has a visible label and type=search. event.target.value is a string. Keep the initial value an empty string rather than undefined.</a:t>
            </a:r>
          </a:p>
          <a:p xmlns:a="http://schemas.openxmlformats.org/drawingml/2006/main">
            <a:r>
              <a:t>Source: https://react.dev/reference/react-dom/components/input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Show FilterBar.jsx. category starts as All. React controls the select using value on the select element.</a:t>
            </a:r>
          </a:p>
          <a:p xmlns:a="http://schemas.openxmlformats.org/drawingml/2006/main">
            <a:r>
              <a:t>Source: https://react.dev/reference/react-dom/components/select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A checkbox needs checked rather than a text value for its state. The actual input has the visible label In stock only.</a:t>
            </a:r>
          </a:p>
          <a:p xmlns:a="http://schemas.openxmlformats.org/drawingml/2006/main">
            <a:r>
              <a:t>Source: https://react.dev/reference/react-dom/components/input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deck uses p and text as short names. App.jsx expands the same conditions into named booleans for beginners. An empty search matches every product name. Explain each condition independently before combining them.</a:t>
            </a:r>
          </a:p>
          <a:p xmlns:a="http://schemas.openxmlformats.org/drawingml/2006/main">
            <a:r>
              <a:t>Source: https://react.dev/learn/choosing-the-state-structure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outline is a component hierarchy, not JavaScript. Shared state lives in App. PracticeNote owns draft and saved values because no sibling needs them.</a:t>
            </a:r>
          </a:p>
          <a:p xmlns:a="http://schemas.openxmlformats.org/drawingml/2006/main">
            <a:r>
              <a:t>Source: https://react.dev/learn/sharing-state-between-components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Trace the callback through FilterBar. onSearchChange is our custom prop name. onChange is the browser input’s React event prop.</a:t>
            </a:r>
          </a:p>
          <a:p xmlns:a="http://schemas.openxmlformats.org/drawingml/2006/main">
            <a:r>
              <a:t>Source: https://react.dev/learn/sharing-state-between-components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App also rejects out-of-stock products before the updater. some returns a boolean. The duplicate guard retains the same array when the product already exists. The disabled button makes the rule visible to the user.</a:t>
            </a:r>
          </a:p>
          <a:p xmlns:a="http://schemas.openxmlformats.org/drawingml/2006/main">
            <a:r>
              <a:t>Source: https://react.dev/learn/updating-arrays-in-state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Notebook plus Bag costs ₹580. Removing Notebook leaves one item costing ₹500. The original array is never changed with splice.</a:t>
            </a:r>
          </a:p>
          <a:p xmlns:a="http://schemas.openxmlformats.org/drawingml/2006/main">
            <a:r>
              <a:t>Source: https://react.dev/learn/updating-arrays-in-state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Introduce reduce as a running sum. Ask learners to calculate 0, then 80, then 580. Keep cartTotal as a derived value rather than another state variable.</a:t>
            </a:r>
          </a:p>
          <a:p xmlns:a="http://schemas.openxmlformats.org/drawingml/2006/main">
            <a:r>
              <a:t>Source: https://react.dev/learn/choosing-the-state-structure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optional form uses PracticeNote local state. The input value is the draft. savedNote stores the last submitted value. No network request or real order is created. Keep this as a quick demo if search needs more practice.</a:t>
            </a:r>
          </a:p>
          <a:p xmlns:a="http://schemas.openxmlformats.org/drawingml/2006/main">
            <a:r>
              <a:t>Source: https://react.dev/learn/responding-to-events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Ask whether cart should disappear when resetting search. This app keeps the cart. Reloading the page resets all local state because this lesson has no persistence.</a:t>
            </a:r>
          </a:p>
          <a:p xmlns:a="http://schemas.openxmlformats.org/drawingml/2006/main">
            <a:r>
              <a:t>Source: https://react.dev/learn/state-a-components-memory</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Show the actual app. The screenshot contains Notebook and Bag in the cart, 2 items and ₹580. The full catalog summary remains 4 total, 2 in stock, 2 out of stock.</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 minutes.</a:t>
            </a:r>
          </a:p>
          <a:p xmlns:a="http://schemas.openxmlformats.org/drawingml/2006/main">
            <a:r>
              <a:t>5-minute guided reading. Start the app and run check:day-three. Open App, FilterBar, ProductCard and CartPanel in that order. Ask learners to locate both the sender and receiver of each callback.</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 minutes.</a:t>
            </a:r>
          </a:p>
          <a:p xmlns:a="http://schemas.openxmlformats.org/drawingml/2006/main">
            <a:r>
              <a:t>7-minute demo: search 1 min, combined filters and no matches 2 min, add/remove/clear 3 min, note submit 1 min. Filters preserve the cart. Pen and Bottle are disabled. Submit the note with Enter and confirm the page does not reload.</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 minutes.</a:t>
            </a:r>
          </a:p>
          <a:p xmlns:a="http://schemas.openxmlformats.org/drawingml/2006/main">
            <a:r>
              <a:t>8-minute exercise: explain 1 min, learner work 5 min, check 2 min. ProductList already forwards showCategory. Add the checkbox in App for the shortest solution, or extend FilterBar with showCategory/onShowCategoryChange. Use checked and event.target.checked. A worked checklist is in the README, without adding the completed exercise to the starter.</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2-minute repair discussion. A controlled field can appear frozen if value never changes. Keep state setters in events and Hook declarations at the top level. Use browser errors to locate the component.</a:t>
            </a:r>
          </a:p>
          <a:p xmlns:a="http://schemas.openxmlformats.org/drawingml/2006/main">
            <a:r>
              <a:t>Source: https://react.dev/reference/react-dom/components/input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 minutes.</a:t>
            </a:r>
          </a:p>
          <a:p xmlns:a="http://schemas.openxmlformats.org/drawingml/2006/main">
            <a:r>
              <a:t>4-minute Teams chat quiz. Answers: after a click, current value and setter, event.target.checked, to update without mutating state, closest shared parent App, prevents the browser’s default form navigation. Ask one learner to trace Notebook from a button click to cartTotal.</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1-minute close. For the price exercise store the input text, validate it before converting with Number, and treat an empty value as no price limit. Core references are in the README. Day 4 adds effects and loading states. Certification follows the official TCS E1 syllabus and assessment rules.</a:t>
            </a:r>
          </a:p>
          <a:p xmlns:a="http://schemas.openxmlformats.org/drawingml/2006/main">
            <a:r>
              <a:t>Source: https://react.dev/learn/choosing-the-state-structure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2e8ddc636d47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1a4bae15e541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d323433a2e443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dde553036a41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26968832254c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3f13a78e2244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0A31C8-5CD1-4964-874A-69C50F8C5F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9439DD-B815-4D4D-A727-69E1A8D789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276578-A3AD-418F-B8A3-B496C440B6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F8F829-72B4-4A78-8283-8014F1F349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0531E1-0AA5-4516-BB9B-7CB2FB0CE6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B85F77-1196-4DDD-8A4C-FC049C8D78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98E8F8-55DD-440F-87A2-6ADA79CF0D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91927E-75BF-4EB6-85A6-BA823D97A1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484519-9854-4D93-8634-A543E8A659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4F4638-B2BB-473B-88B8-0DDDE3A0F1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1b4c65620d423b" /><Relationship Type="http://schemas.openxmlformats.org/officeDocument/2006/relationships/slideLayout" Target="/ppt/slideLayouts/slideLayout1.xml" Id="Re4b296cbbce94c96" /><Relationship Type="http://schemas.openxmlformats.org/officeDocument/2006/relationships/slideLayout" Target="/ppt/slideLayouts/slideLayout2.xml" Id="R19d0f5a99e2b4eda" /><Relationship Type="http://schemas.openxmlformats.org/officeDocument/2006/relationships/slideLayout" Target="/ppt/slideLayouts/slideLayout3.xml" Id="Rb95cd7b8972141d9" /><Relationship Type="http://schemas.openxmlformats.org/officeDocument/2006/relationships/slideLayout" Target="/ppt/slideLayouts/slideLayout4.xml" Id="R46798d9f73c94619" /><Relationship Type="http://schemas.openxmlformats.org/officeDocument/2006/relationships/slideLayout" Target="/ppt/slideLayouts/slideLayout5.xml" Id="R2f3dbebc8bae4d16" /><Relationship Type="http://schemas.openxmlformats.org/officeDocument/2006/relationships/slideLayout" Target="/ppt/slideLayouts/slideLayout6.xml" Id="R67797f21eaf249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b296cbbce94c96"/>
    <p:sldLayoutId xmlns:r="http://schemas.openxmlformats.org/officeDocument/2006/relationships" id="2147483650" r:id="R19d0f5a99e2b4eda"/>
    <p:sldLayoutId xmlns:r="http://schemas.openxmlformats.org/officeDocument/2006/relationships" id="2147483651" r:id="Rb95cd7b8972141d9"/>
    <p:sldLayoutId xmlns:r="http://schemas.openxmlformats.org/officeDocument/2006/relationships" id="2147483652" r:id="R46798d9f73c94619"/>
    <p:sldLayoutId xmlns:r="http://schemas.openxmlformats.org/officeDocument/2006/relationships" id="2147483653" r:id="R2f3dbebc8bae4d16"/>
    <p:sldLayoutId xmlns:r="http://schemas.openxmlformats.org/officeDocument/2006/relationships" id="2147483654" r:id="R67797f21eaf249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efa7caa394433a" /><Relationship Type="http://schemas.openxmlformats.org/officeDocument/2006/relationships/image" Target="/ppt/media/image.png" Id="Re6eb36511e3949c5" /><Relationship Type="http://schemas.openxmlformats.org/officeDocument/2006/relationships/notesSlide" Target="/ppt/notesSlides/notesSlide1.xml" Id="R232944096a234f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494d62cfd7c4185" /><Relationship Type="http://schemas.openxmlformats.org/officeDocument/2006/relationships/notesSlide" Target="/ppt/notesSlides/notesSlide2.xml" Id="R070c32a6749b48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d8de6bb2092492c" /><Relationship Type="http://schemas.openxmlformats.org/officeDocument/2006/relationships/notesSlide" Target="/ppt/notesSlides/notesSlide3.xml" Id="Rf5e95f2aa65f41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93f4f9a0cd45d3" /><Relationship Type="http://schemas.openxmlformats.org/officeDocument/2006/relationships/notesSlide" Target="/ppt/notesSlides/notesSlide4.xml" Id="Rb9e3c9e2538740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3f0a073c464024" /><Relationship Type="http://schemas.openxmlformats.org/officeDocument/2006/relationships/notesSlide" Target="/ppt/notesSlides/notesSlide5.xml" Id="R9069521fe1a04e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c144ced435e417d" /><Relationship Type="http://schemas.openxmlformats.org/officeDocument/2006/relationships/notesSlide" Target="/ppt/notesSlides/notesSlide6.xml" Id="R0b85775fee2148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d7c5e872b044781" /><Relationship Type="http://schemas.openxmlformats.org/officeDocument/2006/relationships/notesSlide" Target="/ppt/notesSlides/notesSlide7.xml" Id="R6ff80cce0e4640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0edcaace8ec4219" /><Relationship Type="http://schemas.openxmlformats.org/officeDocument/2006/relationships/notesSlide" Target="/ppt/notesSlides/notesSlide8.xml" Id="R9677335210fb44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945920cb214414" /><Relationship Type="http://schemas.openxmlformats.org/officeDocument/2006/relationships/notesSlide" Target="/ppt/notesSlides/notesSlide9.xml" Id="Rab9eea6d30ee4c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1abb89b934c4247" /><Relationship Type="http://schemas.openxmlformats.org/officeDocument/2006/relationships/notesSlide" Target="/ppt/notesSlides/notesSlide10.xml" Id="R05f1b273bef244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40d18f368245d3" /><Relationship Type="http://schemas.openxmlformats.org/officeDocument/2006/relationships/notesSlide" Target="/ppt/notesSlides/notesSlide11.xml" Id="R82701ab0ceeb476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408f76c02774e9d" /><Relationship Type="http://schemas.openxmlformats.org/officeDocument/2006/relationships/notesSlide" Target="/ppt/notesSlides/notesSlide12.xml" Id="Rda138462b7e848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84971d766b3425c" /><Relationship Type="http://schemas.openxmlformats.org/officeDocument/2006/relationships/notesSlide" Target="/ppt/notesSlides/notesSlide13.xml" Id="R4f128b89a21e45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3e3dee19bd3490a" /><Relationship Type="http://schemas.openxmlformats.org/officeDocument/2006/relationships/notesSlide" Target="/ppt/notesSlides/notesSlide14.xml" Id="R3baae5b18f5d4e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98887f10a0e4da0" /><Relationship Type="http://schemas.openxmlformats.org/officeDocument/2006/relationships/notesSlide" Target="/ppt/notesSlides/notesSlide15.xml" Id="R554874312d4747b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b8684df3ca54f15" /><Relationship Type="http://schemas.openxmlformats.org/officeDocument/2006/relationships/notesSlide" Target="/ppt/notesSlides/notesSlide16.xml" Id="R4ff75c25c5024fe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a83274369524ddf" /><Relationship Type="http://schemas.openxmlformats.org/officeDocument/2006/relationships/notesSlide" Target="/ppt/notesSlides/notesSlide17.xml" Id="R584eccabae2446a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145f069a37b46a8" /><Relationship Type="http://schemas.openxmlformats.org/officeDocument/2006/relationships/notesSlide" Target="/ppt/notesSlides/notesSlide18.xml" Id="Raefcf0c4924a4ef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327098123874b18" /><Relationship Type="http://schemas.openxmlformats.org/officeDocument/2006/relationships/notesSlide" Target="/ppt/notesSlides/notesSlide19.xml" Id="R28e972207ac041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a6ce02ee7a74733" /><Relationship Type="http://schemas.openxmlformats.org/officeDocument/2006/relationships/notesSlide" Target="/ppt/notesSlides/notesSlide20.xml" Id="R7defc9ef744b462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794574394164cee" /><Relationship Type="http://schemas.openxmlformats.org/officeDocument/2006/relationships/notesSlide" Target="/ppt/notesSlides/notesSlide21.xml" Id="Rf65f57698336470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f32fb7f2bad46b7" /><Relationship Type="http://schemas.openxmlformats.org/officeDocument/2006/relationships/notesSlide" Target="/ppt/notesSlides/notesSlide22.xml" Id="R4f4cd559b2e84b2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9ca6391aeae4c72" /><Relationship Type="http://schemas.openxmlformats.org/officeDocument/2006/relationships/notesSlide" Target="/ppt/notesSlides/notesSlide23.xml" Id="R3a04a511ad53403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44dc439ece74f66" /><Relationship Type="http://schemas.openxmlformats.org/officeDocument/2006/relationships/image" Target="/ppt/media/image2.png" Id="R20e569f9087b4c48" /><Relationship Type="http://schemas.openxmlformats.org/officeDocument/2006/relationships/notesSlide" Target="/ppt/notesSlides/notesSlide24.xml" Id="R7125b29e49a14d1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1cab227ea74420d" /><Relationship Type="http://schemas.openxmlformats.org/officeDocument/2006/relationships/notesSlide" Target="/ppt/notesSlides/notesSlide25.xml" Id="Rbdae87aaac00420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bbb5ae8de9f4bd4" /><Relationship Type="http://schemas.openxmlformats.org/officeDocument/2006/relationships/notesSlide" Target="/ppt/notesSlides/notesSlide26.xml" Id="R3b53abc5f53940d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86d396394cc4344" /><Relationship Type="http://schemas.openxmlformats.org/officeDocument/2006/relationships/notesSlide" Target="/ppt/notesSlides/notesSlide27.xml" Id="R574426b0057d4d8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ea1d08c96e44033" /><Relationship Type="http://schemas.openxmlformats.org/officeDocument/2006/relationships/notesSlide" Target="/ppt/notesSlides/notesSlide28.xml" Id="R073fb0ea5b29431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aab93298aa244eb" /><Relationship Type="http://schemas.openxmlformats.org/officeDocument/2006/relationships/notesSlide" Target="/ppt/notesSlides/notesSlide29.xml" Id="Re1447bd2f745476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cc164c26ae44e4e" /><Relationship Type="http://schemas.openxmlformats.org/officeDocument/2006/relationships/notesSlide" Target="/ppt/notesSlides/notesSlide30.xml" Id="Rcae618e6f0e84bb3" /></Relationships>
</file>

<file path=ppt/slides/slide1.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2D5DF3-D13A-419E-97D1-696D40A8F4A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DD9342A3-A7F2-4674-98DC-1EBFFE46F6DB}"/>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650" b="1">
                <a:solidFill>
                  <a:srgbClr val="FFFFFF"/>
                </a:solidFill>
                <a:latin typeface="Arial"/>
                <a:ea typeface="Arial"/>
                <a:cs typeface="Arial"/>
              </a:defRPr>
            </a:def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ReactJS · Day Three</a:t>
            </a:r>
          </a:p>
        </p:txBody>
      </p:sp>
      <p:pic>
        <p:nvPicPr>
          <p:cNvPr id="3" name="">
            <a:extLst xmlns:a="http://schemas.openxmlformats.org/drawingml/2006/main">
              <a:ext uri="{FF2B5EF4-FFF2-40B4-BE49-F238E27FC236}">
                <a16:creationId xmlns:a16="http://schemas.microsoft.com/office/drawing/2014/main" id="{B5E670D7-45FA-448F-AC0E-62C99240F109}"/>
              </a:ext>
            </a:extLst>
          </p:cNvPr>
          <p:cNvPicPr>
            <a:picLocks xmlns:a="http://schemas.openxmlformats.org/drawingml/2006/main" noChangeAspect="1"/>
          </p:cNvPicPr>
          <p:nvPr/>
        </p:nvPicPr>
        <p:blipFill>
          <a:blip xmlns:r="http://schemas.openxmlformats.org/officeDocument/2006/relationships" xmlns:a="http://schemas.openxmlformats.org/drawingml/2006/main" r:embed="Re6eb36511e3949c5"/>
          <a:stretch xmlns:a="http://schemas.openxmlformats.org/drawingml/2006/main"/>
        </p:blipFill>
        <p:spPr>
          <a:xfrm xmlns:a="http://schemas.openxmlformats.org/drawingml/2006/main">
            <a:off x="6477000" y="2000250"/>
            <a:ext cx="5143500"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0F5068-DE6F-48CF-975A-BDB860453FEF}"/>
              </a:ext>
            </a:extLst>
          </p:cNvPr>
          <p:cNvSpPr>
            <a:spLocks xmlns:a="http://schemas.openxmlformats.org/drawingml/2006/main" noGrp="1"/>
          </p:cNvSpPr>
          <p:nvPr/>
        </p:nvSpPr>
        <p:spPr>
          <a:xfrm xmlns:a="http://schemas.openxmlformats.org/drawingml/2006/main">
            <a:off x="609600" y="2381250"/>
            <a:ext cx="5524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FFFFFF"/>
                </a:solidFill>
                <a:latin typeface="Arial"/>
                <a:ea typeface="Arial"/>
                <a:cs typeface="Arial"/>
              </a:defRPr>
            </a:defPPr>
          </a:lstStyle>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Events and state in our Product Catalog</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Subha Prasad</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14 October 2026 · 10:00–11:00 AM IST</a:t>
            </a:r>
          </a:p>
        </p:txBody>
      </p:sp>
      <p:sp>
        <p:nvSpPr>
          <p:cNvPr id="5" name="">
            <a:extLst xmlns:a="http://schemas.openxmlformats.org/drawingml/2006/main">
              <a:ext uri="{FF2B5EF4-FFF2-40B4-BE49-F238E27FC236}">
                <a16:creationId xmlns:a16="http://schemas.microsoft.com/office/drawing/2014/main" id="{BDF161D8-C431-44C2-A233-9AE555C0A8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01</a:t>
            </a:r>
          </a:p>
        </p:txBody>
      </p:sp>
    </p:spTree>
    <p:extLst>
      <p:ext uri="{BB962C8B-B14F-4D97-AF65-F5344CB8AC3E}">
        <p14:creationId xmlns:p14="http://schemas.microsoft.com/office/powerpoint/2010/main" val="1290946295"/>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902359-B515-4EDF-BE4D-3279090F137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180E0FD1-2501-4553-8272-34E151EE01D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Today’s learning outcomes</a:t>
            </a:r>
          </a:p>
        </p:txBody>
      </p:sp>
      <p:sp>
        <p:nvSpPr>
          <p:cNvPr id="3" name="">
            <a:extLst xmlns:a="http://schemas.openxmlformats.org/drawingml/2006/main">
              <a:ext uri="{FF2B5EF4-FFF2-40B4-BE49-F238E27FC236}">
                <a16:creationId xmlns:a16="http://schemas.microsoft.com/office/drawing/2014/main" id="{5791B254-7018-413B-9C81-A04FFCD4A713}"/>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TCS · Assets Consultant (C3A) · SME trainer</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Connect user actions to event handlers.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Keep changing values in React state.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Build search, filters and a simple cart.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Read and submit controlled form inputs.</a:t>
            </a:r>
          </a:p>
        </p:txBody>
      </p:sp>
      <p:sp>
        <p:nvSpPr>
          <p:cNvPr id="4" name="">
            <a:extLst xmlns:a="http://schemas.openxmlformats.org/drawingml/2006/main">
              <a:ext uri="{FF2B5EF4-FFF2-40B4-BE49-F238E27FC236}">
                <a16:creationId xmlns:a16="http://schemas.microsoft.com/office/drawing/2014/main" id="{22D656D2-8905-4072-9EDB-C4101DA6CFE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02</a:t>
            </a:r>
          </a:p>
        </p:txBody>
      </p:sp>
    </p:spTree>
    <p:extLst>
      <p:ext uri="{BB962C8B-B14F-4D97-AF65-F5344CB8AC3E}">
        <p14:creationId xmlns:p14="http://schemas.microsoft.com/office/powerpoint/2010/main" val="111436435"/>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66D8BB-634E-417B-AD20-D1F6A18A9CB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TOPIC INDEX</a:t>
            </a:r>
          </a:p>
        </p:txBody>
      </p:sp>
      <p:sp>
        <p:nvSpPr>
          <p:cNvPr id="2" name="">
            <a:extLst xmlns:a="http://schemas.openxmlformats.org/drawingml/2006/main">
              <a:ext uri="{FF2B5EF4-FFF2-40B4-BE49-F238E27FC236}">
                <a16:creationId xmlns:a16="http://schemas.microsoft.com/office/drawing/2014/main" id="{33D191DE-2B55-400D-8416-B84C0737ADD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Today’s topic index</a:t>
            </a:r>
          </a:p>
        </p:txBody>
      </p:sp>
      <p:sp>
        <p:nvSpPr>
          <p:cNvPr id="3" name="">
            <a:extLst xmlns:a="http://schemas.openxmlformats.org/drawingml/2006/main">
              <a:ext uri="{FF2B5EF4-FFF2-40B4-BE49-F238E27FC236}">
                <a16:creationId xmlns:a16="http://schemas.microsoft.com/office/drawing/2014/main" id="{A3FB8FBD-6CA3-4927-97CE-697737DE2D98}"/>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01  Day 2 recall and event handlers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02  useState and state updates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03  Controlled search and filters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04  Shared state and callback props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05  Cart arrays and derived totals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06  Forms and Product Catalog hands-on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07  Quiz and try at home</a:t>
            </a:r>
          </a:p>
        </p:txBody>
      </p:sp>
      <p:sp>
        <p:nvSpPr>
          <p:cNvPr id="4" name="">
            <a:extLst xmlns:a="http://schemas.openxmlformats.org/drawingml/2006/main">
              <a:ext uri="{FF2B5EF4-FFF2-40B4-BE49-F238E27FC236}">
                <a16:creationId xmlns:a16="http://schemas.microsoft.com/office/drawing/2014/main" id="{A7E62495-F70D-4F21-8747-BB779AA40E1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03</a:t>
            </a:r>
          </a:p>
        </p:txBody>
      </p:sp>
    </p:spTree>
    <p:extLst>
      <p:ext uri="{BB962C8B-B14F-4D97-AF65-F5344CB8AC3E}">
        <p14:creationId xmlns:p14="http://schemas.microsoft.com/office/powerpoint/2010/main" val="238954120"/>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054798-D866-47B4-9B04-240BC61AF67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RECALL</a:t>
            </a:r>
          </a:p>
        </p:txBody>
      </p:sp>
      <p:sp>
        <p:nvSpPr>
          <p:cNvPr id="2" name="">
            <a:extLst xmlns:a="http://schemas.openxmlformats.org/drawingml/2006/main">
              <a:ext uri="{FF2B5EF4-FFF2-40B4-BE49-F238E27FC236}">
                <a16:creationId xmlns:a16="http://schemas.microsoft.com/office/drawing/2014/main" id="{3C68D7CE-5B7B-4847-9753-7FCBDD6416A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2 inputs become interactive</a:t>
            </a:r>
          </a:p>
        </p:txBody>
      </p:sp>
      <p:sp>
        <p:nvSpPr>
          <p:cNvPr id="3" name="">
            <a:extLst xmlns:a="http://schemas.openxmlformats.org/drawingml/2006/main">
              <a:ext uri="{FF2B5EF4-FFF2-40B4-BE49-F238E27FC236}">
                <a16:creationId xmlns:a16="http://schemas.microsoft.com/office/drawing/2014/main" id="{FEE58757-EB2D-45AB-96AC-121C4698A1C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Day 2 supplied values through props.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parent chose which products appeared.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Today a browser action changes those inputs.</a:t>
            </a:r>
          </a:p>
        </p:txBody>
      </p:sp>
      <p:sp>
        <p:nvSpPr>
          <p:cNvPr id="4" name="">
            <a:extLst xmlns:a="http://schemas.openxmlformats.org/drawingml/2006/main">
              <a:ext uri="{FF2B5EF4-FFF2-40B4-BE49-F238E27FC236}">
                <a16:creationId xmlns:a16="http://schemas.microsoft.com/office/drawing/2014/main" id="{DD819771-BAAB-4078-B292-FBCE1C6CFD5F}"/>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Day 2: a fixed source value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selectedStock = 'All';</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Day 3: a changing UI value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[onlyInStock, setOnlyInStock]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useState(false);</a:t>
            </a:r>
          </a:p>
        </p:txBody>
      </p:sp>
      <p:sp>
        <p:nvSpPr>
          <p:cNvPr id="5" name="">
            <a:extLst xmlns:a="http://schemas.openxmlformats.org/drawingml/2006/main">
              <a:ext uri="{FF2B5EF4-FFF2-40B4-BE49-F238E27FC236}">
                <a16:creationId xmlns:a16="http://schemas.microsoft.com/office/drawing/2014/main" id="{346435C4-9D94-429D-BCEB-6BE3014681C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checkbox can now change the stock filter</a:t>
            </a:r>
          </a:p>
        </p:txBody>
      </p:sp>
      <p:sp>
        <p:nvSpPr>
          <p:cNvPr id="6" name="">
            <a:extLst xmlns:a="http://schemas.openxmlformats.org/drawingml/2006/main">
              <a:ext uri="{FF2B5EF4-FFF2-40B4-BE49-F238E27FC236}">
                <a16:creationId xmlns:a16="http://schemas.microsoft.com/office/drawing/2014/main" id="{3C2C9A4B-5985-4556-80DC-09B611FDBB9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04</a:t>
            </a:r>
          </a:p>
        </p:txBody>
      </p:sp>
    </p:spTree>
    <p:extLst>
      <p:ext uri="{BB962C8B-B14F-4D97-AF65-F5344CB8AC3E}">
        <p14:creationId xmlns:p14="http://schemas.microsoft.com/office/powerpoint/2010/main" val="297570866"/>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A9EF56-C100-4CB6-8E1B-AE748E05984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EVENTS</a:t>
            </a:r>
          </a:p>
        </p:txBody>
      </p:sp>
      <p:sp>
        <p:nvSpPr>
          <p:cNvPr id="2" name="">
            <a:extLst xmlns:a="http://schemas.openxmlformats.org/drawingml/2006/main">
              <a:ext uri="{FF2B5EF4-FFF2-40B4-BE49-F238E27FC236}">
                <a16:creationId xmlns:a16="http://schemas.microsoft.com/office/drawing/2014/main" id="{3F6C086B-EAAE-4892-96B0-D44AF3BB704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Event handlers</a:t>
            </a:r>
          </a:p>
        </p:txBody>
      </p:sp>
      <p:sp>
        <p:nvSpPr>
          <p:cNvPr id="3" name="">
            <a:extLst xmlns:a="http://schemas.openxmlformats.org/drawingml/2006/main">
              <a:ext uri="{FF2B5EF4-FFF2-40B4-BE49-F238E27FC236}">
                <a16:creationId xmlns:a16="http://schemas.microsoft.com/office/drawing/2014/main" id="{5E8F19E9-4F1B-46E5-9735-DA491087C23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An event handler runs after a user action.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React calls the function attached to onClick.</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Use a button for a button action.</a:t>
            </a:r>
          </a:p>
        </p:txBody>
      </p:sp>
      <p:sp>
        <p:nvSpPr>
          <p:cNvPr id="4" name="">
            <a:extLst xmlns:a="http://schemas.openxmlformats.org/drawingml/2006/main">
              <a:ext uri="{FF2B5EF4-FFF2-40B4-BE49-F238E27FC236}">
                <a16:creationId xmlns:a16="http://schemas.microsoft.com/office/drawing/2014/main" id="{DCBE7ED0-9206-4350-AFBA-D077AE5E686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function handleResetFilters()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setSearch('');</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&lt;button type="button"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onClick={handleResetFilters}&gt;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Reset filters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&lt;/button&gt;</a:t>
            </a:r>
          </a:p>
        </p:txBody>
      </p:sp>
      <p:sp>
        <p:nvSpPr>
          <p:cNvPr id="5" name="">
            <a:extLst xmlns:a="http://schemas.openxmlformats.org/drawingml/2006/main">
              <a:ext uri="{FF2B5EF4-FFF2-40B4-BE49-F238E27FC236}">
                <a16:creationId xmlns:a16="http://schemas.microsoft.com/office/drawing/2014/main" id="{C1172C25-7686-445A-8F8C-F92C8952248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click requests an empty search value</a:t>
            </a:r>
          </a:p>
        </p:txBody>
      </p:sp>
      <p:sp>
        <p:nvSpPr>
          <p:cNvPr id="6" name="">
            <a:extLst xmlns:a="http://schemas.openxmlformats.org/drawingml/2006/main">
              <a:ext uri="{FF2B5EF4-FFF2-40B4-BE49-F238E27FC236}">
                <a16:creationId xmlns:a16="http://schemas.microsoft.com/office/drawing/2014/main" id="{BE01FE80-71B1-47DA-9C92-1309BDA273E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05</a:t>
            </a:r>
          </a:p>
        </p:txBody>
      </p:sp>
    </p:spTree>
    <p:extLst>
      <p:ext uri="{BB962C8B-B14F-4D97-AF65-F5344CB8AC3E}">
        <p14:creationId xmlns:p14="http://schemas.microsoft.com/office/powerpoint/2010/main" val="564781948"/>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AF1910-4B6D-4156-B098-FEBCEA62CE6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EVENTS</a:t>
            </a:r>
          </a:p>
        </p:txBody>
      </p:sp>
      <p:sp>
        <p:nvSpPr>
          <p:cNvPr id="2" name="">
            <a:extLst xmlns:a="http://schemas.openxmlformats.org/drawingml/2006/main">
              <a:ext uri="{FF2B5EF4-FFF2-40B4-BE49-F238E27FC236}">
                <a16:creationId xmlns:a16="http://schemas.microsoft.com/office/drawing/2014/main" id="{BCE89963-B76F-4CFF-96A1-BF4CC593045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function reference in JSX</a:t>
            </a:r>
          </a:p>
        </p:txBody>
      </p:sp>
      <p:sp>
        <p:nvSpPr>
          <p:cNvPr id="3" name="">
            <a:extLst xmlns:a="http://schemas.openxmlformats.org/drawingml/2006/main">
              <a:ext uri="{FF2B5EF4-FFF2-40B4-BE49-F238E27FC236}">
                <a16:creationId xmlns:a16="http://schemas.microsoft.com/office/drawing/2014/main" id="{744798B9-3C29-463E-A7E8-A1EE6593299A}"/>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Pass the handler function to onClick.</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Calling it with () executes it during rendering.</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React should receive the function to call later.</a:t>
            </a:r>
          </a:p>
        </p:txBody>
      </p:sp>
      <p:sp>
        <p:nvSpPr>
          <p:cNvPr id="4" name="">
            <a:extLst xmlns:a="http://schemas.openxmlformats.org/drawingml/2006/main">
              <a:ext uri="{FF2B5EF4-FFF2-40B4-BE49-F238E27FC236}">
                <a16:creationId xmlns:a16="http://schemas.microsoft.com/office/drawing/2014/main" id="{AEAD2ED8-A065-4126-B1AC-0B4C242CE2F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Runs when clicked</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onClick={handleResetFilters}</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Calls it while rendering</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onClick={handleResetFilters()}</a:t>
            </a:r>
          </a:p>
        </p:txBody>
      </p:sp>
      <p:sp>
        <p:nvSpPr>
          <p:cNvPr id="5" name="">
            <a:extLst xmlns:a="http://schemas.openxmlformats.org/drawingml/2006/main">
              <a:ext uri="{FF2B5EF4-FFF2-40B4-BE49-F238E27FC236}">
                <a16:creationId xmlns:a16="http://schemas.microsoft.com/office/drawing/2014/main" id="{7B8EB337-D985-4DA4-9B9A-415AC135FCF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Parentheses change when the function runs</a:t>
            </a:r>
          </a:p>
        </p:txBody>
      </p:sp>
      <p:sp>
        <p:nvSpPr>
          <p:cNvPr id="6" name="">
            <a:extLst xmlns:a="http://schemas.openxmlformats.org/drawingml/2006/main">
              <a:ext uri="{FF2B5EF4-FFF2-40B4-BE49-F238E27FC236}">
                <a16:creationId xmlns:a16="http://schemas.microsoft.com/office/drawing/2014/main" id="{B49A5B32-87A0-4DEC-A105-CAF51697C72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06</a:t>
            </a:r>
          </a:p>
        </p:txBody>
      </p:sp>
    </p:spTree>
    <p:extLst>
      <p:ext uri="{BB962C8B-B14F-4D97-AF65-F5344CB8AC3E}">
        <p14:creationId xmlns:p14="http://schemas.microsoft.com/office/powerpoint/2010/main" val="187485302"/>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87D285-8DFC-45AB-97A4-916D239CAC1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EVENTS</a:t>
            </a:r>
          </a:p>
        </p:txBody>
      </p:sp>
      <p:sp>
        <p:nvSpPr>
          <p:cNvPr id="2" name="">
            <a:extLst xmlns:a="http://schemas.openxmlformats.org/drawingml/2006/main">
              <a:ext uri="{FF2B5EF4-FFF2-40B4-BE49-F238E27FC236}">
                <a16:creationId xmlns:a16="http://schemas.microsoft.com/office/drawing/2014/main" id="{A5DD54DE-4922-4AA3-8ACE-E76D7BE3823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handler with an argument</a:t>
            </a:r>
          </a:p>
        </p:txBody>
      </p:sp>
      <p:sp>
        <p:nvSpPr>
          <p:cNvPr id="3" name="">
            <a:extLst xmlns:a="http://schemas.openxmlformats.org/drawingml/2006/main">
              <a:ext uri="{FF2B5EF4-FFF2-40B4-BE49-F238E27FC236}">
                <a16:creationId xmlns:a16="http://schemas.microsoft.com/office/drawing/2014/main" id="{87F231C6-F917-436C-BC61-25CA509205C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An arrow function delays the call until a click.</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callback can read the current product prop.</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parent decides how to update the cart.</a:t>
            </a:r>
          </a:p>
        </p:txBody>
      </p:sp>
      <p:sp>
        <p:nvSpPr>
          <p:cNvPr id="4" name="">
            <a:extLst xmlns:a="http://schemas.openxmlformats.org/drawingml/2006/main">
              <a:ext uri="{FF2B5EF4-FFF2-40B4-BE49-F238E27FC236}">
                <a16:creationId xmlns:a16="http://schemas.microsoft.com/office/drawing/2014/main" id="{C5D26CF6-B69C-4611-AC7C-B9CFEAAFA87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&lt;button type="button"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onClick={() =&gt; onAddToCart(product)}&gt;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Add to cart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&lt;/button&gt;</a:t>
            </a:r>
          </a:p>
        </p:txBody>
      </p:sp>
      <p:sp>
        <p:nvSpPr>
          <p:cNvPr id="5" name="">
            <a:extLst xmlns:a="http://schemas.openxmlformats.org/drawingml/2006/main">
              <a:ext uri="{FF2B5EF4-FFF2-40B4-BE49-F238E27FC236}">
                <a16:creationId xmlns:a16="http://schemas.microsoft.com/office/drawing/2014/main" id="{70D86EAC-8E65-41E2-AB93-BA4959E06A0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callback receives the clicked product</a:t>
            </a:r>
          </a:p>
        </p:txBody>
      </p:sp>
      <p:sp>
        <p:nvSpPr>
          <p:cNvPr id="6" name="">
            <a:extLst xmlns:a="http://schemas.openxmlformats.org/drawingml/2006/main">
              <a:ext uri="{FF2B5EF4-FFF2-40B4-BE49-F238E27FC236}">
                <a16:creationId xmlns:a16="http://schemas.microsoft.com/office/drawing/2014/main" id="{987B4E58-ADE0-46B6-8B5B-42365930E9E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07</a:t>
            </a:r>
          </a:p>
        </p:txBody>
      </p:sp>
    </p:spTree>
    <p:extLst>
      <p:ext uri="{BB962C8B-B14F-4D97-AF65-F5344CB8AC3E}">
        <p14:creationId xmlns:p14="http://schemas.microsoft.com/office/powerpoint/2010/main" val="436325472"/>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E02E84-4724-4929-9D6B-0D6409F6CDE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STATE</a:t>
            </a:r>
          </a:p>
        </p:txBody>
      </p:sp>
      <p:sp>
        <p:nvSpPr>
          <p:cNvPr id="2" name="">
            <a:extLst xmlns:a="http://schemas.openxmlformats.org/drawingml/2006/main">
              <a:ext uri="{FF2B5EF4-FFF2-40B4-BE49-F238E27FC236}">
                <a16:creationId xmlns:a16="http://schemas.microsoft.com/office/drawing/2014/main" id="{DA69E5FF-1A47-430A-A6A5-18F07E1BD41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changing value needs state</a:t>
            </a:r>
          </a:p>
        </p:txBody>
      </p:sp>
      <p:sp>
        <p:nvSpPr>
          <p:cNvPr id="3" name="">
            <a:extLst xmlns:a="http://schemas.openxmlformats.org/drawingml/2006/main">
              <a:ext uri="{FF2B5EF4-FFF2-40B4-BE49-F238E27FC236}">
                <a16:creationId xmlns:a16="http://schemas.microsoft.com/office/drawing/2014/main" id="{A113AD51-FB15-4713-B7E3-2AAB46CF0C8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local variable does not request a new render.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state setter tells React to render again.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React keeps the state between renders.</a:t>
            </a:r>
          </a:p>
        </p:txBody>
      </p:sp>
      <p:sp>
        <p:nvSpPr>
          <p:cNvPr id="4" name="">
            <a:extLst xmlns:a="http://schemas.openxmlformats.org/drawingml/2006/main">
              <a:ext uri="{FF2B5EF4-FFF2-40B4-BE49-F238E27FC236}">
                <a16:creationId xmlns:a16="http://schemas.microsoft.com/office/drawing/2014/main" id="{79CC9FDC-ED82-417A-8B6B-8198BA31B0B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Local variable example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let count = 0;</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function handleClick()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count = count + 1;</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The displayed JSX will not update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just because count changed.</a:t>
            </a:r>
          </a:p>
        </p:txBody>
      </p:sp>
      <p:sp>
        <p:nvSpPr>
          <p:cNvPr id="5" name="">
            <a:extLst xmlns:a="http://schemas.openxmlformats.org/drawingml/2006/main">
              <a:ext uri="{FF2B5EF4-FFF2-40B4-BE49-F238E27FC236}">
                <a16:creationId xmlns:a16="http://schemas.microsoft.com/office/drawing/2014/main" id="{E3F8D979-E2DB-4F6E-8CE5-4AAFF8A8819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useState connects changing data to the screen</a:t>
            </a:r>
          </a:p>
        </p:txBody>
      </p:sp>
      <p:sp>
        <p:nvSpPr>
          <p:cNvPr id="6" name="">
            <a:extLst xmlns:a="http://schemas.openxmlformats.org/drawingml/2006/main">
              <a:ext uri="{FF2B5EF4-FFF2-40B4-BE49-F238E27FC236}">
                <a16:creationId xmlns:a16="http://schemas.microsoft.com/office/drawing/2014/main" id="{A98CB27F-BA14-419F-9693-6C2D23A6822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08</a:t>
            </a:r>
          </a:p>
        </p:txBody>
      </p:sp>
    </p:spTree>
    <p:extLst>
      <p:ext uri="{BB962C8B-B14F-4D97-AF65-F5344CB8AC3E}">
        <p14:creationId xmlns:p14="http://schemas.microsoft.com/office/powerpoint/2010/main" val="1941324740"/>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7B2C02-1904-4C64-A42E-AB044865199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STATE</a:t>
            </a:r>
          </a:p>
        </p:txBody>
      </p:sp>
      <p:sp>
        <p:nvSpPr>
          <p:cNvPr id="2" name="">
            <a:extLst xmlns:a="http://schemas.openxmlformats.org/drawingml/2006/main">
              <a:ext uri="{FF2B5EF4-FFF2-40B4-BE49-F238E27FC236}">
                <a16:creationId xmlns:a16="http://schemas.microsoft.com/office/drawing/2014/main" id="{8C3FB84A-9F63-454C-B58C-1664E42F90F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useState returns a value and setter</a:t>
            </a:r>
          </a:p>
        </p:txBody>
      </p:sp>
      <p:sp>
        <p:nvSpPr>
          <p:cNvPr id="3" name="">
            <a:extLst xmlns:a="http://schemas.openxmlformats.org/drawingml/2006/main">
              <a:ext uri="{FF2B5EF4-FFF2-40B4-BE49-F238E27FC236}">
                <a16:creationId xmlns:a16="http://schemas.microsoft.com/office/drawing/2014/main" id="{05B00082-E942-47E9-8387-E22BCC02AA9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Import useState from React.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first item is the current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second item requests an update.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initial value applies on the first render.</a:t>
            </a:r>
          </a:p>
        </p:txBody>
      </p:sp>
      <p:sp>
        <p:nvSpPr>
          <p:cNvPr id="4" name="">
            <a:extLst xmlns:a="http://schemas.openxmlformats.org/drawingml/2006/main">
              <a:ext uri="{FF2B5EF4-FFF2-40B4-BE49-F238E27FC236}">
                <a16:creationId xmlns:a16="http://schemas.microsoft.com/office/drawing/2014/main" id="{38C07E32-30A5-4068-A3CD-53502425F21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import { useState } from 'react';</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function SearchExample()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const [search, setSearch] = useState('');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return &lt;button type="button"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onClick={() =&gt; setSearch('Notebook')}&gt;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Search for Notebook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&lt;/button&gt;;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DF4E6E49-A873-4235-92B6-95D7FAA806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next render receives search = Notebook</a:t>
            </a:r>
          </a:p>
        </p:txBody>
      </p:sp>
      <p:sp>
        <p:nvSpPr>
          <p:cNvPr id="6" name="">
            <a:extLst xmlns:a="http://schemas.openxmlformats.org/drawingml/2006/main">
              <a:ext uri="{FF2B5EF4-FFF2-40B4-BE49-F238E27FC236}">
                <a16:creationId xmlns:a16="http://schemas.microsoft.com/office/drawing/2014/main" id="{D554BC57-CAD2-40DE-93BE-3F5978736F0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09</a:t>
            </a:r>
          </a:p>
        </p:txBody>
      </p:sp>
    </p:spTree>
    <p:extLst>
      <p:ext uri="{BB962C8B-B14F-4D97-AF65-F5344CB8AC3E}">
        <p14:creationId xmlns:p14="http://schemas.microsoft.com/office/powerpoint/2010/main" val="823203504"/>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E33E6C-60CB-480D-B900-B06754725780}"/>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STATE</a:t>
            </a:r>
          </a:p>
        </p:txBody>
      </p:sp>
      <p:sp>
        <p:nvSpPr>
          <p:cNvPr id="2" name="">
            <a:extLst xmlns:a="http://schemas.openxmlformats.org/drawingml/2006/main">
              <a:ext uri="{FF2B5EF4-FFF2-40B4-BE49-F238E27FC236}">
                <a16:creationId xmlns:a16="http://schemas.microsoft.com/office/drawing/2014/main" id="{171A6E81-1A2E-45A1-8386-BCA4D226FF7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Rules of Hooks</a:t>
            </a:r>
          </a:p>
        </p:txBody>
      </p:sp>
      <p:sp>
        <p:nvSpPr>
          <p:cNvPr id="3" name="">
            <a:extLst xmlns:a="http://schemas.openxmlformats.org/drawingml/2006/main">
              <a:ext uri="{FF2B5EF4-FFF2-40B4-BE49-F238E27FC236}">
                <a16:creationId xmlns:a16="http://schemas.microsoft.com/office/drawing/2014/main" id="{04DCE18A-64BA-47A9-9F76-415E65FA202F}"/>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Call Hooks at the top level of a component.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Keep their order the same on each render.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Place handlers after the Hook declarations.</a:t>
            </a:r>
          </a:p>
        </p:txBody>
      </p:sp>
      <p:sp>
        <p:nvSpPr>
          <p:cNvPr id="4" name="">
            <a:extLst xmlns:a="http://schemas.openxmlformats.org/drawingml/2006/main">
              <a:ext uri="{FF2B5EF4-FFF2-40B4-BE49-F238E27FC236}">
                <a16:creationId xmlns:a16="http://schemas.microsoft.com/office/drawing/2014/main" id="{FB3E4F9F-08C4-402D-817C-2793F4DDB79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function App()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const [search, setSearch] = useState('');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const [cart, setCart] = useState([]);</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function handleReset()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setSearch('');</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JSX follows here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C973945B-FB28-4431-B1D3-6AC1222854F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Conditions and handlers can use the existing setters</a:t>
            </a:r>
          </a:p>
        </p:txBody>
      </p:sp>
      <p:sp>
        <p:nvSpPr>
          <p:cNvPr id="6" name="">
            <a:extLst xmlns:a="http://schemas.openxmlformats.org/drawingml/2006/main">
              <a:ext uri="{FF2B5EF4-FFF2-40B4-BE49-F238E27FC236}">
                <a16:creationId xmlns:a16="http://schemas.microsoft.com/office/drawing/2014/main" id="{362348A6-2E3A-4DD2-A07C-4571FC40236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10</a:t>
            </a:r>
          </a:p>
        </p:txBody>
      </p:sp>
    </p:spTree>
    <p:extLst>
      <p:ext uri="{BB962C8B-B14F-4D97-AF65-F5344CB8AC3E}">
        <p14:creationId xmlns:p14="http://schemas.microsoft.com/office/powerpoint/2010/main" val="80206476"/>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D70EC7-D4D2-4889-B02F-8731D264AF8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STATE</a:t>
            </a:r>
          </a:p>
        </p:txBody>
      </p:sp>
      <p:sp>
        <p:nvSpPr>
          <p:cNvPr id="2" name="">
            <a:extLst xmlns:a="http://schemas.openxmlformats.org/drawingml/2006/main">
              <a:ext uri="{FF2B5EF4-FFF2-40B4-BE49-F238E27FC236}">
                <a16:creationId xmlns:a16="http://schemas.microsoft.com/office/drawing/2014/main" id="{B2C09BC3-4065-4DF1-A411-0CF3E8A3F2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State belongs to a render snapshot</a:t>
            </a:r>
          </a:p>
        </p:txBody>
      </p:sp>
      <p:sp>
        <p:nvSpPr>
          <p:cNvPr id="3" name="">
            <a:extLst xmlns:a="http://schemas.openxmlformats.org/drawingml/2006/main">
              <a:ext uri="{FF2B5EF4-FFF2-40B4-BE49-F238E27FC236}">
                <a16:creationId xmlns:a16="http://schemas.microsoft.com/office/drawing/2014/main" id="{8FBE5330-8974-493B-B6DB-6F47985E3E1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setter schedules the next state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current handler still reads its old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next render uses the updated value.</a:t>
            </a:r>
          </a:p>
        </p:txBody>
      </p:sp>
      <p:sp>
        <p:nvSpPr>
          <p:cNvPr id="4" name="">
            <a:extLst xmlns:a="http://schemas.openxmlformats.org/drawingml/2006/main">
              <a:ext uri="{FF2B5EF4-FFF2-40B4-BE49-F238E27FC236}">
                <a16:creationId xmlns:a16="http://schemas.microsoft.com/office/drawing/2014/main" id="{489B9D29-B8FC-46CC-AEA6-D9C74130D02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 render started with count = 0</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setCount(count + 1);</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console.log(count); // 0 in this handler</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The next render receives count = 1</a:t>
            </a:r>
          </a:p>
        </p:txBody>
      </p:sp>
      <p:sp>
        <p:nvSpPr>
          <p:cNvPr id="5" name="">
            <a:extLst xmlns:a="http://schemas.openxmlformats.org/drawingml/2006/main">
              <a:ext uri="{FF2B5EF4-FFF2-40B4-BE49-F238E27FC236}">
                <a16:creationId xmlns:a16="http://schemas.microsoft.com/office/drawing/2014/main" id="{460F14A7-BB9B-4663-A520-1CEB55A818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setter does not replace the current local value</a:t>
            </a:r>
          </a:p>
        </p:txBody>
      </p:sp>
      <p:sp>
        <p:nvSpPr>
          <p:cNvPr id="6" name="">
            <a:extLst xmlns:a="http://schemas.openxmlformats.org/drawingml/2006/main">
              <a:ext uri="{FF2B5EF4-FFF2-40B4-BE49-F238E27FC236}">
                <a16:creationId xmlns:a16="http://schemas.microsoft.com/office/drawing/2014/main" id="{8B63BB42-A051-4A8B-8847-2394050D6EE3}"/>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11</a:t>
            </a:r>
          </a:p>
        </p:txBody>
      </p:sp>
    </p:spTree>
    <p:extLst>
      <p:ext uri="{BB962C8B-B14F-4D97-AF65-F5344CB8AC3E}">
        <p14:creationId xmlns:p14="http://schemas.microsoft.com/office/powerpoint/2010/main" val="916560646"/>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5643F-0EDC-4DEB-8E2F-ED184EF69ED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STATE</a:t>
            </a:r>
          </a:p>
        </p:txBody>
      </p:sp>
      <p:sp>
        <p:nvSpPr>
          <p:cNvPr id="2" name="">
            <a:extLst xmlns:a="http://schemas.openxmlformats.org/drawingml/2006/main">
              <a:ext uri="{FF2B5EF4-FFF2-40B4-BE49-F238E27FC236}">
                <a16:creationId xmlns:a16="http://schemas.microsoft.com/office/drawing/2014/main" id="{F6B07E77-CA8D-43FF-BBEB-A377890BE8E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An update from the previous value</a:t>
            </a:r>
          </a:p>
        </p:txBody>
      </p:sp>
      <p:sp>
        <p:nvSpPr>
          <p:cNvPr id="3" name="">
            <a:extLst xmlns:a="http://schemas.openxmlformats.org/drawingml/2006/main">
              <a:ext uri="{FF2B5EF4-FFF2-40B4-BE49-F238E27FC236}">
                <a16:creationId xmlns:a16="http://schemas.microsoft.com/office/drawing/2014/main" id="{B1F323DD-19C9-4294-9818-50A84104A65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Use an updater when the next value depends on the pending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React passes it in.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Keep the updater function pure.</a:t>
            </a:r>
          </a:p>
        </p:txBody>
      </p:sp>
      <p:sp>
        <p:nvSpPr>
          <p:cNvPr id="4" name="">
            <a:extLst xmlns:a="http://schemas.openxmlformats.org/drawingml/2006/main">
              <a:ext uri="{FF2B5EF4-FFF2-40B4-BE49-F238E27FC236}">
                <a16:creationId xmlns:a16="http://schemas.microsoft.com/office/drawing/2014/main" id="{82CE0D84-0366-4874-8D3D-A97C68E9FDB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setCount(currentCount =&gt; currentCount + 1);</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Our cart follows the same pattern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setCart(currentCart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...currentCart, product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061C2C45-1A7A-4AD1-A5DD-EA9A4CF044DB}"/>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update reads the cart React passes to it</a:t>
            </a:r>
          </a:p>
        </p:txBody>
      </p:sp>
      <p:sp>
        <p:nvSpPr>
          <p:cNvPr id="6" name="">
            <a:extLst xmlns:a="http://schemas.openxmlformats.org/drawingml/2006/main">
              <a:ext uri="{FF2B5EF4-FFF2-40B4-BE49-F238E27FC236}">
                <a16:creationId xmlns:a16="http://schemas.microsoft.com/office/drawing/2014/main" id="{2DD133E6-31F1-484C-A8B7-65FB7C7BDB31}"/>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12</a:t>
            </a:r>
          </a:p>
        </p:txBody>
      </p:sp>
    </p:spTree>
    <p:extLst>
      <p:ext uri="{BB962C8B-B14F-4D97-AF65-F5344CB8AC3E}">
        <p14:creationId xmlns:p14="http://schemas.microsoft.com/office/powerpoint/2010/main" val="1981572488"/>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3AED08-6711-47F5-8AA0-E8B537C564C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CONTROLLED INPUTS</a:t>
            </a:r>
          </a:p>
        </p:txBody>
      </p:sp>
      <p:sp>
        <p:nvSpPr>
          <p:cNvPr id="2" name="">
            <a:extLst xmlns:a="http://schemas.openxmlformats.org/drawingml/2006/main">
              <a:ext uri="{FF2B5EF4-FFF2-40B4-BE49-F238E27FC236}">
                <a16:creationId xmlns:a16="http://schemas.microsoft.com/office/drawing/2014/main" id="{CB308BD1-FABA-48D7-9132-E71AEC824FA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Controlled search input</a:t>
            </a:r>
          </a:p>
        </p:txBody>
      </p:sp>
      <p:sp>
        <p:nvSpPr>
          <p:cNvPr id="3" name="">
            <a:extLst xmlns:a="http://schemas.openxmlformats.org/drawingml/2006/main">
              <a:ext uri="{FF2B5EF4-FFF2-40B4-BE49-F238E27FC236}">
                <a16:creationId xmlns:a16="http://schemas.microsoft.com/office/drawing/2014/main" id="{DE82A70A-4725-4226-B548-FBBACA1A0E0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State supplies the input’s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onChange reads the new text and updates state.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filter uses that state on the next render.</a:t>
            </a:r>
          </a:p>
        </p:txBody>
      </p:sp>
      <p:sp>
        <p:nvSpPr>
          <p:cNvPr id="4" name="">
            <a:extLst xmlns:a="http://schemas.openxmlformats.org/drawingml/2006/main">
              <a:ext uri="{FF2B5EF4-FFF2-40B4-BE49-F238E27FC236}">
                <a16:creationId xmlns:a16="http://schemas.microsoft.com/office/drawing/2014/main" id="{5B847D34-1091-43AC-868B-A1DE200DA0F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[search, setSearch] = useState('');</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&lt;input id="product-search"</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value={search}</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onChange={event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setSearch(event.target.value)}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/&gt;</a:t>
            </a:r>
          </a:p>
        </p:txBody>
      </p:sp>
      <p:sp>
        <p:nvSpPr>
          <p:cNvPr id="5" name="">
            <a:extLst xmlns:a="http://schemas.openxmlformats.org/drawingml/2006/main">
              <a:ext uri="{FF2B5EF4-FFF2-40B4-BE49-F238E27FC236}">
                <a16:creationId xmlns:a16="http://schemas.microsoft.com/office/drawing/2014/main" id="{346AD38E-B188-41E0-B671-F50DE41F486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Typing NOTE updates search to NOTE</a:t>
            </a:r>
          </a:p>
        </p:txBody>
      </p:sp>
      <p:sp>
        <p:nvSpPr>
          <p:cNvPr id="6" name="">
            <a:extLst xmlns:a="http://schemas.openxmlformats.org/drawingml/2006/main">
              <a:ext uri="{FF2B5EF4-FFF2-40B4-BE49-F238E27FC236}">
                <a16:creationId xmlns:a16="http://schemas.microsoft.com/office/drawing/2014/main" id="{31E9155A-B52C-48F8-A5EF-FC0D3605534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13</a:t>
            </a:r>
          </a:p>
        </p:txBody>
      </p:sp>
    </p:spTree>
    <p:extLst>
      <p:ext uri="{BB962C8B-B14F-4D97-AF65-F5344CB8AC3E}">
        <p14:creationId xmlns:p14="http://schemas.microsoft.com/office/powerpoint/2010/main" val="644600269"/>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8CA9D0-6601-40FC-91A4-F4A033559F3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CONTROLLED INPUTS</a:t>
            </a:r>
          </a:p>
        </p:txBody>
      </p:sp>
      <p:sp>
        <p:nvSpPr>
          <p:cNvPr id="2" name="">
            <a:extLst xmlns:a="http://schemas.openxmlformats.org/drawingml/2006/main">
              <a:ext uri="{FF2B5EF4-FFF2-40B4-BE49-F238E27FC236}">
                <a16:creationId xmlns:a16="http://schemas.microsoft.com/office/drawing/2014/main" id="{D1658E6A-8ACE-4035-A020-508F040F543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Category selection</a:t>
            </a:r>
          </a:p>
        </p:txBody>
      </p:sp>
      <p:sp>
        <p:nvSpPr>
          <p:cNvPr id="3" name="">
            <a:extLst xmlns:a="http://schemas.openxmlformats.org/drawingml/2006/main">
              <a:ext uri="{FF2B5EF4-FFF2-40B4-BE49-F238E27FC236}">
                <a16:creationId xmlns:a16="http://schemas.microsoft.com/office/drawing/2014/main" id="{A13A1849-80C1-4160-B325-0617730F797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select value comes from category state.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Each option provides a matching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change supplies the selected string.</a:t>
            </a:r>
          </a:p>
        </p:txBody>
      </p:sp>
      <p:sp>
        <p:nvSpPr>
          <p:cNvPr id="4" name="">
            <a:extLst xmlns:a="http://schemas.openxmlformats.org/drawingml/2006/main">
              <a:ext uri="{FF2B5EF4-FFF2-40B4-BE49-F238E27FC236}">
                <a16:creationId xmlns:a16="http://schemas.microsoft.com/office/drawing/2014/main" id="{71471A68-CD96-4E57-857F-6A4F7F9DE8A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&lt;select value={category}</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onChange={event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setCategory(event.target.value)}&gt;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&lt;option value="All"&gt;All&lt;/option&gt;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&lt;option value="Stationery"&gt;Stationery&lt;/option&gt;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&lt;option value="Accessories"&gt;Accessories&lt;/option&gt;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&lt;/select&gt;</a:t>
            </a:r>
          </a:p>
        </p:txBody>
      </p:sp>
      <p:sp>
        <p:nvSpPr>
          <p:cNvPr id="5" name="">
            <a:extLst xmlns:a="http://schemas.openxmlformats.org/drawingml/2006/main">
              <a:ext uri="{FF2B5EF4-FFF2-40B4-BE49-F238E27FC236}">
                <a16:creationId xmlns:a16="http://schemas.microsoft.com/office/drawing/2014/main" id="{DFE63708-CCB3-44DB-94E0-930ED8C0BCD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Accessories selects Bag and Bottle</a:t>
            </a:r>
          </a:p>
        </p:txBody>
      </p:sp>
      <p:sp>
        <p:nvSpPr>
          <p:cNvPr id="6" name="">
            <a:extLst xmlns:a="http://schemas.openxmlformats.org/drawingml/2006/main">
              <a:ext uri="{FF2B5EF4-FFF2-40B4-BE49-F238E27FC236}">
                <a16:creationId xmlns:a16="http://schemas.microsoft.com/office/drawing/2014/main" id="{4B23BC92-C2B5-4091-BF4C-A566759D54D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14</a:t>
            </a:r>
          </a:p>
        </p:txBody>
      </p:sp>
    </p:spTree>
    <p:extLst>
      <p:ext uri="{BB962C8B-B14F-4D97-AF65-F5344CB8AC3E}">
        <p14:creationId xmlns:p14="http://schemas.microsoft.com/office/powerpoint/2010/main" val="150923697"/>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08C591-2857-4BA0-AC4A-A1346496A29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CONTROLLED INPUTS</a:t>
            </a:r>
          </a:p>
        </p:txBody>
      </p:sp>
      <p:sp>
        <p:nvSpPr>
          <p:cNvPr id="2" name="">
            <a:extLst xmlns:a="http://schemas.openxmlformats.org/drawingml/2006/main">
              <a:ext uri="{FF2B5EF4-FFF2-40B4-BE49-F238E27FC236}">
                <a16:creationId xmlns:a16="http://schemas.microsoft.com/office/drawing/2014/main" id="{CC2F67D9-2CED-436A-BF8B-60858EA7855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checkbox stores a boolean</a:t>
            </a:r>
          </a:p>
        </p:txBody>
      </p:sp>
      <p:sp>
        <p:nvSpPr>
          <p:cNvPr id="3" name="">
            <a:extLst xmlns:a="http://schemas.openxmlformats.org/drawingml/2006/main">
              <a:ext uri="{FF2B5EF4-FFF2-40B4-BE49-F238E27FC236}">
                <a16:creationId xmlns:a16="http://schemas.microsoft.com/office/drawing/2014/main" id="{6827B5F8-136A-48E3-A0A0-E81D08D27DA2}"/>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checked supplies the current yes/no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Read event.target.checked after a change.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boolean keeps the stock condition simple.</a:t>
            </a:r>
          </a:p>
        </p:txBody>
      </p:sp>
      <p:sp>
        <p:nvSpPr>
          <p:cNvPr id="4" name="">
            <a:extLst xmlns:a="http://schemas.openxmlformats.org/drawingml/2006/main">
              <a:ext uri="{FF2B5EF4-FFF2-40B4-BE49-F238E27FC236}">
                <a16:creationId xmlns:a16="http://schemas.microsoft.com/office/drawing/2014/main" id="{890686C4-537C-4DF7-A520-796E7EB323F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[onlyInStock, setOnlyInStock]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useState(false);</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&lt;input type="checkbox"</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checked={onlyInStock}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onChange={event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setOnlyInStock(event.target.checked)}</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/&gt;</a:t>
            </a:r>
          </a:p>
        </p:txBody>
      </p:sp>
      <p:sp>
        <p:nvSpPr>
          <p:cNvPr id="5" name="">
            <a:extLst xmlns:a="http://schemas.openxmlformats.org/drawingml/2006/main">
              <a:ext uri="{FF2B5EF4-FFF2-40B4-BE49-F238E27FC236}">
                <a16:creationId xmlns:a16="http://schemas.microsoft.com/office/drawing/2014/main" id="{CB398D14-7F41-4FB2-A932-D035106AAD5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Checking the box keeps Notebook and Bag</a:t>
            </a:r>
          </a:p>
        </p:txBody>
      </p:sp>
      <p:sp>
        <p:nvSpPr>
          <p:cNvPr id="6" name="">
            <a:extLst xmlns:a="http://schemas.openxmlformats.org/drawingml/2006/main">
              <a:ext uri="{FF2B5EF4-FFF2-40B4-BE49-F238E27FC236}">
                <a16:creationId xmlns:a16="http://schemas.microsoft.com/office/drawing/2014/main" id="{6B6DE250-25D4-4821-9D33-BAD9CA8B0AF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15</a:t>
            </a:r>
          </a:p>
        </p:txBody>
      </p:sp>
    </p:spTree>
    <p:extLst>
      <p:ext uri="{BB962C8B-B14F-4D97-AF65-F5344CB8AC3E}">
        <p14:creationId xmlns:p14="http://schemas.microsoft.com/office/powerpoint/2010/main" val="1312138688"/>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1B5E12-EBB7-4981-8E95-69B33A8C637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FILTERING</a:t>
            </a:r>
          </a:p>
        </p:txBody>
      </p:sp>
      <p:sp>
        <p:nvSpPr>
          <p:cNvPr id="2" name="">
            <a:extLst xmlns:a="http://schemas.openxmlformats.org/drawingml/2006/main">
              <a:ext uri="{FF2B5EF4-FFF2-40B4-BE49-F238E27FC236}">
                <a16:creationId xmlns:a16="http://schemas.microsoft.com/office/drawing/2014/main" id="{85E13E26-E927-4449-8967-77A8881CD5F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Visible products are derived data</a:t>
            </a:r>
          </a:p>
        </p:txBody>
      </p:sp>
      <p:sp>
        <p:nvSpPr>
          <p:cNvPr id="3" name="">
            <a:extLst xmlns:a="http://schemas.openxmlformats.org/drawingml/2006/main">
              <a:ext uri="{FF2B5EF4-FFF2-40B4-BE49-F238E27FC236}">
                <a16:creationId xmlns:a16="http://schemas.microsoft.com/office/drawing/2014/main" id="{6F880799-DD83-4785-A547-617DE456588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Trim the search and ignore letter case.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Combine name, category and stock conditions.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Calculate matches during each render.</a:t>
            </a:r>
          </a:p>
        </p:txBody>
      </p:sp>
      <p:sp>
        <p:nvSpPr>
          <p:cNvPr id="4" name="">
            <a:extLst xmlns:a="http://schemas.openxmlformats.org/drawingml/2006/main">
              <a:ext uri="{FF2B5EF4-FFF2-40B4-BE49-F238E27FC236}">
                <a16:creationId xmlns:a16="http://schemas.microsoft.com/office/drawing/2014/main" id="{FD2B7888-6FF0-4771-A484-3F57C608378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text = search.trim().toLowerCase();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visibleProducts = products.filter(p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p.name.toLowerCase().includes(text) &amp;&amp;</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(category === 'All'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p.category === category) &amp;&amp;</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(!onlyInStock || p.inStock)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26052D19-8D37-4473-962F-46AFC7C24BC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Accessories + In stock only gives Bag</a:t>
            </a:r>
          </a:p>
        </p:txBody>
      </p:sp>
      <p:sp>
        <p:nvSpPr>
          <p:cNvPr id="6" name="">
            <a:extLst xmlns:a="http://schemas.openxmlformats.org/drawingml/2006/main">
              <a:ext uri="{FF2B5EF4-FFF2-40B4-BE49-F238E27FC236}">
                <a16:creationId xmlns:a16="http://schemas.microsoft.com/office/drawing/2014/main" id="{C2E340A1-64B3-48F4-9005-44AF10161B77}"/>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16</a:t>
            </a:r>
          </a:p>
        </p:txBody>
      </p:sp>
    </p:spTree>
    <p:extLst>
      <p:ext uri="{BB962C8B-B14F-4D97-AF65-F5344CB8AC3E}">
        <p14:creationId xmlns:p14="http://schemas.microsoft.com/office/powerpoint/2010/main" val="615238767"/>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AD0F7C-D528-48D5-ABF7-6CB39E5B3DE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SHARED STATE</a:t>
            </a:r>
          </a:p>
        </p:txBody>
      </p:sp>
      <p:sp>
        <p:nvSpPr>
          <p:cNvPr id="2" name="">
            <a:extLst xmlns:a="http://schemas.openxmlformats.org/drawingml/2006/main">
              <a:ext uri="{FF2B5EF4-FFF2-40B4-BE49-F238E27FC236}">
                <a16:creationId xmlns:a16="http://schemas.microsoft.com/office/drawing/2014/main" id="{8049ED03-6C51-4310-9596-FF804DC7EE2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State shared by several children</a:t>
            </a:r>
          </a:p>
        </p:txBody>
      </p:sp>
      <p:sp>
        <p:nvSpPr>
          <p:cNvPr id="3" name="">
            <a:extLst xmlns:a="http://schemas.openxmlformats.org/drawingml/2006/main">
              <a:ext uri="{FF2B5EF4-FFF2-40B4-BE49-F238E27FC236}">
                <a16:creationId xmlns:a16="http://schemas.microsoft.com/office/drawing/2014/main" id="{5D503982-6186-4E97-8138-228B439B547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App owns the search, filters and cart.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FilterBar reads values and requests changes.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ProductList and CartPanel share cart data.</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note form owns its separate local state.</a:t>
            </a:r>
          </a:p>
        </p:txBody>
      </p:sp>
      <p:sp>
        <p:nvSpPr>
          <p:cNvPr id="4" name="">
            <a:extLst xmlns:a="http://schemas.openxmlformats.org/drawingml/2006/main">
              <a:ext uri="{FF2B5EF4-FFF2-40B4-BE49-F238E27FC236}">
                <a16:creationId xmlns:a16="http://schemas.microsoft.com/office/drawing/2014/main" id="{21A5A87E-D00C-46B1-86DE-C8CD61F58D2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App</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FilterBar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ProductList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ProductCard</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CartPanel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PracticeNote</a:t>
            </a:r>
          </a:p>
        </p:txBody>
      </p:sp>
      <p:sp>
        <p:nvSpPr>
          <p:cNvPr id="5" name="">
            <a:extLst xmlns:a="http://schemas.openxmlformats.org/drawingml/2006/main">
              <a:ext uri="{FF2B5EF4-FFF2-40B4-BE49-F238E27FC236}">
                <a16:creationId xmlns:a16="http://schemas.microsoft.com/office/drawing/2014/main" id="{7E4474C8-57F1-4FFF-8AE2-CDD655F1015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closest shared parent coordinates the cart</a:t>
            </a:r>
          </a:p>
        </p:txBody>
      </p:sp>
      <p:sp>
        <p:nvSpPr>
          <p:cNvPr id="6" name="">
            <a:extLst xmlns:a="http://schemas.openxmlformats.org/drawingml/2006/main">
              <a:ext uri="{FF2B5EF4-FFF2-40B4-BE49-F238E27FC236}">
                <a16:creationId xmlns:a16="http://schemas.microsoft.com/office/drawing/2014/main" id="{4978E0FC-CDCB-4247-994F-3BF576D27AA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17</a:t>
            </a:r>
          </a:p>
        </p:txBody>
      </p:sp>
    </p:spTree>
    <p:extLst>
      <p:ext uri="{BB962C8B-B14F-4D97-AF65-F5344CB8AC3E}">
        <p14:creationId xmlns:p14="http://schemas.microsoft.com/office/powerpoint/2010/main" val="1273479034"/>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A08D8-9A95-4742-BFF7-61AD85ACC3B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SHARED STATE</a:t>
            </a:r>
          </a:p>
        </p:txBody>
      </p:sp>
      <p:sp>
        <p:nvSpPr>
          <p:cNvPr id="2" name="">
            <a:extLst xmlns:a="http://schemas.openxmlformats.org/drawingml/2006/main">
              <a:ext uri="{FF2B5EF4-FFF2-40B4-BE49-F238E27FC236}">
                <a16:creationId xmlns:a16="http://schemas.microsoft.com/office/drawing/2014/main" id="{73907686-15EC-4231-AE86-E8A35E9C555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Callback props request an update</a:t>
            </a:r>
          </a:p>
        </p:txBody>
      </p:sp>
      <p:sp>
        <p:nvSpPr>
          <p:cNvPr id="3" name="">
            <a:extLst xmlns:a="http://schemas.openxmlformats.org/drawingml/2006/main">
              <a:ext uri="{FF2B5EF4-FFF2-40B4-BE49-F238E27FC236}">
                <a16:creationId xmlns:a16="http://schemas.microsoft.com/office/drawing/2014/main" id="{167229B8-BFD4-4349-9257-DAAC9D7174D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Values travel from the parent to the child.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child calls the supplied callback.</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parent setter changes the state it owns.</a:t>
            </a:r>
          </a:p>
        </p:txBody>
      </p:sp>
      <p:sp>
        <p:nvSpPr>
          <p:cNvPr id="4" name="">
            <a:extLst xmlns:a="http://schemas.openxmlformats.org/drawingml/2006/main">
              <a:ext uri="{FF2B5EF4-FFF2-40B4-BE49-F238E27FC236}">
                <a16:creationId xmlns:a16="http://schemas.microsoft.com/office/drawing/2014/main" id="{0F931376-0173-4BE5-A21E-E3AAEDBAA76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App supplies both inputs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&lt;FilterBar search={search}</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onSearchChange={setSearch} /&gt;</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FilterBar reads its callback prop</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onChange={event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onSearchChange(event.target.value)}</a:t>
            </a:r>
          </a:p>
        </p:txBody>
      </p:sp>
      <p:sp>
        <p:nvSpPr>
          <p:cNvPr id="5" name="">
            <a:extLst xmlns:a="http://schemas.openxmlformats.org/drawingml/2006/main">
              <a:ext uri="{FF2B5EF4-FFF2-40B4-BE49-F238E27FC236}">
                <a16:creationId xmlns:a16="http://schemas.microsoft.com/office/drawing/2014/main" id="{B9AF1E16-0840-4BDB-9038-799E5E052E7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One input change reaches App’s setter</a:t>
            </a:r>
          </a:p>
        </p:txBody>
      </p:sp>
      <p:sp>
        <p:nvSpPr>
          <p:cNvPr id="6" name="">
            <a:extLst xmlns:a="http://schemas.openxmlformats.org/drawingml/2006/main">
              <a:ext uri="{FF2B5EF4-FFF2-40B4-BE49-F238E27FC236}">
                <a16:creationId xmlns:a16="http://schemas.microsoft.com/office/drawing/2014/main" id="{FB3BDEFE-7F61-4F36-B4C9-C1192E6A45D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18</a:t>
            </a:r>
          </a:p>
        </p:txBody>
      </p:sp>
    </p:spTree>
    <p:extLst>
      <p:ext uri="{BB962C8B-B14F-4D97-AF65-F5344CB8AC3E}">
        <p14:creationId xmlns:p14="http://schemas.microsoft.com/office/powerpoint/2010/main" val="2134114080"/>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38783F-D8B7-4D29-A17B-00C56291FBD7}"/>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CART</a:t>
            </a:r>
          </a:p>
        </p:txBody>
      </p:sp>
      <p:sp>
        <p:nvSpPr>
          <p:cNvPr id="2" name="">
            <a:extLst xmlns:a="http://schemas.openxmlformats.org/drawingml/2006/main">
              <a:ext uri="{FF2B5EF4-FFF2-40B4-BE49-F238E27FC236}">
                <a16:creationId xmlns:a16="http://schemas.microsoft.com/office/drawing/2014/main" id="{9FFF38BA-D295-4245-9326-E3CDAA43D4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Adding a product to the cart</a:t>
            </a:r>
          </a:p>
        </p:txBody>
      </p:sp>
      <p:sp>
        <p:nvSpPr>
          <p:cNvPr id="3" name="">
            <a:extLst xmlns:a="http://schemas.openxmlformats.org/drawingml/2006/main">
              <a:ext uri="{FF2B5EF4-FFF2-40B4-BE49-F238E27FC236}">
                <a16:creationId xmlns:a16="http://schemas.microsoft.com/office/drawing/2014/main" id="{F4125F14-9FE1-4B8F-B58F-43915839726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Treat an array in state as read-only.</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Spread creates a new array with the new item.</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Our cart allows one entry per product.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Out-of-stock items keep their button disabled.</a:t>
            </a:r>
          </a:p>
        </p:txBody>
      </p:sp>
      <p:sp>
        <p:nvSpPr>
          <p:cNvPr id="4" name="">
            <a:extLst xmlns:a="http://schemas.openxmlformats.org/drawingml/2006/main">
              <a:ext uri="{FF2B5EF4-FFF2-40B4-BE49-F238E27FC236}">
                <a16:creationId xmlns:a16="http://schemas.microsoft.com/office/drawing/2014/main" id="{432BF199-350B-4CFC-8B84-1801B6F56E1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setCart(currentCart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const exists = currentCart.some(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item =&gt; item.id === product.id</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return exists ? currentCart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[...currentCart, product];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C03921C8-2EFE-45E0-B0A0-FCD2051C720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Notebook creates one cart entry at ₹80</a:t>
            </a:r>
          </a:p>
        </p:txBody>
      </p:sp>
      <p:sp>
        <p:nvSpPr>
          <p:cNvPr id="6" name="">
            <a:extLst xmlns:a="http://schemas.openxmlformats.org/drawingml/2006/main">
              <a:ext uri="{FF2B5EF4-FFF2-40B4-BE49-F238E27FC236}">
                <a16:creationId xmlns:a16="http://schemas.microsoft.com/office/drawing/2014/main" id="{59401AC7-812A-4918-9BAA-856F0097CCF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19</a:t>
            </a:r>
          </a:p>
        </p:txBody>
      </p:sp>
    </p:spTree>
    <p:extLst>
      <p:ext uri="{BB962C8B-B14F-4D97-AF65-F5344CB8AC3E}">
        <p14:creationId xmlns:p14="http://schemas.microsoft.com/office/powerpoint/2010/main" val="406089305"/>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302A38-F794-47A6-A5C8-A528226507C5}"/>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CART</a:t>
            </a:r>
          </a:p>
        </p:txBody>
      </p:sp>
      <p:sp>
        <p:nvSpPr>
          <p:cNvPr id="2" name="">
            <a:extLst xmlns:a="http://schemas.openxmlformats.org/drawingml/2006/main">
              <a:ext uri="{FF2B5EF4-FFF2-40B4-BE49-F238E27FC236}">
                <a16:creationId xmlns:a16="http://schemas.microsoft.com/office/drawing/2014/main" id="{C541CD5B-ED7B-4013-9021-E21161C02DE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Removing a product from the cart</a:t>
            </a:r>
          </a:p>
        </p:txBody>
      </p:sp>
      <p:sp>
        <p:nvSpPr>
          <p:cNvPr id="3" name="">
            <a:extLst xmlns:a="http://schemas.openxmlformats.org/drawingml/2006/main">
              <a:ext uri="{FF2B5EF4-FFF2-40B4-BE49-F238E27FC236}">
                <a16:creationId xmlns:a16="http://schemas.microsoft.com/office/drawing/2014/main" id="{3B50E5D5-E9A4-4AFF-BEFA-61530305E4A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child sends the product’s stable ID.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filter keeps all items with a different ID.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new array becomes the next cart.</a:t>
            </a:r>
          </a:p>
        </p:txBody>
      </p:sp>
      <p:sp>
        <p:nvSpPr>
          <p:cNvPr id="4" name="">
            <a:extLst xmlns:a="http://schemas.openxmlformats.org/drawingml/2006/main">
              <a:ext uri="{FF2B5EF4-FFF2-40B4-BE49-F238E27FC236}">
                <a16:creationId xmlns:a16="http://schemas.microsoft.com/office/drawing/2014/main" id="{DDFFAD76-8632-4A8B-9751-BE8B34C3EEE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function handleRemoveFromCart(productId)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setCart(currentCart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currentCart.filter(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item =&gt; item.id !== productId</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A6CFF046-D10A-49F9-BCBE-13FC7E6EC0C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Removing P-101 leaves Bag in the cart</a:t>
            </a:r>
          </a:p>
        </p:txBody>
      </p:sp>
      <p:sp>
        <p:nvSpPr>
          <p:cNvPr id="6" name="">
            <a:extLst xmlns:a="http://schemas.openxmlformats.org/drawingml/2006/main">
              <a:ext uri="{FF2B5EF4-FFF2-40B4-BE49-F238E27FC236}">
                <a16:creationId xmlns:a16="http://schemas.microsoft.com/office/drawing/2014/main" id="{F73552AC-8B9D-4331-A4A1-7712CD2385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20</a:t>
            </a:r>
          </a:p>
        </p:txBody>
      </p:sp>
    </p:spTree>
    <p:extLst>
      <p:ext uri="{BB962C8B-B14F-4D97-AF65-F5344CB8AC3E}">
        <p14:creationId xmlns:p14="http://schemas.microsoft.com/office/powerpoint/2010/main" val="352255975"/>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B9156A-EE3F-4B95-AF39-BB85565ABC9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CART</a:t>
            </a:r>
          </a:p>
        </p:txBody>
      </p:sp>
      <p:sp>
        <p:nvSpPr>
          <p:cNvPr id="2" name="">
            <a:extLst xmlns:a="http://schemas.openxmlformats.org/drawingml/2006/main">
              <a:ext uri="{FF2B5EF4-FFF2-40B4-BE49-F238E27FC236}">
                <a16:creationId xmlns:a16="http://schemas.microsoft.com/office/drawing/2014/main" id="{EB47B319-3EC8-4981-837F-E71BCE1EE737}"/>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The total comes from the cart</a:t>
            </a:r>
          </a:p>
        </p:txBody>
      </p:sp>
      <p:sp>
        <p:nvSpPr>
          <p:cNvPr id="3" name="">
            <a:extLst xmlns:a="http://schemas.openxmlformats.org/drawingml/2006/main">
              <a:ext uri="{FF2B5EF4-FFF2-40B4-BE49-F238E27FC236}">
                <a16:creationId xmlns:a16="http://schemas.microsoft.com/office/drawing/2014/main" id="{74E1CAC1-8436-4612-8ED2-364C75485DB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reduce combines values into one result.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Start the sum at zero for an empty cart.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total follows add, remove and clear actions.</a:t>
            </a:r>
          </a:p>
        </p:txBody>
      </p:sp>
      <p:sp>
        <p:nvSpPr>
          <p:cNvPr id="4" name="">
            <a:extLst xmlns:a="http://schemas.openxmlformats.org/drawingml/2006/main">
              <a:ext uri="{FF2B5EF4-FFF2-40B4-BE49-F238E27FC236}">
                <a16:creationId xmlns:a16="http://schemas.microsoft.com/office/drawing/2014/main" id="{2E3353C5-1E63-4B5A-8A0E-2C0D24B842F2}"/>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cartTotal = cart.reduce(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(sum, product) =&gt; sum + product.price,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0</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Notebook + Bag = 80 + 500</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cartTotal = 580</a:t>
            </a:r>
          </a:p>
        </p:txBody>
      </p:sp>
      <p:sp>
        <p:nvSpPr>
          <p:cNvPr id="5" name="">
            <a:extLst xmlns:a="http://schemas.openxmlformats.org/drawingml/2006/main">
              <a:ext uri="{FF2B5EF4-FFF2-40B4-BE49-F238E27FC236}">
                <a16:creationId xmlns:a16="http://schemas.microsoft.com/office/drawing/2014/main" id="{3A5372FD-BE14-47A1-BB21-D9099541EE8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Two items cost ₹580 in this practice cart</a:t>
            </a:r>
          </a:p>
        </p:txBody>
      </p:sp>
      <p:sp>
        <p:nvSpPr>
          <p:cNvPr id="6" name="">
            <a:extLst xmlns:a="http://schemas.openxmlformats.org/drawingml/2006/main">
              <a:ext uri="{FF2B5EF4-FFF2-40B4-BE49-F238E27FC236}">
                <a16:creationId xmlns:a16="http://schemas.microsoft.com/office/drawing/2014/main" id="{45149D33-0C9E-440F-A260-2169947589D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21</a:t>
            </a:r>
          </a:p>
        </p:txBody>
      </p:sp>
    </p:spTree>
    <p:extLst>
      <p:ext uri="{BB962C8B-B14F-4D97-AF65-F5344CB8AC3E}">
        <p14:creationId xmlns:p14="http://schemas.microsoft.com/office/powerpoint/2010/main" val="1661572830"/>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2A2DEE-FAC9-4E83-BF95-FA1A7F38554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FORMS</a:t>
            </a:r>
          </a:p>
        </p:txBody>
      </p:sp>
      <p:sp>
        <p:nvSpPr>
          <p:cNvPr id="2" name="">
            <a:extLst xmlns:a="http://schemas.openxmlformats.org/drawingml/2006/main">
              <a:ext uri="{FF2B5EF4-FFF2-40B4-BE49-F238E27FC236}">
                <a16:creationId xmlns:a16="http://schemas.microsoft.com/office/drawing/2014/main" id="{D07F2595-855A-4888-9726-F766589C3D4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Form submission</a:t>
            </a:r>
          </a:p>
        </p:txBody>
      </p:sp>
      <p:sp>
        <p:nvSpPr>
          <p:cNvPr id="3" name="">
            <a:extLst xmlns:a="http://schemas.openxmlformats.org/drawingml/2006/main">
              <a:ext uri="{FF2B5EF4-FFF2-40B4-BE49-F238E27FC236}">
                <a16:creationId xmlns:a16="http://schemas.microsoft.com/office/drawing/2014/main" id="{B0B95FA6-A587-4FAE-BC30-E992AEEAC03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onSubmit handles the form submission.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preventDefault keeps the browser on this page.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submit button and Enter both use the handler.</a:t>
            </a:r>
          </a:p>
        </p:txBody>
      </p:sp>
      <p:sp>
        <p:nvSpPr>
          <p:cNvPr id="4" name="">
            <a:extLst xmlns:a="http://schemas.openxmlformats.org/drawingml/2006/main">
              <a:ext uri="{FF2B5EF4-FFF2-40B4-BE49-F238E27FC236}">
                <a16:creationId xmlns:a16="http://schemas.microsoft.com/office/drawing/2014/main" id="{710400FA-322B-44AD-8737-9E3D859BEC3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function handleSubmit(event)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event.preventDefault();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setSavedNote(note.trim());</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&lt;form onSubmit={handleSubmit}&gt;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controlled note input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&lt;button type="submit"&gt;Save note&lt;/button&gt;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&lt;/form&gt;</a:t>
            </a:r>
          </a:p>
        </p:txBody>
      </p:sp>
      <p:sp>
        <p:nvSpPr>
          <p:cNvPr id="5" name="">
            <a:extLst xmlns:a="http://schemas.openxmlformats.org/drawingml/2006/main">
              <a:ext uri="{FF2B5EF4-FFF2-40B4-BE49-F238E27FC236}">
                <a16:creationId xmlns:a16="http://schemas.microsoft.com/office/drawing/2014/main" id="{F327A647-8768-4204-B0E9-B670D38E81C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Gift wrap please appears as the saved note</a:t>
            </a:r>
          </a:p>
        </p:txBody>
      </p:sp>
      <p:sp>
        <p:nvSpPr>
          <p:cNvPr id="6" name="">
            <a:extLst xmlns:a="http://schemas.openxmlformats.org/drawingml/2006/main">
              <a:ext uri="{FF2B5EF4-FFF2-40B4-BE49-F238E27FC236}">
                <a16:creationId xmlns:a16="http://schemas.microsoft.com/office/drawing/2014/main" id="{8042FDE8-F4AA-4A24-8B59-2B1E31AB759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22</a:t>
            </a:r>
          </a:p>
        </p:txBody>
      </p:sp>
    </p:spTree>
    <p:extLst>
      <p:ext uri="{BB962C8B-B14F-4D97-AF65-F5344CB8AC3E}">
        <p14:creationId xmlns:p14="http://schemas.microsoft.com/office/powerpoint/2010/main" val="421415645"/>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12B812-67D1-45F3-B3EB-F0A447650D6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RESET</a:t>
            </a:r>
          </a:p>
        </p:txBody>
      </p:sp>
      <p:sp>
        <p:nvSpPr>
          <p:cNvPr id="2" name="">
            <a:extLst xmlns:a="http://schemas.openxmlformats.org/drawingml/2006/main">
              <a:ext uri="{FF2B5EF4-FFF2-40B4-BE49-F238E27FC236}">
                <a16:creationId xmlns:a16="http://schemas.microsoft.com/office/drawing/2014/main" id="{9DF3660D-0993-4878-84E5-CF0E33E28714}"/>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Resetting selected state</a:t>
            </a:r>
          </a:p>
        </p:txBody>
      </p:sp>
      <p:sp>
        <p:nvSpPr>
          <p:cNvPr id="3" name="">
            <a:extLst xmlns:a="http://schemas.openxmlformats.org/drawingml/2006/main">
              <a:ext uri="{FF2B5EF4-FFF2-40B4-BE49-F238E27FC236}">
                <a16:creationId xmlns:a16="http://schemas.microsoft.com/office/drawing/2014/main" id="{24016A95-5C1E-4255-B392-4F1D47A1F66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Reset filters sets their initial values again.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Clearing the cart uses a new empty array.</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Each action changes only the state it targets.</a:t>
            </a:r>
          </a:p>
        </p:txBody>
      </p:sp>
      <p:sp>
        <p:nvSpPr>
          <p:cNvPr id="4" name="">
            <a:extLst xmlns:a="http://schemas.openxmlformats.org/drawingml/2006/main">
              <a:ext uri="{FF2B5EF4-FFF2-40B4-BE49-F238E27FC236}">
                <a16:creationId xmlns:a16="http://schemas.microsoft.com/office/drawing/2014/main" id="{452A472C-D522-44B2-B1A5-5FF30076761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function handleResetFilters()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setSearch('');</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setCategory('All');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setOnlyInStock(false);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Clear cart button callback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onClick={() =&gt; setCart([])}</a:t>
            </a:r>
          </a:p>
        </p:txBody>
      </p:sp>
      <p:sp>
        <p:nvSpPr>
          <p:cNvPr id="5" name="">
            <a:extLst xmlns:a="http://schemas.openxmlformats.org/drawingml/2006/main">
              <a:ext uri="{FF2B5EF4-FFF2-40B4-BE49-F238E27FC236}">
                <a16:creationId xmlns:a16="http://schemas.microsoft.com/office/drawing/2014/main" id="{431971CA-477B-4657-828F-3A953B39DEA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Reset filters preserves the selected cart items</a:t>
            </a:r>
          </a:p>
        </p:txBody>
      </p:sp>
      <p:sp>
        <p:nvSpPr>
          <p:cNvPr id="6" name="">
            <a:extLst xmlns:a="http://schemas.openxmlformats.org/drawingml/2006/main">
              <a:ext uri="{FF2B5EF4-FFF2-40B4-BE49-F238E27FC236}">
                <a16:creationId xmlns:a16="http://schemas.microsoft.com/office/drawing/2014/main" id="{0839D854-7503-4657-9F7A-76A29B29D189}"/>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23</a:t>
            </a:r>
          </a:p>
        </p:txBody>
      </p:sp>
    </p:spTree>
    <p:extLst>
      <p:ext uri="{BB962C8B-B14F-4D97-AF65-F5344CB8AC3E}">
        <p14:creationId xmlns:p14="http://schemas.microsoft.com/office/powerpoint/2010/main" val="802763435"/>
      </p:ext>
    </p:extLst>
  </p:cSld>
</p:sld>
</file>

<file path=ppt/slides/slide24.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D5BBBF-AE34-4F54-BABF-B66A383464F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HANDS-ON · WALKTHROUGH</a:t>
            </a:r>
          </a:p>
        </p:txBody>
      </p:sp>
      <p:sp>
        <p:nvSpPr>
          <p:cNvPr id="2" name="">
            <a:extLst xmlns:a="http://schemas.openxmlformats.org/drawingml/2006/main">
              <a:ext uri="{FF2B5EF4-FFF2-40B4-BE49-F238E27FC236}">
                <a16:creationId xmlns:a16="http://schemas.microsoft.com/office/drawing/2014/main" id="{AEF40004-0D30-4BC1-A0EE-4D5263556AA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Our interactive Product Catalog</a:t>
            </a:r>
          </a:p>
        </p:txBody>
      </p:sp>
      <p:pic>
        <p:nvPicPr>
          <p:cNvPr id="3" name="">
            <a:extLst xmlns:a="http://schemas.openxmlformats.org/drawingml/2006/main">
              <a:ext uri="{FF2B5EF4-FFF2-40B4-BE49-F238E27FC236}">
                <a16:creationId xmlns:a16="http://schemas.microsoft.com/office/drawing/2014/main" id="{E4245037-ED7F-4463-B0B1-7CEEAA6E15E8}"/>
              </a:ext>
            </a:extLst>
          </p:cNvPr>
          <p:cNvPicPr>
            <a:picLocks xmlns:a="http://schemas.openxmlformats.org/drawingml/2006/main" noChangeAspect="1"/>
          </p:cNvPicPr>
          <p:nvPr/>
        </p:nvPicPr>
        <p:blipFill>
          <a:blip xmlns:r="http://schemas.openxmlformats.org/officeDocument/2006/relationships" xmlns:a="http://schemas.openxmlformats.org/drawingml/2006/main" r:embed="R20e569f9087b4c48"/>
          <a:srcRect xmlns:a="http://schemas.openxmlformats.org/drawingml/2006/main" l="0" t="0" r="0" b="0"/>
          <a:stretch xmlns:a="http://schemas.openxmlformats.org/drawingml/2006/main"/>
        </p:blipFill>
        <p:spPr>
          <a:xfrm xmlns:a="http://schemas.openxmlformats.org/drawingml/2006/main">
            <a:off x="6016441" y="2095500"/>
            <a:ext cx="5016867" cy="4048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420A99-1D36-49AA-94E6-4F58340517B9}"/>
              </a:ext>
            </a:extLst>
          </p:cNvPr>
          <p:cNvSpPr>
            <a:spLocks xmlns:a="http://schemas.openxmlformats.org/drawingml/2006/main" noGrp="1"/>
          </p:cNvSpPr>
          <p:nvPr/>
        </p:nvSpPr>
        <p:spPr>
          <a:xfrm xmlns:a="http://schemas.openxmlformats.org/drawingml/2006/main">
            <a:off x="609600" y="2209800"/>
            <a:ext cx="442912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The catalog starts with four products.</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Search and filters change the visible cards.</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The cart displays selected items and a total.</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The note form demonstrates submit handling.</a:t>
            </a:r>
          </a:p>
        </p:txBody>
      </p:sp>
      <p:sp>
        <p:nvSpPr>
          <p:cNvPr id="5" name="">
            <a:extLst xmlns:a="http://schemas.openxmlformats.org/drawingml/2006/main">
              <a:ext uri="{FF2B5EF4-FFF2-40B4-BE49-F238E27FC236}">
                <a16:creationId xmlns:a16="http://schemas.microsoft.com/office/drawing/2014/main" id="{AA6A2F74-AF31-4A60-A5A7-44620A01F75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24</a:t>
            </a:r>
          </a:p>
        </p:txBody>
      </p:sp>
    </p:spTree>
    <p:extLst>
      <p:ext uri="{BB962C8B-B14F-4D97-AF65-F5344CB8AC3E}">
        <p14:creationId xmlns:p14="http://schemas.microsoft.com/office/powerpoint/2010/main" val="53053803"/>
      </p:ext>
    </p:extLst>
  </p:cSld>
</p:sld>
</file>

<file path=ppt/slides/slide2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D290A5-A802-4E3B-B6F4-7579301C0F6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HANDS-ON · DATA FLOW</a:t>
            </a:r>
          </a:p>
        </p:txBody>
      </p:sp>
      <p:sp>
        <p:nvSpPr>
          <p:cNvPr id="2" name="">
            <a:extLst xmlns:a="http://schemas.openxmlformats.org/drawingml/2006/main">
              <a:ext uri="{FF2B5EF4-FFF2-40B4-BE49-F238E27FC236}">
                <a16:creationId xmlns:a16="http://schemas.microsoft.com/office/drawing/2014/main" id="{267DD854-081E-430F-B021-095AC41E7711}"/>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The files behind one click</a:t>
            </a:r>
          </a:p>
        </p:txBody>
      </p:sp>
      <p:sp>
        <p:nvSpPr>
          <p:cNvPr id="3" name="">
            <a:extLst xmlns:a="http://schemas.openxmlformats.org/drawingml/2006/main">
              <a:ext uri="{FF2B5EF4-FFF2-40B4-BE49-F238E27FC236}">
                <a16:creationId xmlns:a16="http://schemas.microsoft.com/office/drawing/2014/main" id="{C5B2B246-09B5-450D-A690-F8B3425C7C0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App declares state and cart handlers.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FilterBar supplies controlled inputs.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ProductCard calls onAddToCart(product).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CartPanel calls onRemove(product.id).</a:t>
            </a:r>
          </a:p>
        </p:txBody>
      </p:sp>
      <p:sp>
        <p:nvSpPr>
          <p:cNvPr id="4" name="">
            <a:extLst xmlns:a="http://schemas.openxmlformats.org/drawingml/2006/main">
              <a:ext uri="{FF2B5EF4-FFF2-40B4-BE49-F238E27FC236}">
                <a16:creationId xmlns:a16="http://schemas.microsoft.com/office/drawing/2014/main" id="{8415F727-0BCC-4817-B56B-DA175B9C5AB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src/</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App.jsx</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components/FilterBar.jsx</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components/ProductCard.jsx</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components/CartPanel.jsx</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components/PracticeNote.jsx</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lessons/day-three-state.js</a:t>
            </a:r>
          </a:p>
        </p:txBody>
      </p:sp>
      <p:sp>
        <p:nvSpPr>
          <p:cNvPr id="5" name="">
            <a:extLst xmlns:a="http://schemas.openxmlformats.org/drawingml/2006/main">
              <a:ext uri="{FF2B5EF4-FFF2-40B4-BE49-F238E27FC236}">
                <a16:creationId xmlns:a16="http://schemas.microsoft.com/office/drawing/2014/main" id="{569A30F0-AD7E-4821-9026-603875AFE62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user action reaches the parent through a callback</a:t>
            </a:r>
          </a:p>
        </p:txBody>
      </p:sp>
      <p:sp>
        <p:nvSpPr>
          <p:cNvPr id="6" name="">
            <a:extLst xmlns:a="http://schemas.openxmlformats.org/drawingml/2006/main">
              <a:ext uri="{FF2B5EF4-FFF2-40B4-BE49-F238E27FC236}">
                <a16:creationId xmlns:a16="http://schemas.microsoft.com/office/drawing/2014/main" id="{DFFB4860-FBFE-404E-9C14-2E746FDEDAE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25</a:t>
            </a:r>
          </a:p>
        </p:txBody>
      </p:sp>
    </p:spTree>
    <p:extLst>
      <p:ext uri="{BB962C8B-B14F-4D97-AF65-F5344CB8AC3E}">
        <p14:creationId xmlns:p14="http://schemas.microsoft.com/office/powerpoint/2010/main" val="359607155"/>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E10BAD-D10D-40B0-9A76-583CB0547B8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HANDS-ON · DEMO</a:t>
            </a:r>
          </a:p>
        </p:txBody>
      </p:sp>
      <p:sp>
        <p:nvSpPr>
          <p:cNvPr id="2" name="">
            <a:extLst xmlns:a="http://schemas.openxmlformats.org/drawingml/2006/main">
              <a:ext uri="{FF2B5EF4-FFF2-40B4-BE49-F238E27FC236}">
                <a16:creationId xmlns:a16="http://schemas.microsoft.com/office/drawing/2014/main" id="{538C77B9-AEFD-4AD8-84B8-F4396A9A433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Search, filter and cart experiments</a:t>
            </a:r>
          </a:p>
        </p:txBody>
      </p:sp>
      <p:sp>
        <p:nvSpPr>
          <p:cNvPr id="3" name="">
            <a:extLst xmlns:a="http://schemas.openxmlformats.org/drawingml/2006/main">
              <a:ext uri="{FF2B5EF4-FFF2-40B4-BE49-F238E27FC236}">
                <a16:creationId xmlns:a16="http://schemas.microsoft.com/office/drawing/2014/main" id="{CE8DD210-84F5-45A8-AAB8-B365C82BDB68}"/>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Type NOTE and observe Notebook.</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Choose Accessories and check In stock only.</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Reset filters, then add Notebook and Bag.</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Remove Notebook, then clear the cart.</a:t>
            </a:r>
          </a:p>
        </p:txBody>
      </p:sp>
      <p:sp>
        <p:nvSpPr>
          <p:cNvPr id="4" name="">
            <a:extLst xmlns:a="http://schemas.openxmlformats.org/drawingml/2006/main">
              <a:ext uri="{FF2B5EF4-FFF2-40B4-BE49-F238E27FC236}">
                <a16:creationId xmlns:a16="http://schemas.microsoft.com/office/drawing/2014/main" id="{2240641B-F8F2-4C32-A644-7F13917539D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Expected observations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NOTE  ' matches Notebook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Accessories + stock matches Bag</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Notebook + Bag costs ₹580</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Remove Notebook: ₹500</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Clear cart: 0 items and ₹0</a:t>
            </a:r>
          </a:p>
        </p:txBody>
      </p:sp>
      <p:sp>
        <p:nvSpPr>
          <p:cNvPr id="5" name="">
            <a:extLst xmlns:a="http://schemas.openxmlformats.org/drawingml/2006/main">
              <a:ext uri="{FF2B5EF4-FFF2-40B4-BE49-F238E27FC236}">
                <a16:creationId xmlns:a16="http://schemas.microsoft.com/office/drawing/2014/main" id="{B4287DDD-8254-4CD0-95CC-731D19C137C5}"/>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Browser controls now update the screen directly</a:t>
            </a:r>
          </a:p>
        </p:txBody>
      </p:sp>
      <p:sp>
        <p:nvSpPr>
          <p:cNvPr id="6" name="">
            <a:extLst xmlns:a="http://schemas.openxmlformats.org/drawingml/2006/main">
              <a:ext uri="{FF2B5EF4-FFF2-40B4-BE49-F238E27FC236}">
                <a16:creationId xmlns:a16="http://schemas.microsoft.com/office/drawing/2014/main" id="{CFD15B07-F5BA-41AD-AE88-86DCF9D2411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26</a:t>
            </a:r>
          </a:p>
        </p:txBody>
      </p:sp>
    </p:spTree>
    <p:extLst>
      <p:ext uri="{BB962C8B-B14F-4D97-AF65-F5344CB8AC3E}">
        <p14:creationId xmlns:p14="http://schemas.microsoft.com/office/powerpoint/2010/main" val="1017720661"/>
      </p:ext>
    </p:extLst>
  </p:cSld>
</p:sld>
</file>

<file path=ppt/slides/slide2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8B4A46-48F3-4EA6-99D7-C85C7AB2DDE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HANDS-ON · YOUR TURN</a:t>
            </a:r>
          </a:p>
        </p:txBody>
      </p:sp>
      <p:sp>
        <p:nvSpPr>
          <p:cNvPr id="2" name="">
            <a:extLst xmlns:a="http://schemas.openxmlformats.org/drawingml/2006/main">
              <a:ext uri="{FF2B5EF4-FFF2-40B4-BE49-F238E27FC236}">
                <a16:creationId xmlns:a16="http://schemas.microsoft.com/office/drawing/2014/main" id="{D7B35481-FB27-4CC4-8AEE-22D49B0CB1CD}"/>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category visibility checkbox</a:t>
            </a:r>
          </a:p>
        </p:txBody>
      </p:sp>
      <p:sp>
        <p:nvSpPr>
          <p:cNvPr id="3" name="">
            <a:extLst xmlns:a="http://schemas.openxmlformats.org/drawingml/2006/main">
              <a:ext uri="{FF2B5EF4-FFF2-40B4-BE49-F238E27FC236}">
                <a16:creationId xmlns:a16="http://schemas.microsoft.com/office/drawing/2014/main" id="{8454BE56-B8D6-4128-9AAD-19FF9AEDD6C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Create showCategory state in App.</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Add a Show categories checkbox.</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Pass the value into ProductList.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Check that prices stay visible in both cases.</a:t>
            </a:r>
          </a:p>
        </p:txBody>
      </p:sp>
      <p:sp>
        <p:nvSpPr>
          <p:cNvPr id="4" name="">
            <a:extLst xmlns:a="http://schemas.openxmlformats.org/drawingml/2006/main">
              <a:ext uri="{FF2B5EF4-FFF2-40B4-BE49-F238E27FC236}">
                <a16:creationId xmlns:a16="http://schemas.microsoft.com/office/drawing/2014/main" id="{2D5F3749-33F9-474A-8091-ED761124E52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[showCategory, setShowCategory]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useState(true);</a:t>
            </a:r>
          </a:p>
          <a:p xmlns:a="http://schemas.openxmlformats.org/drawingml/2006/main">
            <a:pPr algn="l">
              <a:buNone/>
              <a:defRPr sz="1875" b="0">
                <a:solidFill>
                  <a:srgbClr val="087B80"/>
                </a:solidFill>
                <a:latin typeface="Consolas"/>
                <a:ea typeface="Consolas"/>
                <a:cs typeface="Consolas"/>
              </a:defRPr>
            </a:pPr>
            <a:r>
              <a:rPr sz="1875"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&lt;ProductList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products={visibleProducts}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cart={cart}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onAddToCart={handleAddToCart}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showCategory={showCategory}</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/&gt;</a:t>
            </a:r>
          </a:p>
        </p:txBody>
      </p:sp>
      <p:sp>
        <p:nvSpPr>
          <p:cNvPr id="5" name="">
            <a:extLst xmlns:a="http://schemas.openxmlformats.org/drawingml/2006/main">
              <a:ext uri="{FF2B5EF4-FFF2-40B4-BE49-F238E27FC236}">
                <a16:creationId xmlns:a16="http://schemas.microsoft.com/office/drawing/2014/main" id="{33250BA9-D418-4B01-AA96-5C853509582C}"/>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Unchecking hides category paragraphs on every card</a:t>
            </a:r>
          </a:p>
        </p:txBody>
      </p:sp>
      <p:sp>
        <p:nvSpPr>
          <p:cNvPr id="6" name="">
            <a:extLst xmlns:a="http://schemas.openxmlformats.org/drawingml/2006/main">
              <a:ext uri="{FF2B5EF4-FFF2-40B4-BE49-F238E27FC236}">
                <a16:creationId xmlns:a16="http://schemas.microsoft.com/office/drawing/2014/main" id="{690AAA13-FDC8-430C-A69D-B4C2071AEE5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27</a:t>
            </a:r>
          </a:p>
        </p:txBody>
      </p:sp>
    </p:spTree>
    <p:extLst>
      <p:ext uri="{BB962C8B-B14F-4D97-AF65-F5344CB8AC3E}">
        <p14:creationId xmlns:p14="http://schemas.microsoft.com/office/powerpoint/2010/main" val="836216623"/>
      </p:ext>
    </p:extLst>
  </p:cSld>
</p:sld>
</file>

<file path=ppt/slides/slide2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B8D695-4211-45A9-89CC-B8DD40D575A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TROUBLESHOOTING</a:t>
            </a:r>
          </a:p>
        </p:txBody>
      </p:sp>
      <p:sp>
        <p:nvSpPr>
          <p:cNvPr id="2" name="">
            <a:extLst xmlns:a="http://schemas.openxmlformats.org/drawingml/2006/main">
              <a:ext uri="{FF2B5EF4-FFF2-40B4-BE49-F238E27FC236}">
                <a16:creationId xmlns:a16="http://schemas.microsoft.com/office/drawing/2014/main" id="{50FD0D22-B800-4749-91A2-A977DD538B8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Common Day 3 mistakes</a:t>
            </a:r>
          </a:p>
        </p:txBody>
      </p:sp>
      <p:sp>
        <p:nvSpPr>
          <p:cNvPr id="3" name="">
            <a:extLst xmlns:a="http://schemas.openxmlformats.org/drawingml/2006/main">
              <a:ext uri="{FF2B5EF4-FFF2-40B4-BE49-F238E27FC236}">
                <a16:creationId xmlns:a16="http://schemas.microsoft.com/office/drawing/2014/main" id="{536AA501-0592-469E-9BC3-B33F5DC93AD6}"/>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Calling a handler while rendering.</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Changing an array with push or splice.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Reading value for a checkbox’s boolean.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Supplying value without an onChange setter.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Calling a Hook inside a condition.</a:t>
            </a:r>
          </a:p>
        </p:txBody>
      </p:sp>
      <p:sp>
        <p:nvSpPr>
          <p:cNvPr id="4" name="">
            <a:extLst xmlns:a="http://schemas.openxmlformats.org/drawingml/2006/main">
              <a:ext uri="{FF2B5EF4-FFF2-40B4-BE49-F238E27FC236}">
                <a16:creationId xmlns:a16="http://schemas.microsoft.com/office/drawing/2014/main" id="{ED72B4C9-EB36-44CA-894B-ACA052AC23B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60FF92B2-48EE-49A4-B3F1-DC67818FE2E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New array for React state</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setCart(items =&gt; [...items, product]);</a:t>
            </a:r>
          </a:p>
          <a:p xmlns:a="http://schemas.openxmlformats.org/drawingml/2006/main">
            <a:r>
              <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Boolean for a checkbox</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onChange={event =&gt;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setOnlyInStock(event.target.checked)}</a:t>
            </a:r>
          </a:p>
        </p:txBody>
      </p:sp>
      <p:sp>
        <p:nvSpPr>
          <p:cNvPr id="7" name="">
            <a:extLst xmlns:a="http://schemas.openxmlformats.org/drawingml/2006/main">
              <a:ext uri="{FF2B5EF4-FFF2-40B4-BE49-F238E27FC236}">
                <a16:creationId xmlns:a16="http://schemas.microsoft.com/office/drawing/2014/main" id="{F0F8B6C2-5A1B-4DD6-9EAC-83578543718E}"/>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A console warning often points to the input or handler</a:t>
            </a:r>
          </a:p>
        </p:txBody>
      </p:sp>
    </p:spTree>
    <p:extLst>
      <p:ext uri="{BB962C8B-B14F-4D97-AF65-F5344CB8AC3E}">
        <p14:creationId xmlns:p14="http://schemas.microsoft.com/office/powerpoint/2010/main" val="70131218"/>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2795CA-0429-4729-9979-D09C691AC8C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QUIZ</a:t>
            </a:r>
          </a:p>
        </p:txBody>
      </p:sp>
      <p:sp>
        <p:nvSpPr>
          <p:cNvPr id="2" name="">
            <a:extLst xmlns:a="http://schemas.openxmlformats.org/drawingml/2006/main">
              <a:ext uri="{FF2B5EF4-FFF2-40B4-BE49-F238E27FC236}">
                <a16:creationId xmlns:a16="http://schemas.microsoft.com/office/drawing/2014/main" id="{EB2BA0F8-D2D6-4C9E-95B2-312CF683047C}"/>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3 knowledge check</a:t>
            </a:r>
          </a:p>
        </p:txBody>
      </p:sp>
      <p:sp>
        <p:nvSpPr>
          <p:cNvPr id="3" name="">
            <a:extLst xmlns:a="http://schemas.openxmlformats.org/drawingml/2006/main">
              <a:ext uri="{FF2B5EF4-FFF2-40B4-BE49-F238E27FC236}">
                <a16:creationId xmlns:a16="http://schemas.microsoft.com/office/drawing/2014/main" id="{2BB9C2CD-2DB1-43E2-98B4-35585FE49917}"/>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1. When should a click handler execute?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2. What does useState return?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3. Which checkbox property gives a boolean?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4. Why return a new cart array?</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5. Where should shared cart state live?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6. What does preventDefault do here?</a:t>
            </a:r>
          </a:p>
        </p:txBody>
      </p:sp>
      <p:sp>
        <p:nvSpPr>
          <p:cNvPr id="4" name="">
            <a:extLst xmlns:a="http://schemas.openxmlformats.org/drawingml/2006/main">
              <a:ext uri="{FF2B5EF4-FFF2-40B4-BE49-F238E27FC236}">
                <a16:creationId xmlns:a16="http://schemas.microsoft.com/office/drawing/2014/main" id="{C7C5F717-7DEA-4822-9923-B3435BD1B54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29</a:t>
            </a:r>
          </a:p>
        </p:txBody>
      </p:sp>
    </p:spTree>
    <p:extLst>
      <p:ext uri="{BB962C8B-B14F-4D97-AF65-F5344CB8AC3E}">
        <p14:creationId xmlns:p14="http://schemas.microsoft.com/office/powerpoint/2010/main" val="1329344756"/>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TRY AT HOME</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Recap and learning references</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Events call handlers that request state updates.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Controlled inputs display the current state.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The cart total derives from selected products.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Try at home: add a price limit filter.</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React learning guides: react.dev/learn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Next: useEffect and loading JSON products.</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30</a:t>
            </a:r>
          </a:p>
        </p:txBody>
      </p:sp>
    </p:spTree>
    <p:extLst>
      <p:ext uri="{BB962C8B-B14F-4D97-AF65-F5344CB8AC3E}">
        <p14:creationId xmlns:p14="http://schemas.microsoft.com/office/powerpoint/2010/main" val="837956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2026-10-11T17:15:44.7860000Z</dcterms:created>
  <dcterms:modified xsi:type="dcterms:W3CDTF">2026-10-11T17:15:44.7860000Z</dcterms:modified>
</coreProperties>
</file>