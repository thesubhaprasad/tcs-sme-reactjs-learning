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Introduce yourself without inventing credentials. Ask learners to type their name and JavaScript experience in Teams chat.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this index to establish the learning path. Advanced syntax slides can be revisited after the session.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a building analogy briefly: structure, appearance, behaviour. Explain that JSX looks like HTML but is JavaScript syntax.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57" name="Google Shape;5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https://react.dev/learn/your-first-component and https://react.dev/learn/render-and-commit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src/lessons/javascript-basics.js. Ask which value describes a yes/no condition.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Explain that const does not freeze object properties. Use const by default and let when reassignment is required.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90" name="Google Shape;9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Ask learners to add location: Kolkata. Objects can contain many types of values.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101" name="Google Shape;1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Relate this to the assets array in src/data/assets.js.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112" name="Google Shape;11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Identify definition and call separately. Without return this function would return undefined.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123" name="Google Shape;12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true/false examples. Explain ? and : slowly.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134" name="Google Shape;13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Explain arrow as function syntax before using map. Differences in this binding are outside today’s core scope.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145" name="Google Shape;14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Show the input items and the returned names one at a time. Source: https://developer.mozilla.org/en-US/docs/Web/JavaScript/Reference/Global_Objects/Array/map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156" name="Google Shape;15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ready.length to connect the example to the dashboard count.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167" name="Google Shape;16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Optional deeper explanation after class if learners need more time on functions. Nested objects still share references in a shallow copy.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178" name="Google Shape;17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Explain named exports and matching braces. App uses a default export for its main component.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189" name="Google Shape;18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Clone the codex/day-one branch using the README command, then run these commands. Use an organisation-approved compatible Node version. Source: https://vite.dev/guide/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00" name="Google Shape;20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the files in this order during the demo. Explain the root div in index.html.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11" name="Google Shape;211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https://react.dev/learn/your-first-component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22" name="Google Shape;22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https://react.dev/learn/writing-markup-with-jsx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33" name="Google Shape;23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https://react.dev/learn/javascript-in-jsx-with-curly-braces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44" name="Google Shape;24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Introduce props only enough to understand the guided project. Day 2 covers props in depth. Source: https://react.dev/learn/passing-props-to-a-component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55" name="Google Shape;255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key is a special React attribute, not a normal prop. Source: https://react.dev/learn/rendering-lists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66" name="Google Shape;266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npm run check:lessons. Show how count, name, location and status come from data. Keep this walkthrough inside the 20-minute React/demo block.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77" name="Google Shape;277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10 minutes. First 2 min demonstrate the file, next 6 min learner work, final 2 min verify. Keep IDs unique.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87" name="Google Shape;287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Show one console error and its file location. If setup fails, learners can edit the JavaScript lesson and predict the expected output.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298" name="Google Shape;298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Ask learners to respond in Teams chat before revealing answers. Answers: let, map, filter, a JavaScript expression, a capital letter.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307" name="Google Shape;307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Ask a learner to explain the route from assets.js to the browser. Homework: serialNumber and Assigned count. Day 2: deeper props, conditions and component reuse.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316" name="Google Shape;316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20–30 minutes homework. Official TCS E1 syllabus and assessment rules govern certification coverage. Sources: https://react.dev/learn https://developer.mozilla.org/en-US/docs/Web/JavaScript/Guide https://vite.dev/guide/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Teaching approach: explain the value, predict the output, then run the example. Code blocks are excerpts unless shown as complete components.</a:t>
            </a:r>
            <a:endParaRPr/>
          </a:p>
        </p:txBody>
      </p:sp>
      <p:sp>
        <p:nvSpPr>
          <p:cNvPr id="325" name="Google Shape;325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749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92E8D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609600" y="952500"/>
            <a:ext cx="10477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ReactJS · Day One</a:t>
            </a:r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2000250"/>
            <a:ext cx="51435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8"/>
          <p:cNvSpPr/>
          <p:nvPr/>
        </p:nvSpPr>
        <p:spPr>
          <a:xfrm>
            <a:off x="609600" y="2381250"/>
            <a:ext cx="55245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JavaScript foundations and your first React screen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Subha Prasad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 October 2026 · 10:00–11:00 AM IST</a:t>
            </a:r>
            <a:endParaRPr/>
          </a:p>
        </p:txBody>
      </p:sp>
      <p:sp>
        <p:nvSpPr>
          <p:cNvPr id="35" name="Google Shape;35;p8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2B4C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42" name="Google Shape;42;p9"/>
          <p:cNvSpPr/>
          <p:nvPr/>
        </p:nvSpPr>
        <p:spPr>
          <a:xfrm>
            <a:off x="609600" y="952500"/>
            <a:ext cx="10477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Meet your trainer</a:t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609600" y="2209800"/>
            <a:ext cx="10477500" cy="347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Subha Prasad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TCS · Assets Consultant (C3A)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SME trainer for this ReactJS learning programme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25">
              <a:solidFill>
                <a:srgbClr val="203B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Today we learn through fictional asset data.</a:t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TOPIC INDEX</a:t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>
            <a:off x="609600" y="952500"/>
            <a:ext cx="10477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Today’s topic index</a:t>
            </a:r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609600" y="2209800"/>
            <a:ext cx="10477500" cy="347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01  The web and React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02  JavaScript values and variables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03  Objects, arrays and functions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04  map, filter and modules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05  React setup, components and JSX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06  Asset Dashboard hands-on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07  Quiz and next steps</a:t>
            </a:r>
            <a:endParaRPr/>
          </a:p>
        </p:txBody>
      </p:sp>
      <p:sp>
        <p:nvSpPr>
          <p:cNvPr id="53" name="Google Shape;53;p10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WEB FOUNDATIONS</a:t>
            </a:r>
            <a:endParaRPr/>
          </a:p>
        </p:txBody>
      </p:sp>
      <p:sp>
        <p:nvSpPr>
          <p:cNvPr id="60" name="Google Shape;60;p11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HTML, CSS and JavaScript</a:t>
            </a:r>
            <a:endParaRPr/>
          </a:p>
        </p:txBody>
      </p:sp>
      <p:sp>
        <p:nvSpPr>
          <p:cNvPr id="61" name="Google Shape;61;p11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HTML describes the content and structure.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CSS controls appearance and layout.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JavaScript works with data and behaviour.</a:t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&lt;h1&gt;Asset Dashboard&lt;/h1&gt;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75">
              <a:solidFill>
                <a:srgbClr val="087B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h1 { color: teal;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75">
              <a:solidFill>
                <a:srgbClr val="087B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assetCount = 3;</a:t>
            </a: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One heading, one style rule, one value</a:t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REACT INTRODUCTION</a:t>
            </a:r>
            <a:endParaRPr/>
          </a:p>
        </p:txBody>
      </p:sp>
      <p:sp>
        <p:nvSpPr>
          <p:cNvPr id="71" name="Google Shape;71;p12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What React does</a:t>
            </a:r>
            <a:endParaRPr/>
          </a:p>
        </p:txBody>
      </p:sp>
      <p:sp>
        <p:nvSpPr>
          <p:cNvPr id="72" name="Google Shape;72;p12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React is a library for building user interfaces.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 component describes a reusable part of a screen.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Components use data to produce JSX.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React commits necessary changes to the browser DOM.</a:t>
            </a:r>
            <a:endParaRPr/>
          </a:p>
        </p:txBody>
      </p:sp>
      <p:sp>
        <p:nvSpPr>
          <p:cNvPr id="73" name="Google Shape;73;p12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function Heading()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return &lt;h1&gt;Asset Dashboard&lt;/h1&gt;;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74" name="Google Shape;74;p12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&lt;Heading /&gt; displays the heading</a:t>
            </a:r>
            <a:endParaRPr/>
          </a:p>
        </p:txBody>
      </p:sp>
      <p:sp>
        <p:nvSpPr>
          <p:cNvPr id="75" name="Google Shape;75;p12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VALUES</a:t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Values and data types</a:t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 string stores text. A number stores numeric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 boolean represents true or false.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value determines what operations make sense.</a:t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name = 'Laptop';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cost = 50000;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available = true;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console.log(typeof cost);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Console output: number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VARIABLES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const and let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 variable gives a value a name.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const prevents reassignment of the binding.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let allows reassignment when the value changes.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trainer = 'Subha Prasad';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let topic = 'JavaScript';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topic = 'ReactJS';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console.log(topic);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Console output: ReactJS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OBJECTS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An object describes one asset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Properties group related facts.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Each property has a name and a value.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Dot notation reads a property.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asset =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id: 'A-101',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name: 'Laptop',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status: 'Available'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console.log(asset.name);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Console output: Laptop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ARRAYS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An array stores a collection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An array holds an ordered list of values.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Indexes begin at zero.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length gives the number of items.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names = ['Laptop', 'Monitor'];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console.log(names[0]);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console.log(names.length);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Console output: Laptop, then 2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FUNCTIONS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Functions turn inputs into results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 parameter names an input.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function body performs the work.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return sends the result back to the caller.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function getName(asset)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return asset.name;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name = getName({ name: 'Laptop'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console.log(name);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Console output: Laptop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CONDITIONS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Conditions choose an outcome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if runs a branch when its condition is true.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=== compares without type conversion.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ternary is an expression with two outcomes.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status = 'Available';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if (status === 'Available')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console.log('Ready to allocate');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label = status === 'Available'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? 'Ready' : 'In use';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label contains Ready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ARROW FUNCTIONS</a:t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Arrow function syntax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Arrow functions offer compact function syntax.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One expression can return without return.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This form appears often in array callbacks.</a:t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getName = asset =&gt; asset.name;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75">
              <a:solidFill>
                <a:srgbClr val="087B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// Equivalent for this 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function getNameLong(asset)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return asset.name;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Both return the asset’s name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MAP</a:t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map transforms every item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map calls a function for each array item.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It collects the returned values into a new array.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React often uses it to create a list of elements.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assets =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{ name: 'Laptop'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{ name: 'Monitor'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names = assets.map(a =&gt; a.name);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names: ["Laptop", "Monitor"]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FILTER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filter selects matching items</a:t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callback returns true to keep an item.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filter creates a new array of matches.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original array remains available.</a:t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assets =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{ name: 'Laptop', status: 'Available'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{ name: 'Monitor', status: 'Assigned'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ready = assets.filter(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a =&gt; a.status === 'Available'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ready contains only the Laptop object</a:t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MODERN SYNTAX</a:t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Destructuring and spread</a:t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Destructuring reads named properties.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Spread copies properties into another object.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Later properties override earlier values.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copy is shallow.</a:t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asset = { id: 'A-101', status: 'Available'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{ id } = asset;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copy = { ...asset, status: 'Assigned' };</a:t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id: A-101 · original status: Available</a:t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JAVASCRIPT · MODULES</a:t>
            </a:r>
            <a:endParaRPr/>
          </a:p>
        </p:txBody>
      </p:sp>
      <p:sp>
        <p:nvSpPr>
          <p:cNvPr id="192" name="Google Shape;192;p23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import and export</a:t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 module is a file with its own declarations.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export makes a value available to another file.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import reads that exported value.</a:t>
            </a: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// src/data/assets.js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export const assets = [{ id: 'A-101' }];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75">
              <a:solidFill>
                <a:srgbClr val="087B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// src/App.jsx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import { assets } from './data/assets.js';</a:t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App can now read assets</a:t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REACT · SETUP</a:t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prepared training project</a:t>
            </a: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Node.js runs development tools.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Vite serves and builds this React project.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lockfile keeps installations reproducible.</a:t>
            </a:r>
            <a:endParaRPr/>
          </a:p>
        </p:txBody>
      </p:sp>
      <p:sp>
        <p:nvSpPr>
          <p:cNvPr id="205" name="Google Shape;205;p24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// In the cloned project folder: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npm ci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npm run check:lessons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npm run dev</a:t>
            </a:r>
            <a:endParaRPr/>
          </a:p>
        </p:txBody>
      </p:sp>
      <p:sp>
        <p:nvSpPr>
          <p:cNvPr id="206" name="Google Shape;206;p24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Open the local URL printed by Vite</a:t>
            </a:r>
            <a:endParaRPr/>
          </a:p>
        </p:txBody>
      </p:sp>
      <p:sp>
        <p:nvSpPr>
          <p:cNvPr id="207" name="Google Shape;207;p24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REACT · PROJECT STRUCTURE</a:t>
            </a: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Where each piece belongs</a:t>
            </a: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main.jsx mounts React in the root element.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App.jsx composes the page.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AssetCard.jsx displays a single asset.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assets.js supplies fictional data.</a:t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src/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main.jsx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App.jsx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styles.css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components/AssetCard.jsx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data/assets.js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lessons/javascript-basics.js</a:t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Data, component and presentation have clear homes</a:t>
            </a: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REACT · COMPONENTS</a:t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Your first function component</a:t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Component names begin with a capital letter.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function returns the UI it describes.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export default makes this the file’s main export.</a:t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export default function App()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return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  &lt;main&gt;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    &lt;h1&gt;Asset Dashboard&lt;/h1&gt;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  &lt;/main&gt;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App displays the page heading</a:t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REACT · JSX</a:t>
            </a: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JSX rules with an example</a:t>
            </a:r>
            <a:endParaRPr/>
          </a:p>
        </p:txBody>
      </p:sp>
      <p:sp>
        <p:nvSpPr>
          <p:cNvPr id="237" name="Google Shape;237;p27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Return one root element or a fragment.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Close every tag.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Use className for a CSS class.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Use parentheses for multiline returned JSX.</a:t>
            </a:r>
            <a:endParaRPr/>
          </a:p>
        </p:txBody>
      </p:sp>
      <p:sp>
        <p:nvSpPr>
          <p:cNvPr id="238" name="Google Shape;238;p27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return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&lt;&gt;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  &lt;h1 className="title"&gt;Assets&lt;/h1&gt;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  &lt;input aria-label="Asset name"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&lt;/&gt;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The fragment groups elements without an extra div</a:t>
            </a:r>
            <a:endParaRPr/>
          </a:p>
        </p:txBody>
      </p:sp>
      <p:sp>
        <p:nvSpPr>
          <p:cNvPr id="240" name="Google Shape;240;p27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REACT · EXPRESSIONS</a:t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JavaScript values inside JSX</a:t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Braces insert a JavaScript expression.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Use a value, a property or a calculation.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Statements such as if belong outside these braces.</a:t>
            </a:r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trainer = 'Subha Prasad';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const assets = ['Laptop', 'Monitor'];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return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&lt;p&gt;{trainer}: {assets.length} assets&lt;/p&gt;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  <p:sp>
        <p:nvSpPr>
          <p:cNvPr id="250" name="Google Shape;250;p28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Subha Prasad: 2 assets</a:t>
            </a: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REACT · COMPOSITION</a:t>
            </a:r>
            <a:endParaRPr/>
          </a:p>
        </p:txBody>
      </p:sp>
      <p:sp>
        <p:nvSpPr>
          <p:cNvPr id="258" name="Google Shape;258;p29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One component, different data</a:t>
            </a:r>
            <a:endParaRPr/>
          </a:p>
        </p:txBody>
      </p:sp>
      <p:sp>
        <p:nvSpPr>
          <p:cNvPr id="259" name="Google Shape;259;p29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parent supplies an asset through a prop.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child reads its name and status.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Reuse the same component for each asset.</a:t>
            </a:r>
            <a:endParaRPr/>
          </a:p>
        </p:txBody>
      </p:sp>
      <p:sp>
        <p:nvSpPr>
          <p:cNvPr id="260" name="Google Shape;260;p29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function AssetCard({ asset })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return &lt;h3&gt;{asset.name}&lt;/h3&gt;;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75">
              <a:solidFill>
                <a:srgbClr val="087B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&lt;AssetCard asset={{ name: 'Laptop' }}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&lt;AssetCard asset={{ name: 'Monitor' }} /&gt;</a:t>
            </a:r>
            <a:endParaRPr/>
          </a:p>
        </p:txBody>
      </p:sp>
      <p:sp>
        <p:nvSpPr>
          <p:cNvPr id="261" name="Google Shape;261;p29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Two headings: Laptop and Monitor</a:t>
            </a:r>
            <a:endParaRPr/>
          </a:p>
        </p:txBody>
      </p:sp>
      <p:sp>
        <p:nvSpPr>
          <p:cNvPr id="262" name="Google Shape;262;p29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REACT · LISTS</a:t>
            </a:r>
            <a:endParaRPr/>
          </a:p>
        </p:txBody>
      </p:sp>
      <p:sp>
        <p:nvSpPr>
          <p:cNvPr id="269" name="Google Shape;269;p30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Asset data becomes a list</a:t>
            </a:r>
            <a:endParaRPr/>
          </a:p>
        </p:txBody>
      </p:sp>
      <p:sp>
        <p:nvSpPr>
          <p:cNvPr id="270" name="Google Shape;270;p30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map returns one component for each asset.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key identifies each sibling using its stable ID.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The asset prop carries the object into the child.</a:t>
            </a:r>
            <a:endParaRPr/>
          </a:p>
        </p:txBody>
      </p:sp>
      <p:sp>
        <p:nvSpPr>
          <p:cNvPr id="271" name="Google Shape;271;p30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{assets.map(asset =&gt;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&lt;AssetCard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  key={asset.id}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  asset={asset}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))}</a:t>
            </a:r>
            <a:endParaRPr/>
          </a:p>
        </p:txBody>
      </p:sp>
      <p:sp>
        <p:nvSpPr>
          <p:cNvPr id="272" name="Google Shape;272;p30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Three objects produce three asset cards</a:t>
            </a:r>
            <a:endParaRPr/>
          </a:p>
        </p:txBody>
      </p:sp>
      <p:sp>
        <p:nvSpPr>
          <p:cNvPr id="273" name="Google Shape;273;p30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749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92E8DF"/>
                </a:solidFill>
                <a:latin typeface="Arial"/>
                <a:ea typeface="Arial"/>
                <a:cs typeface="Arial"/>
                <a:sym typeface="Arial"/>
              </a:rPr>
              <a:t>HANDS-ON · WALKTHROUGH</a:t>
            </a:r>
            <a:endParaRPr/>
          </a:p>
        </p:txBody>
      </p:sp>
      <p:sp>
        <p:nvSpPr>
          <p:cNvPr id="280" name="Google Shape;280;p31"/>
          <p:cNvSpPr/>
          <p:nvPr/>
        </p:nvSpPr>
        <p:spPr>
          <a:xfrm>
            <a:off x="609600" y="952500"/>
            <a:ext cx="10477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Asset Dashboard demo</a:t>
            </a:r>
            <a:endParaRPr/>
          </a:p>
        </p:txBody>
      </p:sp>
      <p:pic>
        <p:nvPicPr>
          <p:cNvPr id="281" name="Google Shape;28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0053" y="2095500"/>
            <a:ext cx="5589644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1"/>
          <p:cNvSpPr/>
          <p:nvPr/>
        </p:nvSpPr>
        <p:spPr>
          <a:xfrm>
            <a:off x="609600" y="2209800"/>
            <a:ext cx="4381500" cy="347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 the JavaScript lesson and predict its output.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Inspect the three fictional asset objects.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App and find map plus filter.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Follow the asset prop into AssetCard.</a:t>
            </a:r>
            <a:endParaRPr/>
          </a:p>
        </p:txBody>
      </p:sp>
      <p:sp>
        <p:nvSpPr>
          <p:cNvPr id="283" name="Google Shape;283;p31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2B4C2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HANDS-ON · YOUR TURN</a:t>
            </a:r>
            <a:endParaRPr/>
          </a:p>
        </p:txBody>
      </p:sp>
      <p:sp>
        <p:nvSpPr>
          <p:cNvPr id="290" name="Google Shape;290;p32"/>
          <p:cNvSpPr/>
          <p:nvPr/>
        </p:nvSpPr>
        <p:spPr>
          <a:xfrm>
            <a:off x="609600" y="952500"/>
            <a:ext cx="10858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 fourth asset on the screen</a:t>
            </a:r>
            <a:endParaRPr/>
          </a:p>
        </p:txBody>
      </p:sp>
      <p:sp>
        <p:nvSpPr>
          <p:cNvPr id="291" name="Google Shape;291;p32"/>
          <p:cNvSpPr/>
          <p:nvPr/>
        </p:nvSpPr>
        <p:spPr>
          <a:xfrm>
            <a:off x="609600" y="2238375"/>
            <a:ext cx="44291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Add this object to src/data/assets.js.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Save the file and observe the browser.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Explain why both counts changed.</a:t>
            </a:r>
            <a:endParaRPr/>
          </a:p>
        </p:txBody>
      </p:sp>
      <p:sp>
        <p:nvSpPr>
          <p:cNvPr id="292" name="Google Shape;292;p32"/>
          <p:cNvSpPr/>
          <p:nvPr/>
        </p:nvSpPr>
        <p:spPr>
          <a:xfrm>
            <a:off x="5410200" y="2190750"/>
            <a:ext cx="6143625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id: 'A-104',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name: 'Training Mouse',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category: 'Accessory',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status: 'Available',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  location: 'Delhi'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087B8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93" name="Google Shape;293;p32"/>
          <p:cNvSpPr/>
          <p:nvPr/>
        </p:nvSpPr>
        <p:spPr>
          <a:xfrm>
            <a:off x="5410200" y="5667375"/>
            <a:ext cx="60483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85551E"/>
                </a:solidFill>
                <a:latin typeface="Arial"/>
                <a:ea typeface="Arial"/>
                <a:cs typeface="Arial"/>
                <a:sym typeface="Arial"/>
              </a:rPr>
              <a:t>Expected counts: 4 total, 3 available</a:t>
            </a:r>
            <a:endParaRPr/>
          </a:p>
        </p:txBody>
      </p:sp>
      <p:sp>
        <p:nvSpPr>
          <p:cNvPr id="294" name="Google Shape;294;p32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HANDS-ON · TROUBLESHOOTING</a:t>
            </a:r>
            <a:endParaRPr/>
          </a:p>
        </p:txBody>
      </p:sp>
      <p:sp>
        <p:nvSpPr>
          <p:cNvPr id="301" name="Google Shape;301;p33"/>
          <p:cNvSpPr/>
          <p:nvPr/>
        </p:nvSpPr>
        <p:spPr>
          <a:xfrm>
            <a:off x="609600" y="952500"/>
            <a:ext cx="10477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Common Day 1 mistakes</a:t>
            </a:r>
            <a:endParaRPr/>
          </a:p>
        </p:txBody>
      </p:sp>
      <p:sp>
        <p:nvSpPr>
          <p:cNvPr id="302" name="Google Shape;302;p33"/>
          <p:cNvSpPr/>
          <p:nvPr/>
        </p:nvSpPr>
        <p:spPr>
          <a:xfrm>
            <a:off x="609600" y="2209800"/>
            <a:ext cx="10477500" cy="347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 missing comma can break an object or array.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 lowercase component name behaves like an HTML tag.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An import path must match the file location.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 missing list key causes a React warning.</a:t>
            </a:r>
            <a:endParaRPr/>
          </a:p>
        </p:txBody>
      </p:sp>
      <p:sp>
        <p:nvSpPr>
          <p:cNvPr id="303" name="Google Shape;303;p33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QUIZ</a:t>
            </a:r>
            <a:endParaRPr/>
          </a:p>
        </p:txBody>
      </p:sp>
      <p:sp>
        <p:nvSpPr>
          <p:cNvPr id="310" name="Google Shape;310;p34"/>
          <p:cNvSpPr/>
          <p:nvPr/>
        </p:nvSpPr>
        <p:spPr>
          <a:xfrm>
            <a:off x="609600" y="952500"/>
            <a:ext cx="10477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Five questions before we finish</a:t>
            </a:r>
            <a:endParaRPr/>
          </a:p>
        </p:txBody>
      </p:sp>
      <p:sp>
        <p:nvSpPr>
          <p:cNvPr id="311" name="Google Shape;311;p34"/>
          <p:cNvSpPr/>
          <p:nvPr/>
        </p:nvSpPr>
        <p:spPr>
          <a:xfrm>
            <a:off x="609600" y="2209800"/>
            <a:ext cx="10477500" cy="347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1. Which keyword allows reassignment?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2. Which method transforms every array item?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3. Which method selects matching items?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4. What belongs inside JSX braces?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5. How should a component name begin?</a:t>
            </a:r>
            <a:endParaRPr/>
          </a:p>
        </p:txBody>
      </p:sp>
      <p:sp>
        <p:nvSpPr>
          <p:cNvPr id="312" name="Google Shape;312;p34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749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92E8DF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/>
          </a:p>
        </p:txBody>
      </p:sp>
      <p:sp>
        <p:nvSpPr>
          <p:cNvPr id="319" name="Google Shape;319;p35"/>
          <p:cNvSpPr/>
          <p:nvPr/>
        </p:nvSpPr>
        <p:spPr>
          <a:xfrm>
            <a:off x="609600" y="952500"/>
            <a:ext cx="10477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you can now explain</a:t>
            </a:r>
            <a:endParaRPr/>
          </a:p>
        </p:txBody>
      </p:sp>
      <p:sp>
        <p:nvSpPr>
          <p:cNvPr id="320" name="Google Shape;320;p35"/>
          <p:cNvSpPr/>
          <p:nvPr/>
        </p:nvSpPr>
        <p:spPr>
          <a:xfrm>
            <a:off x="609600" y="2209800"/>
            <a:ext cx="10477500" cy="347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JavaScript describes our asset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Functions and array methods work with that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 return JSX to describe the screen.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same AssetCard displays different assets.</a:t>
            </a:r>
            <a:endParaRPr/>
          </a:p>
        </p:txBody>
      </p:sp>
      <p:sp>
        <p:nvSpPr>
          <p:cNvPr id="321" name="Google Shape;321;p35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2B4C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/>
          <p:nvPr/>
        </p:nvSpPr>
        <p:spPr>
          <a:xfrm>
            <a:off x="609600" y="3619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7D83"/>
                </a:solidFill>
                <a:latin typeface="Arial"/>
                <a:ea typeface="Arial"/>
                <a:cs typeface="Arial"/>
                <a:sym typeface="Arial"/>
              </a:rPr>
              <a:t>AFTER CLASS</a:t>
            </a:r>
            <a:endParaRPr/>
          </a:p>
        </p:txBody>
      </p:sp>
      <p:sp>
        <p:nvSpPr>
          <p:cNvPr id="328" name="Google Shape;328;p36"/>
          <p:cNvSpPr/>
          <p:nvPr/>
        </p:nvSpPr>
        <p:spPr>
          <a:xfrm>
            <a:off x="609600" y="952500"/>
            <a:ext cx="10477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Practice and learning references</a:t>
            </a:r>
            <a:endParaRPr/>
          </a:p>
        </p:txBody>
      </p:sp>
      <p:sp>
        <p:nvSpPr>
          <p:cNvPr id="329" name="Google Shape;329;p36"/>
          <p:cNvSpPr/>
          <p:nvPr/>
        </p:nvSpPr>
        <p:spPr>
          <a:xfrm>
            <a:off x="609600" y="2209800"/>
            <a:ext cx="10477500" cy="347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203B4D"/>
                </a:solidFill>
              </a:rPr>
              <a:t>Try at home</a:t>
            </a: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: add serialNumber to each card.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Compute an Assigned count using filter.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Repeat the JavaScript lesson without copying.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25">
              <a:solidFill>
                <a:srgbClr val="203B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React: react.dev/learn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JavaScript: MDN JavaScript Guide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Vite: vite.dev/guide</a:t>
            </a:r>
            <a:b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325">
                <a:solidFill>
                  <a:srgbClr val="203B4D"/>
                </a:solidFill>
              </a:rPr>
              <a:t>C</a:t>
            </a:r>
            <a:r>
              <a:rPr b="0" lang="en-US" sz="2325">
                <a:solidFill>
                  <a:srgbClr val="203B4D"/>
                </a:solidFill>
                <a:latin typeface="Arial"/>
                <a:ea typeface="Arial"/>
                <a:cs typeface="Arial"/>
                <a:sym typeface="Arial"/>
              </a:rPr>
              <a:t>an learn from: </a:t>
            </a:r>
            <a:r>
              <a:rPr lang="en-US" sz="2325">
                <a:solidFill>
                  <a:srgbClr val="203B4D"/>
                </a:solidFill>
              </a:rPr>
              <a:t>w3schools.com/</a:t>
            </a:r>
            <a:endParaRPr/>
          </a:p>
        </p:txBody>
      </p:sp>
      <p:sp>
        <p:nvSpPr>
          <p:cNvPr id="330" name="Google Shape;330;p36"/>
          <p:cNvSpPr/>
          <p:nvPr/>
        </p:nvSpPr>
        <p:spPr>
          <a:xfrm>
            <a:off x="11049000" y="63055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B7F8D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