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da6fd4af3ec4860" /><Relationship Type="http://schemas.openxmlformats.org/officeDocument/2006/relationships/extended-properties" Target="/docProps/app.xml" Id="Rdc7813b63799406a" /><Relationship Type="http://schemas.openxmlformats.org/officeDocument/2006/relationships/officeDocument" Target="/ppt/presentation.xml" Id="Rc727fc5b38d54151" /></Relationships>
</file>

<file path=ppt/presentation.xml><?xml version="1.0" encoding="utf-8"?>
<p:presentation xmlns:p="http://schemas.openxmlformats.org/presentationml/2006/main">
  <p:sldMasterIdLst>
    <p:sldMasterId xmlns:r="http://schemas.openxmlformats.org/officeDocument/2006/relationships" id="2147483648" r:id="Rc47cc5bb16ce49d4"/>
  </p:sldMasterIdLst>
  <p:notesMasterIdLst>
    <p:notesMasterId xmlns:r="http://schemas.openxmlformats.org/officeDocument/2006/relationships" r:id="Re7b5edd1a32b4281"/>
  </p:notesMasterIdLst>
  <p:sldIdLst>
    <p:sldId xmlns:r="http://schemas.openxmlformats.org/officeDocument/2006/relationships" id="256" r:id="R4b888fa4b4c14f99"/>
    <p:sldId xmlns:r="http://schemas.openxmlformats.org/officeDocument/2006/relationships" id="257" r:id="R56e8d3b881964fcc"/>
    <p:sldId xmlns:r="http://schemas.openxmlformats.org/officeDocument/2006/relationships" id="258" r:id="Ra8087bc95ade4055"/>
    <p:sldId xmlns:r="http://schemas.openxmlformats.org/officeDocument/2006/relationships" id="259" r:id="R528bade86f914c78"/>
    <p:sldId xmlns:r="http://schemas.openxmlformats.org/officeDocument/2006/relationships" id="260" r:id="Rb6f7955a7a9946a1"/>
    <p:sldId xmlns:r="http://schemas.openxmlformats.org/officeDocument/2006/relationships" id="261" r:id="Rc376ea80f13a4dd2"/>
    <p:sldId xmlns:r="http://schemas.openxmlformats.org/officeDocument/2006/relationships" id="262" r:id="R354d7ec2ef5a4c7d"/>
    <p:sldId xmlns:r="http://schemas.openxmlformats.org/officeDocument/2006/relationships" id="263" r:id="R1974604876ea4af6"/>
    <p:sldId xmlns:r="http://schemas.openxmlformats.org/officeDocument/2006/relationships" id="264" r:id="Rcdf08be0988c4280"/>
    <p:sldId xmlns:r="http://schemas.openxmlformats.org/officeDocument/2006/relationships" id="265" r:id="R1729f4eccb084563"/>
    <p:sldId xmlns:r="http://schemas.openxmlformats.org/officeDocument/2006/relationships" id="266" r:id="Rcb3418c41acd463c"/>
    <p:sldId xmlns:r="http://schemas.openxmlformats.org/officeDocument/2006/relationships" id="267" r:id="R865204c5c4744e95"/>
    <p:sldId xmlns:r="http://schemas.openxmlformats.org/officeDocument/2006/relationships" id="268" r:id="R8f3c9a3aba094ade"/>
    <p:sldId xmlns:r="http://schemas.openxmlformats.org/officeDocument/2006/relationships" id="269" r:id="R12431f97f45b4693"/>
    <p:sldId xmlns:r="http://schemas.openxmlformats.org/officeDocument/2006/relationships" id="270" r:id="Rd4ce8a7b8c5c47cb"/>
    <p:sldId xmlns:r="http://schemas.openxmlformats.org/officeDocument/2006/relationships" id="271" r:id="Rf7b705261fe74dad"/>
    <p:sldId xmlns:r="http://schemas.openxmlformats.org/officeDocument/2006/relationships" id="272" r:id="R1864136969b64424"/>
    <p:sldId xmlns:r="http://schemas.openxmlformats.org/officeDocument/2006/relationships" id="273" r:id="R4117ea9c537f4934"/>
    <p:sldId xmlns:r="http://schemas.openxmlformats.org/officeDocument/2006/relationships" id="274" r:id="Rc3df137e78584ed9"/>
    <p:sldId xmlns:r="http://schemas.openxmlformats.org/officeDocument/2006/relationships" id="275" r:id="R319677b5141542db"/>
    <p:sldId xmlns:r="http://schemas.openxmlformats.org/officeDocument/2006/relationships" id="276" r:id="Rad438974989b4992"/>
    <p:sldId xmlns:r="http://schemas.openxmlformats.org/officeDocument/2006/relationships" id="277" r:id="R9d5179c2fe7f426f"/>
    <p:sldId xmlns:r="http://schemas.openxmlformats.org/officeDocument/2006/relationships" id="278" r:id="R0682514673d84cff"/>
    <p:sldId xmlns:r="http://schemas.openxmlformats.org/officeDocument/2006/relationships" id="279" r:id="Rfa994ce0e1a74fe0"/>
    <p:sldId xmlns:r="http://schemas.openxmlformats.org/officeDocument/2006/relationships" id="280" r:id="R8d329835d40e4fc4"/>
    <p:sldId xmlns:r="http://schemas.openxmlformats.org/officeDocument/2006/relationships" id="281" r:id="R46d9ed948a7b4c8b"/>
    <p:sldId xmlns:r="http://schemas.openxmlformats.org/officeDocument/2006/relationships" id="282" r:id="R767b2439caa140e3"/>
    <p:sldId xmlns:r="http://schemas.openxmlformats.org/officeDocument/2006/relationships" id="283" r:id="Rb543010686904778"/>
    <p:sldId xmlns:r="http://schemas.openxmlformats.org/officeDocument/2006/relationships" id="284" r:id="Rdf8478711a9d4ead"/>
    <p:sldId xmlns:r="http://schemas.openxmlformats.org/officeDocument/2006/relationships" id="285" r:id="R17ca73ed7ca04a0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4150dac4fd84de7" /><Relationship Type="http://schemas.openxmlformats.org/officeDocument/2006/relationships/slideMaster" Target="/ppt/slideMasters/slideMaster1.xml" Id="Rc47cc5bb16ce49d4" /><Relationship Type="http://schemas.openxmlformats.org/officeDocument/2006/relationships/notesMaster" Target="/ppt/notesMasters/notesMaster1.xml" Id="Re7b5edd1a32b4281" /><Relationship Type="http://schemas.openxmlformats.org/officeDocument/2006/relationships/presProps" Target="/ppt/presProps.xml" Id="Rbe74cad73b31466c" /><Relationship Type="http://schemas.openxmlformats.org/officeDocument/2006/relationships/tableStyles" Target="/ppt/tableStyles.xml" Id="Rb9b584a78aef4ac9" /><Relationship Type="http://schemas.openxmlformats.org/officeDocument/2006/relationships/slide" Target="/ppt/slides/slide1.xml" Id="R4b888fa4b4c14f99" /><Relationship Type="http://schemas.openxmlformats.org/officeDocument/2006/relationships/slide" Target="/ppt/slides/slide2.xml" Id="R56e8d3b881964fcc" /><Relationship Type="http://schemas.openxmlformats.org/officeDocument/2006/relationships/slide" Target="/ppt/slides/slide3.xml" Id="Ra8087bc95ade4055" /><Relationship Type="http://schemas.openxmlformats.org/officeDocument/2006/relationships/slide" Target="/ppt/slides/slide4.xml" Id="R528bade86f914c78" /><Relationship Type="http://schemas.openxmlformats.org/officeDocument/2006/relationships/slide" Target="/ppt/slides/slide5.xml" Id="Rb6f7955a7a9946a1" /><Relationship Type="http://schemas.openxmlformats.org/officeDocument/2006/relationships/slide" Target="/ppt/slides/slide6.xml" Id="Rc376ea80f13a4dd2" /><Relationship Type="http://schemas.openxmlformats.org/officeDocument/2006/relationships/slide" Target="/ppt/slides/slide7.xml" Id="R354d7ec2ef5a4c7d" /><Relationship Type="http://schemas.openxmlformats.org/officeDocument/2006/relationships/slide" Target="/ppt/slides/slide8.xml" Id="R1974604876ea4af6" /><Relationship Type="http://schemas.openxmlformats.org/officeDocument/2006/relationships/slide" Target="/ppt/slides/slide9.xml" Id="Rcdf08be0988c4280" /><Relationship Type="http://schemas.openxmlformats.org/officeDocument/2006/relationships/slide" Target="/ppt/slides/slide10.xml" Id="R1729f4eccb084563" /><Relationship Type="http://schemas.openxmlformats.org/officeDocument/2006/relationships/slide" Target="/ppt/slides/slide11.xml" Id="Rcb3418c41acd463c" /><Relationship Type="http://schemas.openxmlformats.org/officeDocument/2006/relationships/slide" Target="/ppt/slides/slide12.xml" Id="R865204c5c4744e95" /><Relationship Type="http://schemas.openxmlformats.org/officeDocument/2006/relationships/slide" Target="/ppt/slides/slide13.xml" Id="R8f3c9a3aba094ade" /><Relationship Type="http://schemas.openxmlformats.org/officeDocument/2006/relationships/slide" Target="/ppt/slides/slide14.xml" Id="R12431f97f45b4693" /><Relationship Type="http://schemas.openxmlformats.org/officeDocument/2006/relationships/slide" Target="/ppt/slides/slide15.xml" Id="Rd4ce8a7b8c5c47cb" /><Relationship Type="http://schemas.openxmlformats.org/officeDocument/2006/relationships/slide" Target="/ppt/slides/slide16.xml" Id="Rf7b705261fe74dad" /><Relationship Type="http://schemas.openxmlformats.org/officeDocument/2006/relationships/slide" Target="/ppt/slides/slide17.xml" Id="R1864136969b64424" /><Relationship Type="http://schemas.openxmlformats.org/officeDocument/2006/relationships/slide" Target="/ppt/slides/slide18.xml" Id="R4117ea9c537f4934" /><Relationship Type="http://schemas.openxmlformats.org/officeDocument/2006/relationships/slide" Target="/ppt/slides/slide19.xml" Id="Rc3df137e78584ed9" /><Relationship Type="http://schemas.openxmlformats.org/officeDocument/2006/relationships/slide" Target="/ppt/slides/slide20.xml" Id="R319677b5141542db" /><Relationship Type="http://schemas.openxmlformats.org/officeDocument/2006/relationships/slide" Target="/ppt/slides/slide21.xml" Id="Rad438974989b4992" /><Relationship Type="http://schemas.openxmlformats.org/officeDocument/2006/relationships/slide" Target="/ppt/slides/slide22.xml" Id="R9d5179c2fe7f426f" /><Relationship Type="http://schemas.openxmlformats.org/officeDocument/2006/relationships/slide" Target="/ppt/slides/slide23.xml" Id="R0682514673d84cff" /><Relationship Type="http://schemas.openxmlformats.org/officeDocument/2006/relationships/slide" Target="/ppt/slides/slide24.xml" Id="Rfa994ce0e1a74fe0" /><Relationship Type="http://schemas.openxmlformats.org/officeDocument/2006/relationships/slide" Target="/ppt/slides/slide25.xml" Id="R8d329835d40e4fc4" /><Relationship Type="http://schemas.openxmlformats.org/officeDocument/2006/relationships/slide" Target="/ppt/slides/slide26.xml" Id="R46d9ed948a7b4c8b" /><Relationship Type="http://schemas.openxmlformats.org/officeDocument/2006/relationships/slide" Target="/ppt/slides/slide27.xml" Id="R767b2439caa140e3" /><Relationship Type="http://schemas.openxmlformats.org/officeDocument/2006/relationships/slide" Target="/ppt/slides/slide28.xml" Id="Rb543010686904778" /><Relationship Type="http://schemas.openxmlformats.org/officeDocument/2006/relationships/slide" Target="/ppt/slides/slide29.xml" Id="Rdf8478711a9d4ead" /><Relationship Type="http://schemas.openxmlformats.org/officeDocument/2006/relationships/slide" Target="/ppt/slides/slide30.xml" Id="R17ca73ed7ca04a0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3504c8b420e45b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d3c50e6d0364570" /><Relationship Type="http://schemas.openxmlformats.org/officeDocument/2006/relationships/notesMaster" Target="/ppt/notesMasters/notesMaster1.xml" Id="R69b189b7b8e74d51" /></Relationships>
</file>

<file path=ppt/notesSlides/_rels/notesSlide2.xml.rels>&#65279;<?xml version="1.0" encoding="utf-8"?><Relationships xmlns="http://schemas.openxmlformats.org/package/2006/relationships"><Relationship Type="http://schemas.openxmlformats.org/officeDocument/2006/relationships/slide" Target="/ppt/slides/slide2.xml" Id="Re03f3c43fad841bc" /><Relationship Type="http://schemas.openxmlformats.org/officeDocument/2006/relationships/notesMaster" Target="/ppt/notesMasters/notesMaster1.xml" Id="Raf4d225fa6df49d3" /></Relationships>
</file>

<file path=ppt/notesSlides/_rels/notesSlide3.xml.rels>&#65279;<?xml version="1.0" encoding="utf-8"?><Relationships xmlns="http://schemas.openxmlformats.org/package/2006/relationships"><Relationship Type="http://schemas.openxmlformats.org/officeDocument/2006/relationships/slide" Target="/ppt/slides/slide3.xml" Id="Rf0277799adf744de" /><Relationship Type="http://schemas.openxmlformats.org/officeDocument/2006/relationships/notesMaster" Target="/ppt/notesMasters/notesMaster1.xml" Id="Rf637970d7537451c" /></Relationships>
</file>

<file path=ppt/notesSlides/_rels/notesSlide4.xml.rels>&#65279;<?xml version="1.0" encoding="utf-8"?><Relationships xmlns="http://schemas.openxmlformats.org/package/2006/relationships"><Relationship Type="http://schemas.openxmlformats.org/officeDocument/2006/relationships/slide" Target="/ppt/slides/slide4.xml" Id="R838a90860d364ab2" /><Relationship Type="http://schemas.openxmlformats.org/officeDocument/2006/relationships/notesMaster" Target="/ppt/notesMasters/notesMaster1.xml" Id="R4a91913678ee4f95" /></Relationships>
</file>

<file path=ppt/notesSlides/_rels/notesSlide5.xml.rels>&#65279;<?xml version="1.0" encoding="utf-8"?><Relationships xmlns="http://schemas.openxmlformats.org/package/2006/relationships"><Relationship Type="http://schemas.openxmlformats.org/officeDocument/2006/relationships/slide" Target="/ppt/slides/slide5.xml" Id="R9061c8f744ee4588" /><Relationship Type="http://schemas.openxmlformats.org/officeDocument/2006/relationships/notesMaster" Target="/ppt/notesMasters/notesMaster1.xml" Id="R89df6feb37884b58" /></Relationships>
</file>

<file path=ppt/notesSlides/_rels/notesSlide6.xml.rels>&#65279;<?xml version="1.0" encoding="utf-8"?><Relationships xmlns="http://schemas.openxmlformats.org/package/2006/relationships"><Relationship Type="http://schemas.openxmlformats.org/officeDocument/2006/relationships/slide" Target="/ppt/slides/slide6.xml" Id="R52ffce0bcd65425c" /><Relationship Type="http://schemas.openxmlformats.org/officeDocument/2006/relationships/notesMaster" Target="/ppt/notesMasters/notesMaster1.xml" Id="Rd5e1e2f630ae47f2" /></Relationships>
</file>

<file path=ppt/notesSlides/_rels/notesSlide7.xml.rels>&#65279;<?xml version="1.0" encoding="utf-8"?><Relationships xmlns="http://schemas.openxmlformats.org/package/2006/relationships"><Relationship Type="http://schemas.openxmlformats.org/officeDocument/2006/relationships/slide" Target="/ppt/slides/slide7.xml" Id="R01f9ff90f1534d4c" /><Relationship Type="http://schemas.openxmlformats.org/officeDocument/2006/relationships/notesMaster" Target="/ppt/notesMasters/notesMaster1.xml" Id="R06027850e44e4822" /></Relationships>
</file>

<file path=ppt/notesSlides/_rels/notesSlide8.xml.rels>&#65279;<?xml version="1.0" encoding="utf-8"?><Relationships xmlns="http://schemas.openxmlformats.org/package/2006/relationships"><Relationship Type="http://schemas.openxmlformats.org/officeDocument/2006/relationships/slide" Target="/ppt/slides/slide8.xml" Id="Rd82dd07f5dca4912" /><Relationship Type="http://schemas.openxmlformats.org/officeDocument/2006/relationships/notesMaster" Target="/ppt/notesMasters/notesMaster1.xml" Id="R08d2671cf64840ff" /></Relationships>
</file>

<file path=ppt/notesSlides/_rels/notesSlide9.xml.rels>&#65279;<?xml version="1.0" encoding="utf-8"?><Relationships xmlns="http://schemas.openxmlformats.org/package/2006/relationships"><Relationship Type="http://schemas.openxmlformats.org/officeDocument/2006/relationships/slide" Target="/ppt/slides/slide9.xml" Id="Rf96439f146ea4b6c" /><Relationship Type="http://schemas.openxmlformats.org/officeDocument/2006/relationships/notesMaster" Target="/ppt/notesMasters/notesMaster1.xml" Id="R27d46430499c424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18917b1811d4ef0" /><Relationship Type="http://schemas.openxmlformats.org/officeDocument/2006/relationships/notesMaster" Target="/ppt/notesMasters/notesMaster1.xml" Id="R7346818e1f5249a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a3b8a47e88f4180" /><Relationship Type="http://schemas.openxmlformats.org/officeDocument/2006/relationships/notesMaster" Target="/ppt/notesMasters/notesMaster1.xml" Id="R49e1e9a7e7164cf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a1c89c0911d4fb2" /><Relationship Type="http://schemas.openxmlformats.org/officeDocument/2006/relationships/notesMaster" Target="/ppt/notesMasters/notesMaster1.xml" Id="R46408c10f65147b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e026762ecc14efd" /><Relationship Type="http://schemas.openxmlformats.org/officeDocument/2006/relationships/notesMaster" Target="/ppt/notesMasters/notesMaster1.xml" Id="R80fb4cd959a04ca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f65aaf5ca374a35" /><Relationship Type="http://schemas.openxmlformats.org/officeDocument/2006/relationships/notesMaster" Target="/ppt/notesMasters/notesMaster1.xml" Id="Rf25059c0a7b6485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034f1d9cc074b92" /><Relationship Type="http://schemas.openxmlformats.org/officeDocument/2006/relationships/notesMaster" Target="/ppt/notesMasters/notesMaster1.xml" Id="R6437c84f576e4eb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f6fb2cb3b5e4743" /><Relationship Type="http://schemas.openxmlformats.org/officeDocument/2006/relationships/notesMaster" Target="/ppt/notesMasters/notesMaster1.xml" Id="R586939f57878462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8075ec5371c40df" /><Relationship Type="http://schemas.openxmlformats.org/officeDocument/2006/relationships/notesMaster" Target="/ppt/notesMasters/notesMaster1.xml" Id="Rf51b53066c9b418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1459857077b4bf3" /><Relationship Type="http://schemas.openxmlformats.org/officeDocument/2006/relationships/notesMaster" Target="/ppt/notesMasters/notesMaster1.xml" Id="R62d7d4fdf09c4a1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8289dfb702e4889" /><Relationship Type="http://schemas.openxmlformats.org/officeDocument/2006/relationships/notesMaster" Target="/ppt/notesMasters/notesMaster1.xml" Id="Rf78918d6fcac480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b8ffc6e1dc94439" /><Relationship Type="http://schemas.openxmlformats.org/officeDocument/2006/relationships/notesMaster" Target="/ppt/notesMasters/notesMaster1.xml" Id="R47e13c16a2f7402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cc283deee224d6a" /><Relationship Type="http://schemas.openxmlformats.org/officeDocument/2006/relationships/notesMaster" Target="/ppt/notesMasters/notesMaster1.xml" Id="R94cfabb00f5941a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40fb582f16a4d1d" /><Relationship Type="http://schemas.openxmlformats.org/officeDocument/2006/relationships/notesMaster" Target="/ppt/notesMasters/notesMaster1.xml" Id="R5c5f7ccf65a74bc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41711d2c6d74c9b" /><Relationship Type="http://schemas.openxmlformats.org/officeDocument/2006/relationships/notesMaster" Target="/ppt/notesMasters/notesMaster1.xml" Id="R2bc1b946554c456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5fa514567984fe4" /><Relationship Type="http://schemas.openxmlformats.org/officeDocument/2006/relationships/notesMaster" Target="/ppt/notesMasters/notesMaster1.xml" Id="R210f9fade9cf4e0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82160fadb274b14" /><Relationship Type="http://schemas.openxmlformats.org/officeDocument/2006/relationships/notesMaster" Target="/ppt/notesMasters/notesMaster1.xml" Id="R982be4b4c9134dd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e3be8502d8543d9" /><Relationship Type="http://schemas.openxmlformats.org/officeDocument/2006/relationships/notesMaster" Target="/ppt/notesMasters/notesMaster1.xml" Id="R2b4f3eab16aa4c6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5ed42f4a5a24b84" /><Relationship Type="http://schemas.openxmlformats.org/officeDocument/2006/relationships/notesMaster" Target="/ppt/notesMasters/notesMaster1.xml" Id="R83f73c07cf91490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4574cdc75874507" /><Relationship Type="http://schemas.openxmlformats.org/officeDocument/2006/relationships/notesMaster" Target="/ppt/notesMasters/notesMaster1.xml" Id="R9726b260c013423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8065f93fc7446a2" /><Relationship Type="http://schemas.openxmlformats.org/officeDocument/2006/relationships/notesMaster" Target="/ppt/notesMasters/notesMaster1.xml" Id="Rb6098d71b0994ee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0f61110c33c4190" /><Relationship Type="http://schemas.openxmlformats.org/officeDocument/2006/relationships/notesMaster" Target="/ppt/notesMasters/notesMaster1.xml" Id="R99a5319e22484d3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a:t>
            </a:r>
          </a:p>
          <a:p xmlns:a="http://schemas.openxmlformats.org/drawingml/2006/main">
            <a:r>
              <a:t>Introduce the final session in Microsoft Teams. Trainer: TCS Assets Consultant (C3A) and SME. Continue the same four fictional products. Today combines the previous lessons and adds a validated practice order form.</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a:t>
            </a:r>
          </a:p>
          <a:p xmlns:a="http://schemas.openxmlformats.org/drawingml/2006/main">
            <a:r>
              <a:t>Tell learners to use a fictional customer name such as Demo Customer. The preview stays in memory: no server submission, payment or real order. Keep the custom Hook section brief if learners need more time with forms.</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a:t>
            </a:r>
          </a:p>
          <a:p xmlns:a="http://schemas.openxmlformats.org/drawingml/2006/main">
            <a:r>
              <a:t>Show the order of the final session. Keep App.jsx, useProducts.js and OrderForm.jsx open. The final slide includes course IDs 75214 and 62104, supplied by Subha; no course titles have been supplied.</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Ask learners to give one example from each previous day. A component is a function; props are inputs; state remembers UI data; Effects synchronize external work. Day 5 builds directly on these foundations.</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Describe the workflow in browser terms before opening code. The cart contains one entry per product, without quantities. The preview captures a snapshot when submitted and stays unchanged until submitted again or reset.</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Open App and trace the props. The same cart is read by ProductList, CartPanel and OrderForm, so App owns it. The customer name is only used by OrderForm and its preview, so it stays local. Existing PracticeNote is retained for Day 3 revision.</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Explain that this is a project-defined function, not a built-in React Hook. Each call owns independent state: custom Hooks share logic, not automatically shared state. App calls it once and passes data down.</a:t>
            </a:r>
          </a:p>
          <a:p xmlns:a="http://schemas.openxmlformats.org/drawingml/2006/main">
            <a:r>
              <a:t>Source: https://react.dev/learn/reusing-logic-with-custom-hooks</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This is a structural excerpt. Open the full Hook to show every declaration and Effect. It calls the existing loadProducts helper, passes AbortController.signal, guards cancelled results and returns cleanup. The extraction makes App shorter without adding dependencies.</a:t>
            </a:r>
          </a:p>
          <a:p xmlns:a="http://schemas.openxmlformats.org/drawingml/2006/main">
            <a:r>
              <a:t>Source: https://react.dev/learn/reusing-logic-with-custom-hooks</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Compare with the fixed URL in Day 4. The helper remains imported; the URL is now a reactive input to the Hook. Do not remove dependencies to silence reruns. StrictMode still runs its extra development setup/cleanup cycle.</a:t>
            </a:r>
          </a:p>
          <a:p xmlns:a="http://schemas.openxmlformats.org/drawingml/2006/main">
            <a:r>
              <a:t>Source: https://react.dev/learn/reusing-logic-with-custom-hooks</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a:t>
            </a:r>
          </a:p>
          <a:p xmlns:a="http://schemas.openxmlformats.org/drawingml/2006/main">
            <a:r>
              <a:t>Run check:day-five later to demonstrate shared validation functions outside React. Do not call useProducts in a Node lesson or event handler. The use prefix signals Hook rules, not merely code reuse.</a:t>
            </a:r>
          </a:p>
          <a:p xmlns:a="http://schemas.openxmlformats.org/drawingml/2006/main">
            <a:r>
              <a:t>Source: https://react.dev/learn/reusing-logic-with-custom-hooks</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Recall the Day 3 note form, then explain the extra validation and draft object. Initialize controlled input values as strings; null is used for the absence of a preview, not as an input value.</a:t>
            </a:r>
          </a:p>
          <a:p xmlns:a="http://schemas.openxmlformats.org/drawingml/2006/main">
            <a:r>
              <a:t>Source: https://react.dev/reference/react-dom/components/input</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The real component uses a separate label connected by htmlFor and id. Its change handler also clears the old validation message. Ask learners why they should not mutate customerName directly. The required status is communicated with aria-required.</a:t>
            </a:r>
          </a:p>
          <a:p xmlns:a="http://schemas.openxmlformats.org/drawingml/2006/main">
            <a:r>
              <a:t>Source: https://react.dev/reference/react-dom/components/input</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a:t>
            </a:r>
          </a:p>
          <a:p xmlns:a="http://schemas.openxmlformats.org/drawingml/2006/main">
            <a:r>
              <a:t>Open the labelled delivery-note textarea. Type Gift wrap please. Explain that both input and textarea use value/onChange, while a checkbox uses checked. No address or other real customer detail is required.</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The real form uses noValidate so our explicit validation teaches the rules consistently. noValidate skips built-in browser constraint checks; it does not perform validation. The button remains enabled so learners can see friendly empty-cart/name errors.</a:t>
            </a:r>
          </a:p>
          <a:p xmlns:a="http://schemas.openxmlformats.org/drawingml/2006/main">
            <a:r>
              <a:t>Source: https://react.dev/reference/react-dom/components/input</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This simplified excerpt uses shorter error text than the project. Explain trim with spaces-only names and A versus Demo Customer. This is a teaching rule, not a universal rule for human names. Browser checks do not replace server validation in a real order system.</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Point out the early return. The helper createOrderDraft also validates as a defensive boundary before constructing the object. A previously captured valid snapshot can remain visible if a later attempt fails; it stays labelled as the earlier snapshot.</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a:t>
            </a:r>
          </a:p>
          <a:p xmlns:a="http://schemas.openxmlformats.org/drawingml/2006/main">
            <a:r>
              <a:t>Read the actual aria-describedby and aria-invalid props. An empty-cart error does not mark the name invalid; with a nonempty cart, a validation error indicates the name needs correction. Clear the message when the learner edits the name.</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Open src/data/orderDraft.js. map creates a new array and new item objects; reduce computes the snapshot total. The price does not include delivery charges or taxes. IDs stay stable. No random order number or fake backend status is invented.</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The project also shows the submitted name, optional note and selected item list. This is conditional rendering from Day 2. React escapes ordinary text in JSX; do not introduce raw HTML for the customer note.</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Demo: preview Notebook+Bag at580; remove Notebook; cart500 but snapshot580. Click Preview again and snapshot becomes500. This deliberate distinction reinforces Day 3 state snapshots. The UI tells users to submit again for changes.</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 minute.</a:t>
            </a:r>
          </a:p>
          <a:p xmlns:a="http://schemas.openxmlformats.org/drawingml/2006/main">
            <a:r>
              <a:t>The Reset order form button uses type=button so it does not submit the form. Reloading the page resets all memory state and starts a new products request. No useEffect is needed to reset on this user action.</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Use the guided README steps. Also check optional notes, keyboard submission, out-of-stock disabled buttons, case-insensitive search, no filter matches and Day 4 request recovery. Use a narrow viewport and keyboard focus to inspect controls.</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Vite copies public/products.json into dist. preview is for checking locally; it is not a production server or hosting service. Deployment configuration depends on the hosting path. Do not deploy during this training task.</a:t>
            </a:r>
          </a:p>
          <a:p xmlns:a="http://schemas.openxmlformats.org/drawingml/2006/main">
            <a:r>
              <a:t>Source: https://vite.dev/guide/build.html</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4 minutes.</a:t>
            </a:r>
          </a:p>
          <a:p xmlns:a="http://schemas.openxmlformats.org/drawingml/2006/main">
            <a:r>
              <a:t>Show the actual screenshot, then perform the flow live. Use Demo Customer and Gift wrap please. Trace cart props, local form state, validator, draft helper and conditional preview. The screenshot contains fictional sample data.</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 minutes.</a:t>
            </a:r>
          </a:p>
          <a:p xmlns:a="http://schemas.openxmlformats.org/drawingml/2006/main">
            <a:r>
              <a:t>Run check:day-five and narrate the580total, trimming and validation cases. The script uses the earlier static dataset for isolated plain-JavaScript examples; the live app still fetches public/products.json. No React Hooks run in Node.</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5 minutes.</a:t>
            </a:r>
          </a:p>
          <a:p xmlns:a="http://schemas.openxmlformats.org/drawingml/2006/main">
            <a:r>
              <a:t>Give learners 5 minutes. Add city useState, controlled input, validation, helper parameter/object field, render and reset. Update the Node lesson if helper signatures change. Acceptance: a blank city blocks submission, Kolkata appears in the preview, reset clears city, and the cart stays at ₹580. The starter intentionally leaves city for learners to build.</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Show the correct code for each issue. Revisit Hook rules, input value/onChange, validation early return and type=button. The current cart and submitted preview have deliberately different lifetimes. Keep the final project small before adding routing, Context or persistence.</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 minutes.</a:t>
            </a:r>
          </a:p>
          <a:p xmlns:a="http://schemas.openxmlformats.org/drawingml/2006/main">
            <a:r>
              <a:t>Answers: 1 No, separate calls own independent state. 2 To avoid default browser navigation. 3 The validation message and early return. 4 It copied items and total at submit time; submit again to update it. 5 No, it creates dist locally. Ask learners to demonstrate one answer in the project.</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For maximum price, store input text, treat blank as no limit, validate before Number, and derive the filtered array without an Effect. At 100 INR, Notebook and Pen appear before applying the stock filter. Remind learners that certification follows official assessment requirements; no official syllabus was supplied.</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 minutes.</a:t>
            </a:r>
          </a:p>
          <a:p xmlns:a="http://schemas.openxmlformats.org/drawingml/2006/main">
            <a:r>
              <a:t>These two course IDs were supplied by Subha Prasad and are included exactly as requested. Do not invent course names, learning portal links, deadlines or certification guarantees. Close the five-day series with questions and remind learners to use their internal learning portal for the course details.</a:t>
            </a:r>
          </a:p>
          <a:p xmlns:a="http://schemas.openxmlformats.org/drawingml/2006/main">
            <a:r>
              <a:t>Code blocks are excerpts unless they show a complete component. Product prices are fictional INR values. The cart has one entry per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fdf1b28915b445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bf0354422c247c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d24648ee2fc46c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4c75172822d4c9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fa82afabe14433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5936193e530401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E0A31C8-5CD1-4964-874A-69C50F8C5F7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99439DD-B815-4D4D-A727-69E1A8D7891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2276578-A3AD-418F-B8A3-B496C440B60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AF8F829-72B4-4A78-8283-8014F1F349D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80531E1-0AA5-4516-BB9B-7CB2FB0CE62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AB85F77-1196-4DDD-8A4C-FC049C8D780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798E8F8-55DD-440F-87A2-6ADA79CF0D0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A91927E-75BF-4EB6-85A6-BA823D97A1E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7484519-9854-4D93-8634-A543E8A6597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34F4638-B2BB-473B-88B8-0DDDE3A0F1D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568f1b0159f4bdc" /><Relationship Type="http://schemas.openxmlformats.org/officeDocument/2006/relationships/slideLayout" Target="/ppt/slideLayouts/slideLayout1.xml" Id="R4706eda695024e35" /><Relationship Type="http://schemas.openxmlformats.org/officeDocument/2006/relationships/slideLayout" Target="/ppt/slideLayouts/slideLayout2.xml" Id="R5c29b96b04954cbd" /><Relationship Type="http://schemas.openxmlformats.org/officeDocument/2006/relationships/slideLayout" Target="/ppt/slideLayouts/slideLayout3.xml" Id="Red4b91469e5347f5" /><Relationship Type="http://schemas.openxmlformats.org/officeDocument/2006/relationships/slideLayout" Target="/ppt/slideLayouts/slideLayout4.xml" Id="R6a38cb66653040b3" /><Relationship Type="http://schemas.openxmlformats.org/officeDocument/2006/relationships/slideLayout" Target="/ppt/slideLayouts/slideLayout5.xml" Id="Ra689c76577ca4318" /><Relationship Type="http://schemas.openxmlformats.org/officeDocument/2006/relationships/slideLayout" Target="/ppt/slideLayouts/slideLayout6.xml" Id="R8680de3137534be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706eda695024e35"/>
    <p:sldLayoutId xmlns:r="http://schemas.openxmlformats.org/officeDocument/2006/relationships" id="2147483650" r:id="R5c29b96b04954cbd"/>
    <p:sldLayoutId xmlns:r="http://schemas.openxmlformats.org/officeDocument/2006/relationships" id="2147483651" r:id="Red4b91469e5347f5"/>
    <p:sldLayoutId xmlns:r="http://schemas.openxmlformats.org/officeDocument/2006/relationships" id="2147483652" r:id="R6a38cb66653040b3"/>
    <p:sldLayoutId xmlns:r="http://schemas.openxmlformats.org/officeDocument/2006/relationships" id="2147483653" r:id="Ra689c76577ca4318"/>
    <p:sldLayoutId xmlns:r="http://schemas.openxmlformats.org/officeDocument/2006/relationships" id="2147483654" r:id="R8680de3137534be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8feed5b52e94c04" /><Relationship Type="http://schemas.openxmlformats.org/officeDocument/2006/relationships/image" Target="/ppt/media/image.png" Id="R4b825f8758e642a4" /><Relationship Type="http://schemas.openxmlformats.org/officeDocument/2006/relationships/notesSlide" Target="/ppt/notesSlides/notesSlide1.xml" Id="R5d4c49cff3254b1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ac2bd18cb8d4dc2" /><Relationship Type="http://schemas.openxmlformats.org/officeDocument/2006/relationships/notesSlide" Target="/ppt/notesSlides/notesSlide2.xml" Id="R8c6a627c4b364b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b27c6b37c6d45ab" /><Relationship Type="http://schemas.openxmlformats.org/officeDocument/2006/relationships/notesSlide" Target="/ppt/notesSlides/notesSlide3.xml" Id="Rebcda3d7317d481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49471d20f8443c5" /><Relationship Type="http://schemas.openxmlformats.org/officeDocument/2006/relationships/notesSlide" Target="/ppt/notesSlides/notesSlide4.xml" Id="R7161172ba6cd4ed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4aecf3cf3674ddf" /><Relationship Type="http://schemas.openxmlformats.org/officeDocument/2006/relationships/notesSlide" Target="/ppt/notesSlides/notesSlide5.xml" Id="R94d9dc4413f34c0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ef62f966a804ff3" /><Relationship Type="http://schemas.openxmlformats.org/officeDocument/2006/relationships/notesSlide" Target="/ppt/notesSlides/notesSlide6.xml" Id="Rb0f5525bd912441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bf37f75939d461f" /><Relationship Type="http://schemas.openxmlformats.org/officeDocument/2006/relationships/notesSlide" Target="/ppt/notesSlides/notesSlide7.xml" Id="Rec01d53a363d419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c051b949cc64aba" /><Relationship Type="http://schemas.openxmlformats.org/officeDocument/2006/relationships/notesSlide" Target="/ppt/notesSlides/notesSlide8.xml" Id="R7d785e42665e47d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1d774a9ca034705" /><Relationship Type="http://schemas.openxmlformats.org/officeDocument/2006/relationships/notesSlide" Target="/ppt/notesSlides/notesSlide9.xml" Id="R45362525115e40a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8c1da6baaf34095" /><Relationship Type="http://schemas.openxmlformats.org/officeDocument/2006/relationships/notesSlide" Target="/ppt/notesSlides/notesSlide10.xml" Id="R23b5b3e4383e4d0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1875c4c8e924771" /><Relationship Type="http://schemas.openxmlformats.org/officeDocument/2006/relationships/notesSlide" Target="/ppt/notesSlides/notesSlide11.xml" Id="R90cf4909212449d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1aab1e4cc2044ac" /><Relationship Type="http://schemas.openxmlformats.org/officeDocument/2006/relationships/notesSlide" Target="/ppt/notesSlides/notesSlide12.xml" Id="Rf959cc80d3ec46c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f4dd4cfc09f48eb" /><Relationship Type="http://schemas.openxmlformats.org/officeDocument/2006/relationships/notesSlide" Target="/ppt/notesSlides/notesSlide13.xml" Id="Rca5463aa20e247f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41e2d8843414ac7" /><Relationship Type="http://schemas.openxmlformats.org/officeDocument/2006/relationships/notesSlide" Target="/ppt/notesSlides/notesSlide14.xml" Id="R055040efc3b848d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3b46240755e421d" /><Relationship Type="http://schemas.openxmlformats.org/officeDocument/2006/relationships/notesSlide" Target="/ppt/notesSlides/notesSlide15.xml" Id="Rdf7540296583463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06f05c191ce49c7" /><Relationship Type="http://schemas.openxmlformats.org/officeDocument/2006/relationships/notesSlide" Target="/ppt/notesSlides/notesSlide16.xml" Id="R928f987fe3be49c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5c7468f6c1e4c6f" /><Relationship Type="http://schemas.openxmlformats.org/officeDocument/2006/relationships/notesSlide" Target="/ppt/notesSlides/notesSlide17.xml" Id="R38d0fdf2909e494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06e33475fea45c0" /><Relationship Type="http://schemas.openxmlformats.org/officeDocument/2006/relationships/notesSlide" Target="/ppt/notesSlides/notesSlide18.xml" Id="R167180fa58f94f9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9501829ec074a49" /><Relationship Type="http://schemas.openxmlformats.org/officeDocument/2006/relationships/notesSlide" Target="/ppt/notesSlides/notesSlide19.xml" Id="Rdbdb67b209fb4e7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d6146b22c6e4112" /><Relationship Type="http://schemas.openxmlformats.org/officeDocument/2006/relationships/notesSlide" Target="/ppt/notesSlides/notesSlide20.xml" Id="R2e134fbfedfb445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000d9618a1c493d" /><Relationship Type="http://schemas.openxmlformats.org/officeDocument/2006/relationships/notesSlide" Target="/ppt/notesSlides/notesSlide21.xml" Id="R1cddc51136fc487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4064f95fb56f4c53" /><Relationship Type="http://schemas.openxmlformats.org/officeDocument/2006/relationships/notesSlide" Target="/ppt/notesSlides/notesSlide22.xml" Id="R54db262adf664a0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14e7ddcc1c754b57" /><Relationship Type="http://schemas.openxmlformats.org/officeDocument/2006/relationships/notesSlide" Target="/ppt/notesSlides/notesSlide23.xml" Id="R55ccb871c3e2413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590c823a42a44d63" /><Relationship Type="http://schemas.openxmlformats.org/officeDocument/2006/relationships/image" Target="/ppt/media/image2.png" Id="R13c8edeeb586431c" /><Relationship Type="http://schemas.openxmlformats.org/officeDocument/2006/relationships/notesSlide" Target="/ppt/notesSlides/notesSlide24.xml" Id="Rdb71dea8a088474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21ed9e9c963a41c6" /><Relationship Type="http://schemas.openxmlformats.org/officeDocument/2006/relationships/notesSlide" Target="/ppt/notesSlides/notesSlide25.xml" Id="Rdf00266d5d3e42b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32a3a04691864ef7" /><Relationship Type="http://schemas.openxmlformats.org/officeDocument/2006/relationships/notesSlide" Target="/ppt/notesSlides/notesSlide26.xml" Id="R68f2335795574f2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b350306ed4c64f9a" /><Relationship Type="http://schemas.openxmlformats.org/officeDocument/2006/relationships/notesSlide" Target="/ppt/notesSlides/notesSlide27.xml" Id="R66838462fa8b4c7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9dfa0fa70eaa469d" /><Relationship Type="http://schemas.openxmlformats.org/officeDocument/2006/relationships/notesSlide" Target="/ppt/notesSlides/notesSlide28.xml" Id="Re9b1433344f9411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181efecdf11c40ca" /><Relationship Type="http://schemas.openxmlformats.org/officeDocument/2006/relationships/notesSlide" Target="/ppt/notesSlides/notesSlide29.xml" Id="R6be1951a9fca43b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9f9a585795f24c80" /><Relationship Type="http://schemas.openxmlformats.org/officeDocument/2006/relationships/notesSlide" Target="/ppt/notesSlides/notesSlide30.xml" Id="R6cc973d0703d4497" /></Relationships>
</file>

<file path=ppt/slides/slide1.xml><?xml version="1.0" encoding="utf-8"?>
<p:sld xmlns:p="http://schemas.openxmlformats.org/presentationml/2006/main">
  <p:cSld>
    <p:bg>
      <p:bgPr>
        <a:solidFill xmlns:a="http://schemas.openxmlformats.org/drawingml/2006/main">
          <a:srgbClr val="14374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E2D5DF3-D13A-419E-97D1-696D40A8F4A1}"/>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92E8DF"/>
                </a:solidFill>
                <a:latin typeface="Arial"/>
                <a:ea typeface="Arial"/>
                <a:cs typeface="Arial"/>
              </a:defRPr>
            </a:defPPr>
          </a:lstStyle>
          <a:p xmlns:a="http://schemas.openxmlformats.org/drawingml/2006/main">
            <a:pPr algn="l">
              <a:buNone/>
              <a:defRPr sz="1275" b="1">
                <a:solidFill>
                  <a:srgbClr val="92E8DF"/>
                </a:solidFill>
                <a:latin typeface="Arial"/>
                <a:ea typeface="Arial"/>
                <a:cs typeface="Arial"/>
              </a:defRPr>
            </a:pPr>
            <a:r>
              <a:rPr sz="1275" b="1">
                <a:solidFill>
                  <a:srgbClr val="92E8DF"/>
                </a:solidFill>
                <a:latin typeface="Arial"/>
                <a:ea typeface="Arial"/>
                <a:cs typeface="Arial"/>
              </a:rPr>
              <a:t>INTRODUCTION</a:t>
            </a:r>
          </a:p>
        </p:txBody>
      </p:sp>
      <p:sp>
        <p:nvSpPr>
          <p:cNvPr id="2" name="">
            <a:extLst xmlns:a="http://schemas.openxmlformats.org/drawingml/2006/main">
              <a:ext uri="{FF2B5EF4-FFF2-40B4-BE49-F238E27FC236}">
                <a16:creationId xmlns:a16="http://schemas.microsoft.com/office/drawing/2014/main" id="{DD9342A3-A7F2-4674-98DC-1EBFFE46F6DB}"/>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4650" b="1">
                <a:solidFill>
                  <a:srgbClr val="FFFFFF"/>
                </a:solidFill>
                <a:latin typeface="Arial"/>
                <a:ea typeface="Arial"/>
                <a:cs typeface="Arial"/>
              </a:defRPr>
            </a:defPPr>
          </a:lstStyle>
          <a:p xmlns:a="http://schemas.openxmlformats.org/drawingml/2006/main">
            <a:pPr algn="l">
              <a:buNone/>
              <a:defRPr sz="4650" b="1">
                <a:solidFill>
                  <a:srgbClr val="FFFFFF"/>
                </a:solidFill>
                <a:latin typeface="Arial"/>
                <a:ea typeface="Arial"/>
                <a:cs typeface="Arial"/>
              </a:defRPr>
            </a:pPr>
            <a:r>
              <a:rPr sz="4650" b="1">
                <a:solidFill>
                  <a:srgbClr val="FFFFFF"/>
                </a:solidFill>
                <a:latin typeface="Arial"/>
                <a:ea typeface="Arial"/>
                <a:cs typeface="Arial"/>
              </a:rPr>
              <a:t>ReactJS · Day Five</a:t>
            </a:r>
          </a:p>
        </p:txBody>
      </p:sp>
      <p:pic>
        <p:nvPicPr>
          <p:cNvPr id="3" name="">
            <a:extLst xmlns:a="http://schemas.openxmlformats.org/drawingml/2006/main">
              <a:ext uri="{FF2B5EF4-FFF2-40B4-BE49-F238E27FC236}">
                <a16:creationId xmlns:a16="http://schemas.microsoft.com/office/drawing/2014/main" id="{E6F4CDFC-AAFC-44D7-AA27-7F7376788844}"/>
              </a:ext>
            </a:extLst>
          </p:cNvPr>
          <p:cNvPicPr>
            <a:picLocks xmlns:a="http://schemas.openxmlformats.org/drawingml/2006/main" noChangeAspect="1"/>
          </p:cNvPicPr>
          <p:nvPr/>
        </p:nvPicPr>
        <p:blipFill>
          <a:blip xmlns:r="http://schemas.openxmlformats.org/officeDocument/2006/relationships" xmlns:a="http://schemas.openxmlformats.org/drawingml/2006/main" r:embed="R4b825f8758e642a4"/>
          <a:stretch xmlns:a="http://schemas.openxmlformats.org/drawingml/2006/main"/>
        </p:blipFill>
        <p:spPr>
          <a:xfrm xmlns:a="http://schemas.openxmlformats.org/drawingml/2006/main">
            <a:off x="6477000" y="2000250"/>
            <a:ext cx="5143500" cy="3429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70F5068-DE6F-48CF-975A-BDB860453FEF}"/>
              </a:ext>
            </a:extLst>
          </p:cNvPr>
          <p:cNvSpPr>
            <a:spLocks xmlns:a="http://schemas.openxmlformats.org/drawingml/2006/main" noGrp="1"/>
          </p:cNvSpPr>
          <p:nvPr/>
        </p:nvSpPr>
        <p:spPr>
          <a:xfrm xmlns:a="http://schemas.openxmlformats.org/drawingml/2006/main">
            <a:off x="609600" y="2381250"/>
            <a:ext cx="5524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FFFFFF"/>
                </a:solidFill>
                <a:latin typeface="Arial"/>
                <a:ea typeface="Arial"/>
                <a:cs typeface="Arial"/>
              </a:defRPr>
            </a:defPPr>
          </a:lstStyle>
          <a:p xmlns:a="http://schemas.openxmlformats.org/drawingml/2006/main">
            <a:pPr algn="l">
              <a:buNone/>
              <a:defRPr sz="2325" b="0">
                <a:solidFill>
                  <a:srgbClr val="FFFFFF"/>
                </a:solidFill>
                <a:latin typeface="Arial"/>
                <a:ea typeface="Arial"/>
                <a:cs typeface="Arial"/>
              </a:defRPr>
            </a:pPr>
            <a:r>
              <a:rPr sz="2325" b="0">
                <a:solidFill>
                  <a:srgbClr val="FFFFFF"/>
                </a:solidFill>
                <a:latin typeface="Arial"/>
                <a:ea typeface="Arial"/>
                <a:cs typeface="Arial"/>
              </a:rPr>
              <a:t>Final Product Catalog mini-project</a:t>
            </a:r>
          </a:p>
          <a:p xmlns:a="http://schemas.openxmlformats.org/drawingml/2006/main">
            <a:pPr algn="l">
              <a:buNone/>
              <a:defRPr sz="2325" b="0">
                <a:solidFill>
                  <a:srgbClr val="FFFFFF"/>
                </a:solidFill>
                <a:latin typeface="Arial"/>
                <a:ea typeface="Arial"/>
                <a:cs typeface="Arial"/>
              </a:defRPr>
            </a:pPr>
            <a:r>
              <a:rPr sz="2325" b="0">
                <a:solidFill>
                  <a:srgbClr val="FFFFFF"/>
                </a:solidFill>
                <a:latin typeface="Arial"/>
                <a:ea typeface="Arial"/>
                <a:cs typeface="Arial"/>
              </a:rPr>
              <a:t>Subha Prasad</a:t>
            </a:r>
          </a:p>
          <a:p xmlns:a="http://schemas.openxmlformats.org/drawingml/2006/main">
            <a:pPr algn="l">
              <a:buNone/>
              <a:defRPr sz="2325" b="0">
                <a:solidFill>
                  <a:srgbClr val="FFFFFF"/>
                </a:solidFill>
                <a:latin typeface="Arial"/>
                <a:ea typeface="Arial"/>
                <a:cs typeface="Arial"/>
              </a:defRPr>
            </a:pPr>
            <a:r>
              <a:rPr sz="2325" b="0">
                <a:solidFill>
                  <a:srgbClr val="FFFFFF"/>
                </a:solidFill>
                <a:latin typeface="Arial"/>
                <a:ea typeface="Arial"/>
                <a:cs typeface="Arial"/>
              </a:rPr>
              <a:t>16 October 2026 · 10:00–11:00 AM IST</a:t>
            </a:r>
          </a:p>
        </p:txBody>
      </p:sp>
      <p:sp>
        <p:nvSpPr>
          <p:cNvPr id="5" name="">
            <a:extLst xmlns:a="http://schemas.openxmlformats.org/drawingml/2006/main">
              <a:ext uri="{FF2B5EF4-FFF2-40B4-BE49-F238E27FC236}">
                <a16:creationId xmlns:a16="http://schemas.microsoft.com/office/drawing/2014/main" id="{BDF161D8-C431-44C2-A233-9AE555C0A8AF}"/>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92B4C2"/>
                </a:solidFill>
                <a:latin typeface="Arial"/>
                <a:ea typeface="Arial"/>
                <a:cs typeface="Arial"/>
              </a:defRPr>
            </a:defPPr>
          </a:lstStyle>
          <a:p xmlns:a="http://schemas.openxmlformats.org/drawingml/2006/main">
            <a:pPr algn="l">
              <a:buNone/>
              <a:defRPr sz="1200" b="0">
                <a:solidFill>
                  <a:srgbClr val="92B4C2"/>
                </a:solidFill>
                <a:latin typeface="Arial"/>
                <a:ea typeface="Arial"/>
                <a:cs typeface="Arial"/>
              </a:defRPr>
            </a:pPr>
            <a:r>
              <a:rPr sz="1200" b="0">
                <a:solidFill>
                  <a:srgbClr val="92B4C2"/>
                </a:solidFill>
                <a:latin typeface="Arial"/>
                <a:ea typeface="Arial"/>
                <a:cs typeface="Arial"/>
              </a:rPr>
              <a:t>01</a:t>
            </a:r>
          </a:p>
        </p:txBody>
      </p:sp>
    </p:spTree>
    <p:extLst>
      <p:ext uri="{BB962C8B-B14F-4D97-AF65-F5344CB8AC3E}">
        <p14:creationId xmlns:p14="http://schemas.microsoft.com/office/powerpoint/2010/main" val="1290946295"/>
      </p:ext>
    </p:extLst>
  </p:cSld>
</p:sld>
</file>

<file path=ppt/slides/slide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5902359-B515-4EDF-BE4D-3279090F137C}"/>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INTRODUCTION</a:t>
            </a:r>
          </a:p>
        </p:txBody>
      </p:sp>
      <p:sp>
        <p:nvSpPr>
          <p:cNvPr id="2" name="">
            <a:extLst xmlns:a="http://schemas.openxmlformats.org/drawingml/2006/main">
              <a:ext uri="{FF2B5EF4-FFF2-40B4-BE49-F238E27FC236}">
                <a16:creationId xmlns:a16="http://schemas.microsoft.com/office/drawing/2014/main" id="{180E0FD1-2501-4553-8272-34E151EE01DF}"/>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Today’s learning goals</a:t>
            </a:r>
          </a:p>
        </p:txBody>
      </p:sp>
      <p:sp>
        <p:nvSpPr>
          <p:cNvPr id="3" name="">
            <a:extLst xmlns:a="http://schemas.openxmlformats.org/drawingml/2006/main">
              <a:ext uri="{FF2B5EF4-FFF2-40B4-BE49-F238E27FC236}">
                <a16:creationId xmlns:a16="http://schemas.microsoft.com/office/drawing/2014/main" id="{5791B254-7018-413B-9C81-A04FFCD4A713}"/>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Organize request logic in a custom Hook.</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Validate a controlled form.</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Preview selected products and their total.</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Explain and demonstrate the complete app.</a:t>
            </a:r>
          </a:p>
        </p:txBody>
      </p:sp>
      <p:sp>
        <p:nvSpPr>
          <p:cNvPr id="4" name="">
            <a:extLst xmlns:a="http://schemas.openxmlformats.org/drawingml/2006/main">
              <a:ext uri="{FF2B5EF4-FFF2-40B4-BE49-F238E27FC236}">
                <a16:creationId xmlns:a16="http://schemas.microsoft.com/office/drawing/2014/main" id="{22D656D2-8905-4072-9EDB-C4101DA6CFE2}"/>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02</a:t>
            </a:r>
          </a:p>
        </p:txBody>
      </p:sp>
    </p:spTree>
    <p:extLst>
      <p:ext uri="{BB962C8B-B14F-4D97-AF65-F5344CB8AC3E}">
        <p14:creationId xmlns:p14="http://schemas.microsoft.com/office/powerpoint/2010/main" val="111436435"/>
      </p:ext>
    </p:extLst>
  </p:cSld>
</p:sld>
</file>

<file path=ppt/slides/slide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366D8BB-634E-417B-AD20-D1F6A18A9CBF}"/>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INDEX</a:t>
            </a:r>
          </a:p>
        </p:txBody>
      </p:sp>
      <p:sp>
        <p:nvSpPr>
          <p:cNvPr id="2" name="">
            <a:extLst xmlns:a="http://schemas.openxmlformats.org/drawingml/2006/main">
              <a:ext uri="{FF2B5EF4-FFF2-40B4-BE49-F238E27FC236}">
                <a16:creationId xmlns:a16="http://schemas.microsoft.com/office/drawing/2014/main" id="{33D191DE-2B55-400D-8416-B84C0737ADD5}"/>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Day 5 topic index</a:t>
            </a:r>
          </a:p>
        </p:txBody>
      </p:sp>
      <p:sp>
        <p:nvSpPr>
          <p:cNvPr id="3" name="">
            <a:extLst xmlns:a="http://schemas.openxmlformats.org/drawingml/2006/main">
              <a:ext uri="{FF2B5EF4-FFF2-40B4-BE49-F238E27FC236}">
                <a16:creationId xmlns:a16="http://schemas.microsoft.com/office/drawing/2014/main" id="{A3FB8FBD-6CA3-4927-97CE-697737DE2D98}"/>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01  Five-day recap and project flow</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02  Custom Hook and component roles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03  Form validation and preview</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04  Browser checks and production build</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05  Hands-on, quiz and course IDs</a:t>
            </a:r>
          </a:p>
        </p:txBody>
      </p:sp>
      <p:sp>
        <p:nvSpPr>
          <p:cNvPr id="4" name="">
            <a:extLst xmlns:a="http://schemas.openxmlformats.org/drawingml/2006/main">
              <a:ext uri="{FF2B5EF4-FFF2-40B4-BE49-F238E27FC236}">
                <a16:creationId xmlns:a16="http://schemas.microsoft.com/office/drawing/2014/main" id="{A7E62495-F70D-4F21-8747-BB779AA40E16}"/>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03</a:t>
            </a:r>
          </a:p>
        </p:txBody>
      </p:sp>
    </p:spTree>
    <p:extLst>
      <p:ext uri="{BB962C8B-B14F-4D97-AF65-F5344CB8AC3E}">
        <p14:creationId xmlns:p14="http://schemas.microsoft.com/office/powerpoint/2010/main" val="238954120"/>
      </p:ext>
    </p:extLst>
  </p:cSld>
</p:sld>
</file>

<file path=ppt/slides/slide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3054798-D866-47B4-9B04-240BC61AF67D}"/>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RECAP</a:t>
            </a:r>
          </a:p>
        </p:txBody>
      </p:sp>
      <p:sp>
        <p:nvSpPr>
          <p:cNvPr id="2" name="">
            <a:extLst xmlns:a="http://schemas.openxmlformats.org/drawingml/2006/main">
              <a:ext uri="{FF2B5EF4-FFF2-40B4-BE49-F238E27FC236}">
                <a16:creationId xmlns:a16="http://schemas.microsoft.com/office/drawing/2014/main" id="{3C68D7CE-5B7B-4847-9753-7FCBDD6416A8}"/>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Our five-day learning path</a:t>
            </a:r>
          </a:p>
        </p:txBody>
      </p:sp>
      <p:sp>
        <p:nvSpPr>
          <p:cNvPr id="3" name="">
            <a:extLst xmlns:a="http://schemas.openxmlformats.org/drawingml/2006/main">
              <a:ext uri="{FF2B5EF4-FFF2-40B4-BE49-F238E27FC236}">
                <a16:creationId xmlns:a16="http://schemas.microsoft.com/office/drawing/2014/main" id="{FEE58757-EB2D-45AB-96AC-121C4698A1C3}"/>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Day 1  JavaScript, JSX and components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Day 2  Props, lists and conditional UI</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Day 3  Events, state, filters and cart</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Day 4  Effects, fetch and request states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Day 5  Form validation and final practice</a:t>
            </a:r>
          </a:p>
        </p:txBody>
      </p:sp>
      <p:sp>
        <p:nvSpPr>
          <p:cNvPr id="4" name="">
            <a:extLst xmlns:a="http://schemas.openxmlformats.org/drawingml/2006/main">
              <a:ext uri="{FF2B5EF4-FFF2-40B4-BE49-F238E27FC236}">
                <a16:creationId xmlns:a16="http://schemas.microsoft.com/office/drawing/2014/main" id="{DD819771-BAAB-4078-B292-FBCE1C6CFD5F}"/>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p:txBody>
      </p:sp>
      <p:sp>
        <p:nvSpPr>
          <p:cNvPr id="5" name="">
            <a:extLst xmlns:a="http://schemas.openxmlformats.org/drawingml/2006/main">
              <a:ext uri="{FF2B5EF4-FFF2-40B4-BE49-F238E27FC236}">
                <a16:creationId xmlns:a16="http://schemas.microsoft.com/office/drawing/2014/main" id="{346435C4-9D94-429D-BCEB-6BE3014681C7}"/>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
            </a:r>
          </a:p>
        </p:txBody>
      </p:sp>
      <p:sp>
        <p:nvSpPr>
          <p:cNvPr id="6" name="">
            <a:extLst xmlns:a="http://schemas.openxmlformats.org/drawingml/2006/main">
              <a:ext uri="{FF2B5EF4-FFF2-40B4-BE49-F238E27FC236}">
                <a16:creationId xmlns:a16="http://schemas.microsoft.com/office/drawing/2014/main" id="{3C2C9A4B-5985-4556-80DC-09B611FDBB9A}"/>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04</a:t>
            </a:r>
          </a:p>
        </p:txBody>
      </p:sp>
    </p:spTree>
    <p:extLst>
      <p:ext uri="{BB962C8B-B14F-4D97-AF65-F5344CB8AC3E}">
        <p14:creationId xmlns:p14="http://schemas.microsoft.com/office/powerpoint/2010/main" val="297570866"/>
      </p:ext>
    </p:extLst>
  </p:cSld>
</p:sld>
</file>

<file path=ppt/slides/slide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4A9EF56-C100-4CB6-8E1B-AE748E059841}"/>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PROJECT</a:t>
            </a:r>
          </a:p>
        </p:txBody>
      </p:sp>
      <p:sp>
        <p:nvSpPr>
          <p:cNvPr id="2" name="">
            <a:extLst xmlns:a="http://schemas.openxmlformats.org/drawingml/2006/main">
              <a:ext uri="{FF2B5EF4-FFF2-40B4-BE49-F238E27FC236}">
                <a16:creationId xmlns:a16="http://schemas.microsoft.com/office/drawing/2014/main" id="{3F6C086B-EAAE-4892-96B0-D44AF3BB7040}"/>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The complete user flow</a:t>
            </a:r>
          </a:p>
        </p:txBody>
      </p:sp>
      <p:sp>
        <p:nvSpPr>
          <p:cNvPr id="3" name="">
            <a:extLst xmlns:a="http://schemas.openxmlformats.org/drawingml/2006/main">
              <a:ext uri="{FF2B5EF4-FFF2-40B4-BE49-F238E27FC236}">
                <a16:creationId xmlns:a16="http://schemas.microsoft.com/office/drawing/2014/main" id="{5E8F19E9-4F1B-46E5-9735-DA491087C234}"/>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Load JSON products.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Search and choose in-stock items.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Enter a fictional name and optional note.</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Preview the selected items and total.</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Reset the form or create another preview.</a:t>
            </a:r>
          </a:p>
        </p:txBody>
      </p:sp>
      <p:sp>
        <p:nvSpPr>
          <p:cNvPr id="4" name="">
            <a:extLst xmlns:a="http://schemas.openxmlformats.org/drawingml/2006/main">
              <a:ext uri="{FF2B5EF4-FFF2-40B4-BE49-F238E27FC236}">
                <a16:creationId xmlns:a16="http://schemas.microsoft.com/office/drawing/2014/main" id="{DCBE7ED0-9206-4350-AFBA-D077AE5E686E}"/>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p:txBody>
      </p:sp>
      <p:sp>
        <p:nvSpPr>
          <p:cNvPr id="5" name="">
            <a:extLst xmlns:a="http://schemas.openxmlformats.org/drawingml/2006/main">
              <a:ext uri="{FF2B5EF4-FFF2-40B4-BE49-F238E27FC236}">
                <a16:creationId xmlns:a16="http://schemas.microsoft.com/office/drawing/2014/main" id="{C1172C25-7686-445A-8F8C-F92C89522482}"/>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
            </a:r>
          </a:p>
        </p:txBody>
      </p:sp>
      <p:sp>
        <p:nvSpPr>
          <p:cNvPr id="6" name="">
            <a:extLst xmlns:a="http://schemas.openxmlformats.org/drawingml/2006/main">
              <a:ext uri="{FF2B5EF4-FFF2-40B4-BE49-F238E27FC236}">
                <a16:creationId xmlns:a16="http://schemas.microsoft.com/office/drawing/2014/main" id="{BE01FE80-71B1-47DA-9C92-1309BDA273ED}"/>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05</a:t>
            </a:r>
          </a:p>
        </p:txBody>
      </p:sp>
    </p:spTree>
    <p:extLst>
      <p:ext uri="{BB962C8B-B14F-4D97-AF65-F5344CB8AC3E}">
        <p14:creationId xmlns:p14="http://schemas.microsoft.com/office/powerpoint/2010/main" val="564781948"/>
      </p:ext>
    </p:extLst>
  </p:cSld>
</p:sld>
</file>

<file path=ppt/slides/slide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8AF1910-4B6D-4156-B098-FEBCEA62CE61}"/>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COMPONENTS</a:t>
            </a:r>
          </a:p>
        </p:txBody>
      </p:sp>
      <p:sp>
        <p:nvSpPr>
          <p:cNvPr id="2" name="">
            <a:extLst xmlns:a="http://schemas.openxmlformats.org/drawingml/2006/main">
              <a:ext uri="{FF2B5EF4-FFF2-40B4-BE49-F238E27FC236}">
                <a16:creationId xmlns:a16="http://schemas.microsoft.com/office/drawing/2014/main" id="{BCE89963-B76F-4CFF-96A1-BF4CC5930452}"/>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Component responsibilities</a:t>
            </a:r>
          </a:p>
        </p:txBody>
      </p:sp>
      <p:sp>
        <p:nvSpPr>
          <p:cNvPr id="3" name="">
            <a:extLst xmlns:a="http://schemas.openxmlformats.org/drawingml/2006/main">
              <a:ext uri="{FF2B5EF4-FFF2-40B4-BE49-F238E27FC236}">
                <a16:creationId xmlns:a16="http://schemas.microsoft.com/office/drawing/2014/main" id="{744798B9-3C29-463E-A7E8-A1EE6593299A}"/>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App owns the shared cart and filters.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useProducts owns request logic.</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OrderForm owns its inputs and preview.</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Display components receive props.</a:t>
            </a:r>
          </a:p>
        </p:txBody>
      </p:sp>
      <p:sp>
        <p:nvSpPr>
          <p:cNvPr id="4" name="">
            <a:extLst xmlns:a="http://schemas.openxmlformats.org/drawingml/2006/main">
              <a:ext uri="{FF2B5EF4-FFF2-40B4-BE49-F238E27FC236}">
                <a16:creationId xmlns:a16="http://schemas.microsoft.com/office/drawing/2014/main" id="{AEAD2ED8-A065-4126-B1AC-0B4C242CE2F3}"/>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&lt;OrderForm cart={cart} /&gt;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&lt;ProductList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products={visibleProducts}</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cart={cart}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onAddToCart={handleAddToCart}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/&gt;</a:t>
            </a:r>
          </a:p>
        </p:txBody>
      </p:sp>
      <p:sp>
        <p:nvSpPr>
          <p:cNvPr id="5" name="">
            <a:extLst xmlns:a="http://schemas.openxmlformats.org/drawingml/2006/main">
              <a:ext uri="{FF2B5EF4-FFF2-40B4-BE49-F238E27FC236}">
                <a16:creationId xmlns:a16="http://schemas.microsoft.com/office/drawing/2014/main" id="{7B8EB337-D985-4DA4-9B9A-415AC135FCF2}"/>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Keep state near the components that need it</a:t>
            </a:r>
          </a:p>
        </p:txBody>
      </p:sp>
      <p:sp>
        <p:nvSpPr>
          <p:cNvPr id="6" name="">
            <a:extLst xmlns:a="http://schemas.openxmlformats.org/drawingml/2006/main">
              <a:ext uri="{FF2B5EF4-FFF2-40B4-BE49-F238E27FC236}">
                <a16:creationId xmlns:a16="http://schemas.microsoft.com/office/drawing/2014/main" id="{B49A5B32-87A0-4DEC-A105-CAF51697C72C}"/>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06</a:t>
            </a:r>
          </a:p>
        </p:txBody>
      </p:sp>
    </p:spTree>
    <p:extLst>
      <p:ext uri="{BB962C8B-B14F-4D97-AF65-F5344CB8AC3E}">
        <p14:creationId xmlns:p14="http://schemas.microsoft.com/office/powerpoint/2010/main" val="187485302"/>
      </p:ext>
    </p:extLst>
  </p:cSld>
</p:sld>
</file>

<file path=ppt/slides/slide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287D285-8DFC-45AB-97A4-916D239CAC18}"/>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CUSTOM HOOKS</a:t>
            </a:r>
          </a:p>
        </p:txBody>
      </p:sp>
      <p:sp>
        <p:nvSpPr>
          <p:cNvPr id="2" name="">
            <a:extLst xmlns:a="http://schemas.openxmlformats.org/drawingml/2006/main">
              <a:ext uri="{FF2B5EF4-FFF2-40B4-BE49-F238E27FC236}">
                <a16:creationId xmlns:a16="http://schemas.microsoft.com/office/drawing/2014/main" id="{A5DD54DE-4922-4AA3-8ACE-E76D7BE38235}"/>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A custom Hook</a:t>
            </a:r>
          </a:p>
        </p:txBody>
      </p:sp>
      <p:sp>
        <p:nvSpPr>
          <p:cNvPr id="3" name="">
            <a:extLst xmlns:a="http://schemas.openxmlformats.org/drawingml/2006/main">
              <a:ext uri="{FF2B5EF4-FFF2-40B4-BE49-F238E27FC236}">
                <a16:creationId xmlns:a16="http://schemas.microsoft.com/office/drawing/2014/main" id="{87F231C6-F917-436C-BC61-25CA509205C4}"/>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 custom Hook groups stateful logic.</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Its name starts with use.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Call it at the top level.</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It can return values and actions.</a:t>
            </a:r>
          </a:p>
        </p:txBody>
      </p:sp>
      <p:sp>
        <p:nvSpPr>
          <p:cNvPr id="4" name="">
            <a:extLst xmlns:a="http://schemas.openxmlformats.org/drawingml/2006/main">
              <a:ext uri="{FF2B5EF4-FFF2-40B4-BE49-F238E27FC236}">
                <a16:creationId xmlns:a16="http://schemas.microsoft.com/office/drawing/2014/main" id="{C5D26CF6-B69C-4611-AC7C-B9CFEAAFA871}"/>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const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products, status, error, retry</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 useProducts("/products.json");</a:t>
            </a:r>
          </a:p>
        </p:txBody>
      </p:sp>
      <p:sp>
        <p:nvSpPr>
          <p:cNvPr id="5" name="">
            <a:extLst xmlns:a="http://schemas.openxmlformats.org/drawingml/2006/main">
              <a:ext uri="{FF2B5EF4-FFF2-40B4-BE49-F238E27FC236}">
                <a16:creationId xmlns:a16="http://schemas.microsoft.com/office/drawing/2014/main" id="{70D86EAC-8E65-41E2-AB93-BA4959E06A08}"/>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App reads the result and decides what to render</a:t>
            </a:r>
          </a:p>
        </p:txBody>
      </p:sp>
      <p:sp>
        <p:nvSpPr>
          <p:cNvPr id="6" name="">
            <a:extLst xmlns:a="http://schemas.openxmlformats.org/drawingml/2006/main">
              <a:ext uri="{FF2B5EF4-FFF2-40B4-BE49-F238E27FC236}">
                <a16:creationId xmlns:a16="http://schemas.microsoft.com/office/drawing/2014/main" id="{987B4E58-ADE0-46B6-8B5B-42365930E9E5}"/>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07</a:t>
            </a:r>
          </a:p>
        </p:txBody>
      </p:sp>
    </p:spTree>
    <p:extLst>
      <p:ext uri="{BB962C8B-B14F-4D97-AF65-F5344CB8AC3E}">
        <p14:creationId xmlns:p14="http://schemas.microsoft.com/office/powerpoint/2010/main" val="436325472"/>
      </p:ext>
    </p:extLst>
  </p:cSld>
</p:sld>
</file>

<file path=ppt/slides/slide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AE02E84-4724-4929-9D6B-0D6409F6CDEC}"/>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CUSTOM HOOKS</a:t>
            </a:r>
          </a:p>
        </p:txBody>
      </p:sp>
      <p:sp>
        <p:nvSpPr>
          <p:cNvPr id="2" name="">
            <a:extLst xmlns:a="http://schemas.openxmlformats.org/drawingml/2006/main">
              <a:ext uri="{FF2B5EF4-FFF2-40B4-BE49-F238E27FC236}">
                <a16:creationId xmlns:a16="http://schemas.microsoft.com/office/drawing/2014/main" id="{DA69E5FF-1A47-430A-A6A5-18F07E1BD41E}"/>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Extract the Day 4 request logic</a:t>
            </a:r>
          </a:p>
        </p:txBody>
      </p:sp>
      <p:sp>
        <p:nvSpPr>
          <p:cNvPr id="3" name="">
            <a:extLst xmlns:a="http://schemas.openxmlformats.org/drawingml/2006/main">
              <a:ext uri="{FF2B5EF4-FFF2-40B4-BE49-F238E27FC236}">
                <a16:creationId xmlns:a16="http://schemas.microsoft.com/office/drawing/2014/main" id="{A113AD51-FB15-4713-B7E3-2AAB46CF0C85}"/>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Move request state and the Effect.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Keep loading, validation and cleanup.</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Return the data, status and Retry action.</a:t>
            </a:r>
          </a:p>
        </p:txBody>
      </p:sp>
      <p:sp>
        <p:nvSpPr>
          <p:cNvPr id="4" name="">
            <a:extLst xmlns:a="http://schemas.openxmlformats.org/drawingml/2006/main">
              <a:ext uri="{FF2B5EF4-FFF2-40B4-BE49-F238E27FC236}">
                <a16:creationId xmlns:a16="http://schemas.microsoft.com/office/drawing/2014/main" id="{79CC9FDC-ED82-417A-8B6B-8198BA31B0B4}"/>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export function useProducts(url)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 useState + useEffect from Day 4</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function retry()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setRetryCount(count =&gt; count + 1);</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return { products, status, error, retry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E3F8D979-E2DB-4F6E-8CE5-4AAFF8A8819D}"/>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The working behavior stays the same</a:t>
            </a:r>
          </a:p>
        </p:txBody>
      </p:sp>
      <p:sp>
        <p:nvSpPr>
          <p:cNvPr id="6" name="">
            <a:extLst xmlns:a="http://schemas.openxmlformats.org/drawingml/2006/main">
              <a:ext uri="{FF2B5EF4-FFF2-40B4-BE49-F238E27FC236}">
                <a16:creationId xmlns:a16="http://schemas.microsoft.com/office/drawing/2014/main" id="{A98CB27F-BA14-419F-9693-6C2D23A6822D}"/>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08</a:t>
            </a:r>
          </a:p>
        </p:txBody>
      </p:sp>
    </p:spTree>
    <p:extLst>
      <p:ext uri="{BB962C8B-B14F-4D97-AF65-F5344CB8AC3E}">
        <p14:creationId xmlns:p14="http://schemas.microsoft.com/office/powerpoint/2010/main" val="1941324740"/>
      </p:ext>
    </p:extLst>
  </p:cSld>
</p:sld>
</file>

<file path=ppt/slides/slide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37B2C02-1904-4C64-A42E-AB044865199A}"/>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CUSTOM HOOKS</a:t>
            </a:r>
          </a:p>
        </p:txBody>
      </p:sp>
      <p:sp>
        <p:nvSpPr>
          <p:cNvPr id="2" name="">
            <a:extLst xmlns:a="http://schemas.openxmlformats.org/drawingml/2006/main">
              <a:ext uri="{FF2B5EF4-FFF2-40B4-BE49-F238E27FC236}">
                <a16:creationId xmlns:a16="http://schemas.microsoft.com/office/drawing/2014/main" id="{8C3FB84A-9F63-454C-B58C-1664E42F90FE}"/>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Dependencies after extraction</a:t>
            </a:r>
          </a:p>
        </p:txBody>
      </p:sp>
      <p:sp>
        <p:nvSpPr>
          <p:cNvPr id="3" name="">
            <a:extLst xmlns:a="http://schemas.openxmlformats.org/drawingml/2006/main">
              <a:ext uri="{FF2B5EF4-FFF2-40B4-BE49-F238E27FC236}">
                <a16:creationId xmlns:a16="http://schemas.microsoft.com/office/drawing/2014/main" id="{05B00082-E942-47E9-8387-E22BCC02AA91}"/>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resource URL is now a parameter.</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Include url and retryCount as dependencies.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Search and cart updates do not refetch.</a:t>
            </a:r>
          </a:p>
        </p:txBody>
      </p:sp>
      <p:sp>
        <p:nvSpPr>
          <p:cNvPr id="4" name="">
            <a:extLst xmlns:a="http://schemas.openxmlformats.org/drawingml/2006/main">
              <a:ext uri="{FF2B5EF4-FFF2-40B4-BE49-F238E27FC236}">
                <a16:creationId xmlns:a16="http://schemas.microsoft.com/office/drawing/2014/main" id="{38C07E32-30A5-4068-A3CD-53502425F216}"/>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useEffect(() =&gt;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 Load the current url.</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 Return request cleanup.</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[url, retryCount]);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&lt;button onClick={retry}&gt;Retry&lt;/button&gt;</a:t>
            </a:r>
          </a:p>
        </p:txBody>
      </p:sp>
      <p:sp>
        <p:nvSpPr>
          <p:cNvPr id="5" name="">
            <a:extLst xmlns:a="http://schemas.openxmlformats.org/drawingml/2006/main">
              <a:ext uri="{FF2B5EF4-FFF2-40B4-BE49-F238E27FC236}">
                <a16:creationId xmlns:a16="http://schemas.microsoft.com/office/drawing/2014/main" id="{DF4E6E49-A873-4235-92B6-95D7FAA80617}"/>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Changing the URL starts a new request</a:t>
            </a:r>
          </a:p>
        </p:txBody>
      </p:sp>
      <p:sp>
        <p:nvSpPr>
          <p:cNvPr id="6" name="">
            <a:extLst xmlns:a="http://schemas.openxmlformats.org/drawingml/2006/main">
              <a:ext uri="{FF2B5EF4-FFF2-40B4-BE49-F238E27FC236}">
                <a16:creationId xmlns:a16="http://schemas.microsoft.com/office/drawing/2014/main" id="{D554BC57-CAD2-40DE-93BE-3F5978736F08}"/>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09</a:t>
            </a:r>
          </a:p>
        </p:txBody>
      </p:sp>
    </p:spTree>
    <p:extLst>
      <p:ext uri="{BB962C8B-B14F-4D97-AF65-F5344CB8AC3E}">
        <p14:creationId xmlns:p14="http://schemas.microsoft.com/office/powerpoint/2010/main" val="823203504"/>
      </p:ext>
    </p:extLst>
  </p:cSld>
</p:sld>
</file>

<file path=ppt/slides/slide1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FE33E6C-60CB-480D-B900-B06754725780}"/>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CUSTOM HOOKS</a:t>
            </a:r>
          </a:p>
        </p:txBody>
      </p:sp>
      <p:sp>
        <p:nvSpPr>
          <p:cNvPr id="2" name="">
            <a:extLst xmlns:a="http://schemas.openxmlformats.org/drawingml/2006/main">
              <a:ext uri="{FF2B5EF4-FFF2-40B4-BE49-F238E27FC236}">
                <a16:creationId xmlns:a16="http://schemas.microsoft.com/office/drawing/2014/main" id="{171A6E81-1A2E-45A1-8386-BCA4D226FF72}"/>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Hooks and plain helper functions</a:t>
            </a:r>
          </a:p>
        </p:txBody>
      </p:sp>
      <p:sp>
        <p:nvSpPr>
          <p:cNvPr id="3" name="">
            <a:extLst xmlns:a="http://schemas.openxmlformats.org/drawingml/2006/main">
              <a:ext uri="{FF2B5EF4-FFF2-40B4-BE49-F238E27FC236}">
                <a16:creationId xmlns:a16="http://schemas.microsoft.com/office/drawing/2014/main" id="{04DCE18A-64BA-47A9-9F76-415E65FA202F}"/>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useProducts calls React Hooks.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validateOrder is a plain function.</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createOrderDraft computes a snapshot.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Plain helpers can run in Node.</a:t>
            </a:r>
          </a:p>
        </p:txBody>
      </p:sp>
      <p:sp>
        <p:nvSpPr>
          <p:cNvPr id="4" name="">
            <a:extLst xmlns:a="http://schemas.openxmlformats.org/drawingml/2006/main">
              <a:ext uri="{FF2B5EF4-FFF2-40B4-BE49-F238E27FC236}">
                <a16:creationId xmlns:a16="http://schemas.microsoft.com/office/drawing/2014/main" id="{FB3E4F9F-08C4-402D-817C-2793F4DDB79A}"/>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React component or custom Hook:</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const data = useProducts(url);</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Plain JavaScript: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const message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validateOrder(cart, customerName);</a:t>
            </a:r>
          </a:p>
        </p:txBody>
      </p:sp>
      <p:sp>
        <p:nvSpPr>
          <p:cNvPr id="5" name="">
            <a:extLst xmlns:a="http://schemas.openxmlformats.org/drawingml/2006/main">
              <a:ext uri="{FF2B5EF4-FFF2-40B4-BE49-F238E27FC236}">
                <a16:creationId xmlns:a16="http://schemas.microsoft.com/office/drawing/2014/main" id="{C973945B-FB28-4431-B1D3-6AC1222854F9}"/>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A function without Hooks needs no use prefix</a:t>
            </a:r>
          </a:p>
        </p:txBody>
      </p:sp>
      <p:sp>
        <p:nvSpPr>
          <p:cNvPr id="6" name="">
            <a:extLst xmlns:a="http://schemas.openxmlformats.org/drawingml/2006/main">
              <a:ext uri="{FF2B5EF4-FFF2-40B4-BE49-F238E27FC236}">
                <a16:creationId xmlns:a16="http://schemas.microsoft.com/office/drawing/2014/main" id="{362348A6-2E3A-4DD2-A07C-4571FC40236C}"/>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10</a:t>
            </a:r>
          </a:p>
        </p:txBody>
      </p:sp>
    </p:spTree>
    <p:extLst>
      <p:ext uri="{BB962C8B-B14F-4D97-AF65-F5344CB8AC3E}">
        <p14:creationId xmlns:p14="http://schemas.microsoft.com/office/powerpoint/2010/main" val="80206476"/>
      </p:ext>
    </p:extLst>
  </p:cSld>
</p:sld>
</file>

<file path=ppt/slides/slide1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7D70EC7-D4D2-4889-B02F-8731D264AF86}"/>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FORM STATE</a:t>
            </a:r>
          </a:p>
        </p:txBody>
      </p:sp>
      <p:sp>
        <p:nvSpPr>
          <p:cNvPr id="2" name="">
            <a:extLst xmlns:a="http://schemas.openxmlformats.org/drawingml/2006/main">
              <a:ext uri="{FF2B5EF4-FFF2-40B4-BE49-F238E27FC236}">
                <a16:creationId xmlns:a16="http://schemas.microsoft.com/office/drawing/2014/main" id="{B2C09BC3-4065-4DF1-A411-0CF3E8A3F21A}"/>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Controlled form inputs</a:t>
            </a:r>
          </a:p>
        </p:txBody>
      </p:sp>
      <p:sp>
        <p:nvSpPr>
          <p:cNvPr id="3" name="">
            <a:extLst xmlns:a="http://schemas.openxmlformats.org/drawingml/2006/main">
              <a:ext uri="{FF2B5EF4-FFF2-40B4-BE49-F238E27FC236}">
                <a16:creationId xmlns:a16="http://schemas.microsoft.com/office/drawing/2014/main" id="{8FBE5330-8974-493B-B6DB-6F47985E3E1D}"/>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Customer name and note start as empty text.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value reads state.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onChange writes the typed value.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preview has separate submitted state.</a:t>
            </a:r>
          </a:p>
        </p:txBody>
      </p:sp>
      <p:sp>
        <p:nvSpPr>
          <p:cNvPr id="4" name="">
            <a:extLst xmlns:a="http://schemas.openxmlformats.org/drawingml/2006/main">
              <a:ext uri="{FF2B5EF4-FFF2-40B4-BE49-F238E27FC236}">
                <a16:creationId xmlns:a16="http://schemas.microsoft.com/office/drawing/2014/main" id="{489B9D29-B8FC-46CC-AEA6-D9C74130D02B}"/>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const [customerName, setCustomerName]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useState("");</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const [note, setNote] = useState("");</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const [error, setError] = useState("");</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const [draft, setDraft] = useState(null);</a:t>
            </a:r>
          </a:p>
        </p:txBody>
      </p:sp>
      <p:sp>
        <p:nvSpPr>
          <p:cNvPr id="5" name="">
            <a:extLst xmlns:a="http://schemas.openxmlformats.org/drawingml/2006/main">
              <a:ext uri="{FF2B5EF4-FFF2-40B4-BE49-F238E27FC236}">
                <a16:creationId xmlns:a16="http://schemas.microsoft.com/office/drawing/2014/main" id="{460F14A7-BB9B-4663-A520-1CEB55A81817}"/>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Typing updates the form; submitting captures a draft</a:t>
            </a:r>
          </a:p>
        </p:txBody>
      </p:sp>
      <p:sp>
        <p:nvSpPr>
          <p:cNvPr id="6" name="">
            <a:extLst xmlns:a="http://schemas.openxmlformats.org/drawingml/2006/main">
              <a:ext uri="{FF2B5EF4-FFF2-40B4-BE49-F238E27FC236}">
                <a16:creationId xmlns:a16="http://schemas.microsoft.com/office/drawing/2014/main" id="{8B63BB42-A051-4A8B-8847-2394050D6EE3}"/>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11</a:t>
            </a:r>
          </a:p>
        </p:txBody>
      </p:sp>
    </p:spTree>
    <p:extLst>
      <p:ext uri="{BB962C8B-B14F-4D97-AF65-F5344CB8AC3E}">
        <p14:creationId xmlns:p14="http://schemas.microsoft.com/office/powerpoint/2010/main" val="916560646"/>
      </p:ext>
    </p:extLst>
  </p:cSld>
</p:sld>
</file>

<file path=ppt/slides/slide1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345643F-0EDC-4DEB-8E2F-ED184EF69EDF}"/>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FORM STATE</a:t>
            </a:r>
          </a:p>
        </p:txBody>
      </p:sp>
      <p:sp>
        <p:nvSpPr>
          <p:cNvPr id="2" name="">
            <a:extLst xmlns:a="http://schemas.openxmlformats.org/drawingml/2006/main">
              <a:ext uri="{FF2B5EF4-FFF2-40B4-BE49-F238E27FC236}">
                <a16:creationId xmlns:a16="http://schemas.microsoft.com/office/drawing/2014/main" id="{F6B07E77-CA8D-43FF-BBEB-A377890BE8E8}"/>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Labels and text input</a:t>
            </a:r>
          </a:p>
        </p:txBody>
      </p:sp>
      <p:sp>
        <p:nvSpPr>
          <p:cNvPr id="3" name="">
            <a:extLst xmlns:a="http://schemas.openxmlformats.org/drawingml/2006/main">
              <a:ext uri="{FF2B5EF4-FFF2-40B4-BE49-F238E27FC236}">
                <a16:creationId xmlns:a16="http://schemas.microsoft.com/office/drawing/2014/main" id="{B1F323DD-19C9-4294-9818-50A84104A65D}"/>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 label identifies the input.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id connects label and control.</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Read event.target.value on each change.</a:t>
            </a:r>
          </a:p>
        </p:txBody>
      </p:sp>
      <p:sp>
        <p:nvSpPr>
          <p:cNvPr id="4" name="">
            <a:extLst xmlns:a="http://schemas.openxmlformats.org/drawingml/2006/main">
              <a:ext uri="{FF2B5EF4-FFF2-40B4-BE49-F238E27FC236}">
                <a16:creationId xmlns:a16="http://schemas.microsoft.com/office/drawing/2014/main" id="{82CE0D84-0366-4874-8D3D-A97C68E9FDBE}"/>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&lt;label htmlFor="customer-name"&gt;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Customer name</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&lt;/label&gt;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&lt;input id="customer-name"</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value={customerName}</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onChange={event =&gt;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setCustomerName(event.target.value)}</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/&gt;</a:t>
            </a:r>
          </a:p>
        </p:txBody>
      </p:sp>
      <p:sp>
        <p:nvSpPr>
          <p:cNvPr id="5" name="">
            <a:extLst xmlns:a="http://schemas.openxmlformats.org/drawingml/2006/main">
              <a:ext uri="{FF2B5EF4-FFF2-40B4-BE49-F238E27FC236}">
                <a16:creationId xmlns:a16="http://schemas.microsoft.com/office/drawing/2014/main" id="{061C2C45-1A7A-4AD1-A5DD-EA9A4CF044DB}"/>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The React state follows the typed text</a:t>
            </a:r>
          </a:p>
        </p:txBody>
      </p:sp>
      <p:sp>
        <p:nvSpPr>
          <p:cNvPr id="6" name="">
            <a:extLst xmlns:a="http://schemas.openxmlformats.org/drawingml/2006/main">
              <a:ext uri="{FF2B5EF4-FFF2-40B4-BE49-F238E27FC236}">
                <a16:creationId xmlns:a16="http://schemas.microsoft.com/office/drawing/2014/main" id="{2DD133E6-31F1-484C-A8B7-65FB7C7BDB31}"/>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12</a:t>
            </a:r>
          </a:p>
        </p:txBody>
      </p:sp>
    </p:spTree>
    <p:extLst>
      <p:ext uri="{BB962C8B-B14F-4D97-AF65-F5344CB8AC3E}">
        <p14:creationId xmlns:p14="http://schemas.microsoft.com/office/powerpoint/2010/main" val="1981572488"/>
      </p:ext>
    </p:extLst>
  </p:cSld>
</p:sld>
</file>

<file path=ppt/slides/slide1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23AED08-6711-47F5-8AA0-E8B537C564C2}"/>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FORM STATE</a:t>
            </a:r>
          </a:p>
        </p:txBody>
      </p:sp>
      <p:sp>
        <p:nvSpPr>
          <p:cNvPr id="2" name="">
            <a:extLst xmlns:a="http://schemas.openxmlformats.org/drawingml/2006/main">
              <a:ext uri="{FF2B5EF4-FFF2-40B4-BE49-F238E27FC236}">
                <a16:creationId xmlns:a16="http://schemas.microsoft.com/office/drawing/2014/main" id="{CB308BD1-FABA-48D7-9132-E71AEC824FA6}"/>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Optional delivery note</a:t>
            </a:r>
          </a:p>
        </p:txBody>
      </p:sp>
      <p:sp>
        <p:nvSpPr>
          <p:cNvPr id="3" name="">
            <a:extLst xmlns:a="http://schemas.openxmlformats.org/drawingml/2006/main">
              <a:ext uri="{FF2B5EF4-FFF2-40B4-BE49-F238E27FC236}">
                <a16:creationId xmlns:a16="http://schemas.microsoft.com/office/drawing/2014/main" id="{DE82A70A-4725-4226-B548-FBBACA1A0E07}"/>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 textarea accepts longer text.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It is controlled like a text input.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note is optional in this project.</a:t>
            </a:r>
          </a:p>
        </p:txBody>
      </p:sp>
      <p:sp>
        <p:nvSpPr>
          <p:cNvPr id="4" name="">
            <a:extLst xmlns:a="http://schemas.openxmlformats.org/drawingml/2006/main">
              <a:ext uri="{FF2B5EF4-FFF2-40B4-BE49-F238E27FC236}">
                <a16:creationId xmlns:a16="http://schemas.microsoft.com/office/drawing/2014/main" id="{5B847D34-1091-43AC-868B-A1DE200DA0FA}"/>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&lt;textarea</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value={note}</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onChange={event =&gt;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setNote(event.target.value)}</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/&gt;</a:t>
            </a:r>
          </a:p>
        </p:txBody>
      </p:sp>
      <p:sp>
        <p:nvSpPr>
          <p:cNvPr id="5" name="">
            <a:extLst xmlns:a="http://schemas.openxmlformats.org/drawingml/2006/main">
              <a:ext uri="{FF2B5EF4-FFF2-40B4-BE49-F238E27FC236}">
                <a16:creationId xmlns:a16="http://schemas.microsoft.com/office/drawing/2014/main" id="{346AD38E-B188-41E0-B671-F50DE41F4869}"/>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An empty note appears as None in the preview</a:t>
            </a:r>
          </a:p>
        </p:txBody>
      </p:sp>
      <p:sp>
        <p:nvSpPr>
          <p:cNvPr id="6" name="">
            <a:extLst xmlns:a="http://schemas.openxmlformats.org/drawingml/2006/main">
              <a:ext uri="{FF2B5EF4-FFF2-40B4-BE49-F238E27FC236}">
                <a16:creationId xmlns:a16="http://schemas.microsoft.com/office/drawing/2014/main" id="{31E9155A-B52C-48F8-A5EF-FC0D36055345}"/>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13</a:t>
            </a:r>
          </a:p>
        </p:txBody>
      </p:sp>
    </p:spTree>
    <p:extLst>
      <p:ext uri="{BB962C8B-B14F-4D97-AF65-F5344CB8AC3E}">
        <p14:creationId xmlns:p14="http://schemas.microsoft.com/office/powerpoint/2010/main" val="644600269"/>
      </p:ext>
    </p:extLst>
  </p:cSld>
</p:sld>
</file>

<file path=ppt/slides/slide1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E8CA9D0-6601-40FC-91A4-F4A033559F3B}"/>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SUBMISSION</a:t>
            </a:r>
          </a:p>
        </p:txBody>
      </p:sp>
      <p:sp>
        <p:nvSpPr>
          <p:cNvPr id="2" name="">
            <a:extLst xmlns:a="http://schemas.openxmlformats.org/drawingml/2006/main">
              <a:ext uri="{FF2B5EF4-FFF2-40B4-BE49-F238E27FC236}">
                <a16:creationId xmlns:a16="http://schemas.microsoft.com/office/drawing/2014/main" id="{D1658E6A-8ACE-4035-A020-508F040F5436}"/>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Handle the form submit event</a:t>
            </a:r>
          </a:p>
        </p:txBody>
      </p:sp>
      <p:sp>
        <p:nvSpPr>
          <p:cNvPr id="3" name="">
            <a:extLst xmlns:a="http://schemas.openxmlformats.org/drawingml/2006/main">
              <a:ext uri="{FF2B5EF4-FFF2-40B4-BE49-F238E27FC236}">
                <a16:creationId xmlns:a16="http://schemas.microsoft.com/office/drawing/2014/main" id="{A13A1849-80C1-4160-B325-0617730F7977}"/>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Use onSubmit on the form.</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Prevent the default navigation.</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Validate before creating the preview.</a:t>
            </a:r>
          </a:p>
        </p:txBody>
      </p:sp>
      <p:sp>
        <p:nvSpPr>
          <p:cNvPr id="4" name="">
            <a:extLst xmlns:a="http://schemas.openxmlformats.org/drawingml/2006/main">
              <a:ext uri="{FF2B5EF4-FFF2-40B4-BE49-F238E27FC236}">
                <a16:creationId xmlns:a16="http://schemas.microsoft.com/office/drawing/2014/main" id="{71471A68-CD96-4E57-857F-6A4F7F9DE8A1}"/>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function handleSubmit(event)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event.preventDefault();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 Validate, then create a draft.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&lt;form onSubmit={handleSubmit}&gt;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&lt;button type="submit"&gt;Preview&lt;/button&gt;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&lt;/form&gt;</a:t>
            </a:r>
          </a:p>
        </p:txBody>
      </p:sp>
      <p:sp>
        <p:nvSpPr>
          <p:cNvPr id="5" name="">
            <a:extLst xmlns:a="http://schemas.openxmlformats.org/drawingml/2006/main">
              <a:ext uri="{FF2B5EF4-FFF2-40B4-BE49-F238E27FC236}">
                <a16:creationId xmlns:a16="http://schemas.microsoft.com/office/drawing/2014/main" id="{DFE63708-CCB3-44DB-94E0-930ED8C0BCD3}"/>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Clicking submit or pressing Enter follows one handler</a:t>
            </a:r>
          </a:p>
        </p:txBody>
      </p:sp>
      <p:sp>
        <p:nvSpPr>
          <p:cNvPr id="6" name="">
            <a:extLst xmlns:a="http://schemas.openxmlformats.org/drawingml/2006/main">
              <a:ext uri="{FF2B5EF4-FFF2-40B4-BE49-F238E27FC236}">
                <a16:creationId xmlns:a16="http://schemas.microsoft.com/office/drawing/2014/main" id="{4B23BC92-C2B5-4091-BF4C-A566759D54DF}"/>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14</a:t>
            </a:r>
          </a:p>
        </p:txBody>
      </p:sp>
    </p:spTree>
    <p:extLst>
      <p:ext uri="{BB962C8B-B14F-4D97-AF65-F5344CB8AC3E}">
        <p14:creationId xmlns:p14="http://schemas.microsoft.com/office/powerpoint/2010/main" val="150923697"/>
      </p:ext>
    </p:extLst>
  </p:cSld>
</p:sld>
</file>

<file path=ppt/slides/slide1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308C591-2857-4BA0-AC4A-A1346496A298}"/>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VALIDATION</a:t>
            </a:r>
          </a:p>
        </p:txBody>
      </p:sp>
      <p:sp>
        <p:nvSpPr>
          <p:cNvPr id="2" name="">
            <a:extLst xmlns:a="http://schemas.openxmlformats.org/drawingml/2006/main">
              <a:ext uri="{FF2B5EF4-FFF2-40B4-BE49-F238E27FC236}">
                <a16:creationId xmlns:a16="http://schemas.microsoft.com/office/drawing/2014/main" id="{CC2F67D9-2CED-436A-BF8B-60858EA78555}"/>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Our practice form rules</a:t>
            </a:r>
          </a:p>
        </p:txBody>
      </p:sp>
      <p:sp>
        <p:nvSpPr>
          <p:cNvPr id="3" name="">
            <a:extLst xmlns:a="http://schemas.openxmlformats.org/drawingml/2006/main">
              <a:ext uri="{FF2B5EF4-FFF2-40B4-BE49-F238E27FC236}">
                <a16:creationId xmlns:a16="http://schemas.microsoft.com/office/drawing/2014/main" id="{6827B5F8-136A-48E3-A0A0-E81D08D27DA2}"/>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 cart must contain at least one item.</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The trimmed name needs 2+ characters.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 delivery note is optional.</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Errors stop the preview.</a:t>
            </a:r>
          </a:p>
        </p:txBody>
      </p:sp>
      <p:sp>
        <p:nvSpPr>
          <p:cNvPr id="4" name="">
            <a:extLst xmlns:a="http://schemas.openxmlformats.org/drawingml/2006/main">
              <a:ext uri="{FF2B5EF4-FFF2-40B4-BE49-F238E27FC236}">
                <a16:creationId xmlns:a16="http://schemas.microsoft.com/office/drawing/2014/main" id="{890686C4-537C-4DF7-A520-796E7EB323FB}"/>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if (cart.length === 0)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return "Add an in-stock product.";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if (customerName.trim().length &lt; 2)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return "Enter a name: 2+ characters.";</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return "";</a:t>
            </a:r>
          </a:p>
        </p:txBody>
      </p:sp>
      <p:sp>
        <p:nvSpPr>
          <p:cNvPr id="5" name="">
            <a:extLst xmlns:a="http://schemas.openxmlformats.org/drawingml/2006/main">
              <a:ext uri="{FF2B5EF4-FFF2-40B4-BE49-F238E27FC236}">
                <a16:creationId xmlns:a16="http://schemas.microsoft.com/office/drawing/2014/main" id="{CB398D14-7F41-4FB2-A932-D035106AAD51}"/>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An empty string means these checks passed</a:t>
            </a:r>
          </a:p>
        </p:txBody>
      </p:sp>
      <p:sp>
        <p:nvSpPr>
          <p:cNvPr id="6" name="">
            <a:extLst xmlns:a="http://schemas.openxmlformats.org/drawingml/2006/main">
              <a:ext uri="{FF2B5EF4-FFF2-40B4-BE49-F238E27FC236}">
                <a16:creationId xmlns:a16="http://schemas.microsoft.com/office/drawing/2014/main" id="{6B6DE250-25D4-4821-9D33-BAD9CA8B0AFA}"/>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15</a:t>
            </a:r>
          </a:p>
        </p:txBody>
      </p:sp>
    </p:spTree>
    <p:extLst>
      <p:ext uri="{BB962C8B-B14F-4D97-AF65-F5344CB8AC3E}">
        <p14:creationId xmlns:p14="http://schemas.microsoft.com/office/powerpoint/2010/main" val="1312138688"/>
      </p:ext>
    </p:extLst>
  </p:cSld>
</p:sld>
</file>

<file path=ppt/slides/slide1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91B5E12-EBB7-4981-8E95-69B33A8C6378}"/>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VALIDATION</a:t>
            </a:r>
          </a:p>
        </p:txBody>
      </p:sp>
      <p:sp>
        <p:nvSpPr>
          <p:cNvPr id="2" name="">
            <a:extLst xmlns:a="http://schemas.openxmlformats.org/drawingml/2006/main">
              <a:ext uri="{FF2B5EF4-FFF2-40B4-BE49-F238E27FC236}">
                <a16:creationId xmlns:a16="http://schemas.microsoft.com/office/drawing/2014/main" id="{85E13E26-E927-4449-8967-77A8881CD5F0}"/>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Show an error and return early</a:t>
            </a:r>
          </a:p>
        </p:txBody>
      </p:sp>
      <p:sp>
        <p:nvSpPr>
          <p:cNvPr id="3" name="">
            <a:extLst xmlns:a="http://schemas.openxmlformats.org/drawingml/2006/main">
              <a:ext uri="{FF2B5EF4-FFF2-40B4-BE49-F238E27FC236}">
                <a16:creationId xmlns:a16="http://schemas.microsoft.com/office/drawing/2014/main" id="{6F880799-DD83-4785-A547-617DE4565881}"/>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Save the validation message.</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If there is an error, leave the handler.</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Only valid inputs create a draft.</a:t>
            </a:r>
          </a:p>
        </p:txBody>
      </p:sp>
      <p:sp>
        <p:nvSpPr>
          <p:cNvPr id="4" name="">
            <a:extLst xmlns:a="http://schemas.openxmlformats.org/drawingml/2006/main">
              <a:ext uri="{FF2B5EF4-FFF2-40B4-BE49-F238E27FC236}">
                <a16:creationId xmlns:a16="http://schemas.microsoft.com/office/drawing/2014/main" id="{FD2B7888-6FF0-4771-A484-3F57C6083783}"/>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const message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validateOrder(cart, customerName);</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setError(message);</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if (message) return;</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setDraft(createOrderDraft(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cart, customerName, note</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26052D19-8D37-4473-962F-46AFC7C24BCD}"/>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No invalid preview is created</a:t>
            </a:r>
          </a:p>
        </p:txBody>
      </p:sp>
      <p:sp>
        <p:nvSpPr>
          <p:cNvPr id="6" name="">
            <a:extLst xmlns:a="http://schemas.openxmlformats.org/drawingml/2006/main">
              <a:ext uri="{FF2B5EF4-FFF2-40B4-BE49-F238E27FC236}">
                <a16:creationId xmlns:a16="http://schemas.microsoft.com/office/drawing/2014/main" id="{C2E340A1-64B3-48F4-9005-44AF10161B77}"/>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16</a:t>
            </a:r>
          </a:p>
        </p:txBody>
      </p:sp>
    </p:spTree>
    <p:extLst>
      <p:ext uri="{BB962C8B-B14F-4D97-AF65-F5344CB8AC3E}">
        <p14:creationId xmlns:p14="http://schemas.microsoft.com/office/powerpoint/2010/main" val="615238767"/>
      </p:ext>
    </p:extLst>
  </p:cSld>
</p:sld>
</file>

<file path=ppt/slides/slide1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9AD0F7C-D528-48D5-ABF7-6CB39E5B3DEB}"/>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VALIDATION</a:t>
            </a:r>
          </a:p>
        </p:txBody>
      </p:sp>
      <p:sp>
        <p:nvSpPr>
          <p:cNvPr id="2" name="">
            <a:extLst xmlns:a="http://schemas.openxmlformats.org/drawingml/2006/main">
              <a:ext uri="{FF2B5EF4-FFF2-40B4-BE49-F238E27FC236}">
                <a16:creationId xmlns:a16="http://schemas.microsoft.com/office/drawing/2014/main" id="{8049ED03-6C51-4310-9596-FF804DC7EE20}"/>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Accessible feedback</a:t>
            </a:r>
          </a:p>
        </p:txBody>
      </p:sp>
      <p:sp>
        <p:nvSpPr>
          <p:cNvPr id="3" name="">
            <a:extLst xmlns:a="http://schemas.openxmlformats.org/drawingml/2006/main">
              <a:ext uri="{FF2B5EF4-FFF2-40B4-BE49-F238E27FC236}">
                <a16:creationId xmlns:a16="http://schemas.microsoft.com/office/drawing/2014/main" id="{5D503982-6186-4E97-8138-228B439B5473}"/>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Show the message close to the form.</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Use an alert for submission errors.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Associate feedback with the name input.</a:t>
            </a:r>
          </a:p>
        </p:txBody>
      </p:sp>
      <p:sp>
        <p:nvSpPr>
          <p:cNvPr id="4" name="">
            <a:extLst xmlns:a="http://schemas.openxmlformats.org/drawingml/2006/main">
              <a:ext uri="{FF2B5EF4-FFF2-40B4-BE49-F238E27FC236}">
                <a16:creationId xmlns:a16="http://schemas.microsoft.com/office/drawing/2014/main" id="{21A5A87E-D00C-46B1-86DE-C8CD61F58D24}"/>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{error &amp;&amp;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&lt;p id="order-error" role="alert"&gt;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{error}</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&lt;/p&gt;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Name input uses aria-describedby</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and aria-invalid for a name error.</a:t>
            </a:r>
          </a:p>
        </p:txBody>
      </p:sp>
      <p:sp>
        <p:nvSpPr>
          <p:cNvPr id="5" name="">
            <a:extLst xmlns:a="http://schemas.openxmlformats.org/drawingml/2006/main">
              <a:ext uri="{FF2B5EF4-FFF2-40B4-BE49-F238E27FC236}">
                <a16:creationId xmlns:a16="http://schemas.microsoft.com/office/drawing/2014/main" id="{7E4474C8-57F1-4FFF-8AE2-CDD655F10158}"/>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Explain the problem in words, not just colour</a:t>
            </a:r>
          </a:p>
        </p:txBody>
      </p:sp>
      <p:sp>
        <p:nvSpPr>
          <p:cNvPr id="6" name="">
            <a:extLst xmlns:a="http://schemas.openxmlformats.org/drawingml/2006/main">
              <a:ext uri="{FF2B5EF4-FFF2-40B4-BE49-F238E27FC236}">
                <a16:creationId xmlns:a16="http://schemas.microsoft.com/office/drawing/2014/main" id="{4978E0FC-CDCB-4247-994F-3BF576D27AA2}"/>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17</a:t>
            </a:r>
          </a:p>
        </p:txBody>
      </p:sp>
    </p:spTree>
    <p:extLst>
      <p:ext uri="{BB962C8B-B14F-4D97-AF65-F5344CB8AC3E}">
        <p14:creationId xmlns:p14="http://schemas.microsoft.com/office/powerpoint/2010/main" val="1273479034"/>
      </p:ext>
    </p:extLst>
  </p:cSld>
</p:sld>
</file>

<file path=ppt/slides/slide1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34A08D8-9A95-4742-BFF7-61AD85ACC3BA}"/>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PREVIEW</a:t>
            </a:r>
          </a:p>
        </p:txBody>
      </p:sp>
      <p:sp>
        <p:nvSpPr>
          <p:cNvPr id="2" name="">
            <a:extLst xmlns:a="http://schemas.openxmlformats.org/drawingml/2006/main">
              <a:ext uri="{FF2B5EF4-FFF2-40B4-BE49-F238E27FC236}">
                <a16:creationId xmlns:a16="http://schemas.microsoft.com/office/drawing/2014/main" id="{73907686-15EC-4231-AE86-E8A35E9C5553}"/>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Create the practice draft</a:t>
            </a:r>
          </a:p>
        </p:txBody>
      </p:sp>
      <p:sp>
        <p:nvSpPr>
          <p:cNvPr id="3" name="">
            <a:extLst xmlns:a="http://schemas.openxmlformats.org/drawingml/2006/main">
              <a:ext uri="{FF2B5EF4-FFF2-40B4-BE49-F238E27FC236}">
                <a16:creationId xmlns:a16="http://schemas.microsoft.com/office/drawing/2014/main" id="{167229B8-BFD4-4349-9257-DAAC9D7174D4}"/>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Copy selected item details.</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Trim the submitted text.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Compute the total from the cart.</a:t>
            </a:r>
          </a:p>
        </p:txBody>
      </p:sp>
      <p:sp>
        <p:nvSpPr>
          <p:cNvPr id="4" name="">
            <a:extLst xmlns:a="http://schemas.openxmlformats.org/drawingml/2006/main">
              <a:ext uri="{FF2B5EF4-FFF2-40B4-BE49-F238E27FC236}">
                <a16:creationId xmlns:a16="http://schemas.microsoft.com/office/drawing/2014/main" id="{0F931376-0173-4BE5-A21E-E3AAEDBAA767}"/>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return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customerName: customerName.trim(),</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note: note.trim(),</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items: cart.map(product =&gt;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id: product.id, name: product.name,</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price: product.price</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total: cart.reduce((sum, p) =&gt;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sum + p.price, 0)</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B9AF1E16-0840-4BDB-9038-799E5E052E70}"/>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Notebook + Bag → ₹580</a:t>
            </a:r>
          </a:p>
        </p:txBody>
      </p:sp>
      <p:sp>
        <p:nvSpPr>
          <p:cNvPr id="6" name="">
            <a:extLst xmlns:a="http://schemas.openxmlformats.org/drawingml/2006/main">
              <a:ext uri="{FF2B5EF4-FFF2-40B4-BE49-F238E27FC236}">
                <a16:creationId xmlns:a16="http://schemas.microsoft.com/office/drawing/2014/main" id="{FB3BDEFE-7F61-4F36-B4C9-C1192E6A45D6}"/>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18</a:t>
            </a:r>
          </a:p>
        </p:txBody>
      </p:sp>
    </p:spTree>
    <p:extLst>
      <p:ext uri="{BB962C8B-B14F-4D97-AF65-F5344CB8AC3E}">
        <p14:creationId xmlns:p14="http://schemas.microsoft.com/office/powerpoint/2010/main" val="2134114080"/>
      </p:ext>
    </p:extLst>
  </p:cSld>
</p:sld>
</file>

<file path=ppt/slides/slide1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B38783F-D8B7-4D29-A17B-00C56291FBD7}"/>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PREVIEW</a:t>
            </a:r>
          </a:p>
        </p:txBody>
      </p:sp>
      <p:sp>
        <p:nvSpPr>
          <p:cNvPr id="2" name="">
            <a:extLst xmlns:a="http://schemas.openxmlformats.org/drawingml/2006/main">
              <a:ext uri="{FF2B5EF4-FFF2-40B4-BE49-F238E27FC236}">
                <a16:creationId xmlns:a16="http://schemas.microsoft.com/office/drawing/2014/main" id="{9FFF38BA-D295-4245-9326-E3CDAA43D41A}"/>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Render the submitted preview</a:t>
            </a:r>
          </a:p>
        </p:txBody>
      </p:sp>
      <p:sp>
        <p:nvSpPr>
          <p:cNvPr id="3" name="">
            <a:extLst xmlns:a="http://schemas.openxmlformats.org/drawingml/2006/main">
              <a:ext uri="{FF2B5EF4-FFF2-40B4-BE49-F238E27FC236}">
                <a16:creationId xmlns:a16="http://schemas.microsoft.com/office/drawing/2014/main" id="{F4125F14-9FE1-4B8F-B58F-439158397264}"/>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draft starts as null.</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After valid submission, show the snapshot.</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Map its items using stable IDs.</a:t>
            </a:r>
          </a:p>
        </p:txBody>
      </p:sp>
      <p:sp>
        <p:nvSpPr>
          <p:cNvPr id="4" name="">
            <a:extLst xmlns:a="http://schemas.openxmlformats.org/drawingml/2006/main">
              <a:ext uri="{FF2B5EF4-FFF2-40B4-BE49-F238E27FC236}">
                <a16:creationId xmlns:a16="http://schemas.microsoft.com/office/drawing/2014/main" id="{432BF199-350B-4CFC-8B84-1801B6F56E18}"/>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{draft &amp;&amp;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&lt;section&gt;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&lt;h3&gt;Practice order preview&lt;/h3&gt;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&lt;p&gt;Snapshot total: ₹{draft.total}&lt;/p&gt;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&lt;/section&gt;</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C03921C8-2EFE-45E0-B0A0-FCD2051C7200}"/>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The preview explicitly says no order was placed</a:t>
            </a:r>
          </a:p>
        </p:txBody>
      </p:sp>
      <p:sp>
        <p:nvSpPr>
          <p:cNvPr id="6" name="">
            <a:extLst xmlns:a="http://schemas.openxmlformats.org/drawingml/2006/main">
              <a:ext uri="{FF2B5EF4-FFF2-40B4-BE49-F238E27FC236}">
                <a16:creationId xmlns:a16="http://schemas.microsoft.com/office/drawing/2014/main" id="{59401AC7-812A-4918-9BAA-856F0097CCF4}"/>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19</a:t>
            </a:r>
          </a:p>
        </p:txBody>
      </p:sp>
    </p:spTree>
    <p:extLst>
      <p:ext uri="{BB962C8B-B14F-4D97-AF65-F5344CB8AC3E}">
        <p14:creationId xmlns:p14="http://schemas.microsoft.com/office/powerpoint/2010/main" val="406089305"/>
      </p:ext>
    </p:extLst>
  </p:cSld>
</p:sld>
</file>

<file path=ppt/slides/slide2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9302A38-F794-47A6-A5C8-A528226507C5}"/>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PREVIEW</a:t>
            </a:r>
          </a:p>
        </p:txBody>
      </p:sp>
      <p:sp>
        <p:nvSpPr>
          <p:cNvPr id="2" name="">
            <a:extLst xmlns:a="http://schemas.openxmlformats.org/drawingml/2006/main">
              <a:ext uri="{FF2B5EF4-FFF2-40B4-BE49-F238E27FC236}">
                <a16:creationId xmlns:a16="http://schemas.microsoft.com/office/drawing/2014/main" id="{C541CD5B-ED7B-4013-9021-E21161C02DE5}"/>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Current cart and captured snapshot</a:t>
            </a:r>
          </a:p>
        </p:txBody>
      </p:sp>
      <p:sp>
        <p:nvSpPr>
          <p:cNvPr id="3" name="">
            <a:extLst xmlns:a="http://schemas.openxmlformats.org/drawingml/2006/main">
              <a:ext uri="{FF2B5EF4-FFF2-40B4-BE49-F238E27FC236}">
                <a16:creationId xmlns:a16="http://schemas.microsoft.com/office/drawing/2014/main" id="{3B50E5D5-E9A4-4AFF-BEFA-61530305E4A1}"/>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CartPanel shows the current cart.</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The preview shows data at submit time.</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Later edits leave that snapshot unchanged.</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Submit again to capture the updated values.</a:t>
            </a:r>
          </a:p>
        </p:txBody>
      </p:sp>
      <p:sp>
        <p:nvSpPr>
          <p:cNvPr id="4" name="">
            <a:extLst xmlns:a="http://schemas.openxmlformats.org/drawingml/2006/main">
              <a:ext uri="{FF2B5EF4-FFF2-40B4-BE49-F238E27FC236}">
                <a16:creationId xmlns:a16="http://schemas.microsoft.com/office/drawing/2014/main" id="{DDFFAD76-8632-4A8B-9751-BE8B34C3EEE8}"/>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p:txBody>
      </p:sp>
      <p:sp>
        <p:nvSpPr>
          <p:cNvPr id="5" name="">
            <a:extLst xmlns:a="http://schemas.openxmlformats.org/drawingml/2006/main">
              <a:ext uri="{FF2B5EF4-FFF2-40B4-BE49-F238E27FC236}">
                <a16:creationId xmlns:a16="http://schemas.microsoft.com/office/drawing/2014/main" id="{A6CFF046-D10A-49F9-BCBE-13FC7E6EC0C9}"/>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
            </a:r>
          </a:p>
        </p:txBody>
      </p:sp>
      <p:sp>
        <p:nvSpPr>
          <p:cNvPr id="6" name="">
            <a:extLst xmlns:a="http://schemas.openxmlformats.org/drawingml/2006/main">
              <a:ext uri="{FF2B5EF4-FFF2-40B4-BE49-F238E27FC236}">
                <a16:creationId xmlns:a16="http://schemas.microsoft.com/office/drawing/2014/main" id="{F73552AC-8B9D-4331-A4A1-7712CD2385AF}"/>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20</a:t>
            </a:r>
          </a:p>
        </p:txBody>
      </p:sp>
    </p:spTree>
    <p:extLst>
      <p:ext uri="{BB962C8B-B14F-4D97-AF65-F5344CB8AC3E}">
        <p14:creationId xmlns:p14="http://schemas.microsoft.com/office/powerpoint/2010/main" val="352255975"/>
      </p:ext>
    </p:extLst>
  </p:cSld>
</p:sld>
</file>

<file path=ppt/slides/slide2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1B9156A-EE3F-4B95-AF39-BB85565ABC9B}"/>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RESET</a:t>
            </a:r>
          </a:p>
        </p:txBody>
      </p:sp>
      <p:sp>
        <p:nvSpPr>
          <p:cNvPr id="2" name="">
            <a:extLst xmlns:a="http://schemas.openxmlformats.org/drawingml/2006/main">
              <a:ext uri="{FF2B5EF4-FFF2-40B4-BE49-F238E27FC236}">
                <a16:creationId xmlns:a16="http://schemas.microsoft.com/office/drawing/2014/main" id="{EB47B319-3EC8-4981-837F-E71BCE1EE737}"/>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Reset only the order form</a:t>
            </a:r>
          </a:p>
        </p:txBody>
      </p:sp>
      <p:sp>
        <p:nvSpPr>
          <p:cNvPr id="3" name="">
            <a:extLst xmlns:a="http://schemas.openxmlformats.org/drawingml/2006/main">
              <a:ext uri="{FF2B5EF4-FFF2-40B4-BE49-F238E27FC236}">
                <a16:creationId xmlns:a16="http://schemas.microsoft.com/office/drawing/2014/main" id="{74E1CAC1-8436-4612-8ED2-364C75485DB5}"/>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Clear the name, note and error.</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Remove the submitted preview.</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Keep the selected cart items.</a:t>
            </a:r>
          </a:p>
        </p:txBody>
      </p:sp>
      <p:sp>
        <p:nvSpPr>
          <p:cNvPr id="4" name="">
            <a:extLst xmlns:a="http://schemas.openxmlformats.org/drawingml/2006/main">
              <a:ext uri="{FF2B5EF4-FFF2-40B4-BE49-F238E27FC236}">
                <a16:creationId xmlns:a16="http://schemas.microsoft.com/office/drawing/2014/main" id="{2E3353C5-1E63-4B5A-8A0E-2C0D24B842F2}"/>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function handleReset()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setCustomerName("");</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setNote("");</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setError("");</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setDraft(null);</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3A5372FD-BE14-47A1-BB21-D9099541EE87}"/>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Reset order form is separate from Clear cart</a:t>
            </a:r>
          </a:p>
        </p:txBody>
      </p:sp>
      <p:sp>
        <p:nvSpPr>
          <p:cNvPr id="6" name="">
            <a:extLst xmlns:a="http://schemas.openxmlformats.org/drawingml/2006/main">
              <a:ext uri="{FF2B5EF4-FFF2-40B4-BE49-F238E27FC236}">
                <a16:creationId xmlns:a16="http://schemas.microsoft.com/office/drawing/2014/main" id="{45149D33-0C9E-440F-A260-2169947589D5}"/>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21</a:t>
            </a:r>
          </a:p>
        </p:txBody>
      </p:sp>
    </p:spTree>
    <p:extLst>
      <p:ext uri="{BB962C8B-B14F-4D97-AF65-F5344CB8AC3E}">
        <p14:creationId xmlns:p14="http://schemas.microsoft.com/office/powerpoint/2010/main" val="1661572830"/>
      </p:ext>
    </p:extLst>
  </p:cSld>
</p:sld>
</file>

<file path=ppt/slides/slide2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02A2DEE-FAC9-4E83-BF95-FA1A7F38554E}"/>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BROWSER CHECKS</a:t>
            </a:r>
          </a:p>
        </p:txBody>
      </p:sp>
      <p:sp>
        <p:nvSpPr>
          <p:cNvPr id="2" name="">
            <a:extLst xmlns:a="http://schemas.openxmlformats.org/drawingml/2006/main">
              <a:ext uri="{FF2B5EF4-FFF2-40B4-BE49-F238E27FC236}">
                <a16:creationId xmlns:a16="http://schemas.microsoft.com/office/drawing/2014/main" id="{D07F2595-855A-4888-9726-F766589C3D48}"/>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Check the complete workflow</a:t>
            </a:r>
          </a:p>
        </p:txBody>
      </p:sp>
      <p:sp>
        <p:nvSpPr>
          <p:cNvPr id="3" name="">
            <a:extLst xmlns:a="http://schemas.openxmlformats.org/drawingml/2006/main">
              <a:ext uri="{FF2B5EF4-FFF2-40B4-BE49-F238E27FC236}">
                <a16:creationId xmlns:a16="http://schemas.microsoft.com/office/drawing/2014/main" id="{B0B95FA6-A587-4FAE-BC30-E992AEEAC033}"/>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Empty cart → friendly error.</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Blank or one-character name → name error.</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Valid name + Notebook + Bag → ₹580.</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Edit cart → submit again for a new snapshot.</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Reset form → cart remains selected.</a:t>
            </a:r>
          </a:p>
        </p:txBody>
      </p:sp>
      <p:sp>
        <p:nvSpPr>
          <p:cNvPr id="4" name="">
            <a:extLst xmlns:a="http://schemas.openxmlformats.org/drawingml/2006/main">
              <a:ext uri="{FF2B5EF4-FFF2-40B4-BE49-F238E27FC236}">
                <a16:creationId xmlns:a16="http://schemas.microsoft.com/office/drawing/2014/main" id="{710400FA-322B-44AD-8737-9E3D859BEC33}"/>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p:txBody>
      </p:sp>
      <p:sp>
        <p:nvSpPr>
          <p:cNvPr id="5" name="">
            <a:extLst xmlns:a="http://schemas.openxmlformats.org/drawingml/2006/main">
              <a:ext uri="{FF2B5EF4-FFF2-40B4-BE49-F238E27FC236}">
                <a16:creationId xmlns:a16="http://schemas.microsoft.com/office/drawing/2014/main" id="{F327A647-8768-4204-B0E9-B670D38E81C0}"/>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
            </a:r>
          </a:p>
        </p:txBody>
      </p:sp>
      <p:sp>
        <p:nvSpPr>
          <p:cNvPr id="6" name="">
            <a:extLst xmlns:a="http://schemas.openxmlformats.org/drawingml/2006/main">
              <a:ext uri="{FF2B5EF4-FFF2-40B4-BE49-F238E27FC236}">
                <a16:creationId xmlns:a16="http://schemas.microsoft.com/office/drawing/2014/main" id="{8042FDE8-F4AA-4A24-8B59-2B1E31AB7594}"/>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22</a:t>
            </a:r>
          </a:p>
        </p:txBody>
      </p:sp>
    </p:spTree>
    <p:extLst>
      <p:ext uri="{BB962C8B-B14F-4D97-AF65-F5344CB8AC3E}">
        <p14:creationId xmlns:p14="http://schemas.microsoft.com/office/powerpoint/2010/main" val="421415645"/>
      </p:ext>
    </p:extLst>
  </p:cSld>
</p:sld>
</file>

<file path=ppt/slides/slide2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F12B812-67D1-45F3-B3EB-F0A447650D62}"/>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BUILD</a:t>
            </a:r>
          </a:p>
        </p:txBody>
      </p:sp>
      <p:sp>
        <p:nvSpPr>
          <p:cNvPr id="2" name="">
            <a:extLst xmlns:a="http://schemas.openxmlformats.org/drawingml/2006/main">
              <a:ext uri="{FF2B5EF4-FFF2-40B4-BE49-F238E27FC236}">
                <a16:creationId xmlns:a16="http://schemas.microsoft.com/office/drawing/2014/main" id="{9DF3660D-0993-4878-84E5-CF0E33E28714}"/>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Build and preview locally</a:t>
            </a:r>
          </a:p>
        </p:txBody>
      </p:sp>
      <p:sp>
        <p:nvSpPr>
          <p:cNvPr id="3" name="">
            <a:extLst xmlns:a="http://schemas.openxmlformats.org/drawingml/2006/main">
              <a:ext uri="{FF2B5EF4-FFF2-40B4-BE49-F238E27FC236}">
                <a16:creationId xmlns:a16="http://schemas.microsoft.com/office/drawing/2014/main" id="{24016A95-5C1E-4255-B392-4F1D47A1F661}"/>
              </a:ext>
            </a:extLst>
          </p:cNvPr>
          <p:cNvSpPr>
            <a:spLocks xmlns:a="http://schemas.openxmlformats.org/drawingml/2006/main" noGrp="1"/>
          </p:cNvSpPr>
          <p:nvPr/>
        </p:nvSpPr>
        <p:spPr>
          <a:xfrm xmlns:a="http://schemas.openxmlformats.org/drawingml/2006/main">
            <a:off x="609600" y="2238375"/>
            <a:ext cx="44291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03B4D"/>
                </a:solidFill>
                <a:latin typeface="Arial"/>
                <a:ea typeface="Arial"/>
                <a:cs typeface="Arial"/>
              </a:defRPr>
            </a:defPPr>
          </a:lstStyle>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build creates the dist folder.</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preview serves that production build.</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Check the same workflow in the preview.</a:t>
            </a:r>
          </a:p>
          <a:p xmlns:a="http://schemas.openxmlformats.org/drawingml/2006/main">
            <a:pPr algn="l">
              <a:buNone/>
              <a:defRPr sz="2025" b="0">
                <a:solidFill>
                  <a:srgbClr val="203B4D"/>
                </a:solidFill>
                <a:latin typeface="Arial"/>
                <a:ea typeface="Arial"/>
                <a:cs typeface="Arial"/>
              </a:defRPr>
            </a:pPr>
            <a:r>
              <a:rPr sz="2025" b="0">
                <a:solidFill>
                  <a:srgbClr val="203B4D"/>
                </a:solidFill>
                <a:latin typeface="Arial"/>
                <a:ea typeface="Arial"/>
                <a:cs typeface="Arial"/>
              </a:rPr>
              <a:t>A local build does not publish a site.</a:t>
            </a:r>
          </a:p>
        </p:txBody>
      </p:sp>
      <p:sp>
        <p:nvSpPr>
          <p:cNvPr id="4" name="">
            <a:extLst xmlns:a="http://schemas.openxmlformats.org/drawingml/2006/main">
              <a:ext uri="{FF2B5EF4-FFF2-40B4-BE49-F238E27FC236}">
                <a16:creationId xmlns:a16="http://schemas.microsoft.com/office/drawing/2014/main" id="{452A472C-D522-44B2-B1A5-5FF300767613}"/>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npm run check:day-five</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npm run build</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npm run preview</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Open the URL printed by Vite.</a:t>
            </a:r>
          </a:p>
        </p:txBody>
      </p:sp>
      <p:sp>
        <p:nvSpPr>
          <p:cNvPr id="5" name="">
            <a:extLst xmlns:a="http://schemas.openxmlformats.org/drawingml/2006/main">
              <a:ext uri="{FF2B5EF4-FFF2-40B4-BE49-F238E27FC236}">
                <a16:creationId xmlns:a16="http://schemas.microsoft.com/office/drawing/2014/main" id="{431971CA-477B-4657-828F-3A953B39DEA7}"/>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The JSON resource is included in the build</a:t>
            </a:r>
          </a:p>
        </p:txBody>
      </p:sp>
      <p:sp>
        <p:nvSpPr>
          <p:cNvPr id="6" name="">
            <a:extLst xmlns:a="http://schemas.openxmlformats.org/drawingml/2006/main">
              <a:ext uri="{FF2B5EF4-FFF2-40B4-BE49-F238E27FC236}">
                <a16:creationId xmlns:a16="http://schemas.microsoft.com/office/drawing/2014/main" id="{0839D854-7503-4657-9F7A-76A29B29D189}"/>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23</a:t>
            </a:r>
          </a:p>
        </p:txBody>
      </p:sp>
    </p:spTree>
    <p:extLst>
      <p:ext uri="{BB962C8B-B14F-4D97-AF65-F5344CB8AC3E}">
        <p14:creationId xmlns:p14="http://schemas.microsoft.com/office/powerpoint/2010/main" val="802763435"/>
      </p:ext>
    </p:extLst>
  </p:cSld>
</p:sld>
</file>

<file path=ppt/slides/slide24.xml><?xml version="1.0" encoding="utf-8"?>
<p:sld xmlns:p="http://schemas.openxmlformats.org/presentationml/2006/main">
  <p:cSld>
    <p:bg>
      <p:bgPr>
        <a:solidFill xmlns:a="http://schemas.openxmlformats.org/drawingml/2006/main">
          <a:srgbClr val="14374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8D5BBBF-AE34-4F54-BABF-B66A383464FE}"/>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92E8DF"/>
                </a:solidFill>
                <a:latin typeface="Arial"/>
                <a:ea typeface="Arial"/>
                <a:cs typeface="Arial"/>
              </a:defRPr>
            </a:defPPr>
          </a:lstStyle>
          <a:p xmlns:a="http://schemas.openxmlformats.org/drawingml/2006/main">
            <a:pPr algn="l">
              <a:buNone/>
              <a:defRPr sz="1275" b="1">
                <a:solidFill>
                  <a:srgbClr val="92E8DF"/>
                </a:solidFill>
                <a:latin typeface="Arial"/>
                <a:ea typeface="Arial"/>
                <a:cs typeface="Arial"/>
              </a:defRPr>
            </a:pPr>
            <a:r>
              <a:rPr sz="1275" b="1">
                <a:solidFill>
                  <a:srgbClr val="92E8DF"/>
                </a:solidFill>
                <a:latin typeface="Arial"/>
                <a:ea typeface="Arial"/>
                <a:cs typeface="Arial"/>
              </a:rPr>
              <a:t>HANDS-ON · WALKTHROUGH</a:t>
            </a:r>
          </a:p>
        </p:txBody>
      </p:sp>
      <p:sp>
        <p:nvSpPr>
          <p:cNvPr id="2" name="">
            <a:extLst xmlns:a="http://schemas.openxmlformats.org/drawingml/2006/main">
              <a:ext uri="{FF2B5EF4-FFF2-40B4-BE49-F238E27FC236}">
                <a16:creationId xmlns:a16="http://schemas.microsoft.com/office/drawing/2014/main" id="{AEF40004-0D30-4BC1-A0EE-4D5263556AA0}"/>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buNone/>
              <a:defRPr sz="3300" b="1">
                <a:solidFill>
                  <a:srgbClr val="FFFFFF"/>
                </a:solidFill>
                <a:latin typeface="Arial"/>
                <a:ea typeface="Arial"/>
                <a:cs typeface="Arial"/>
              </a:defRPr>
            </a:pPr>
            <a:r>
              <a:rPr sz="3300" b="1">
                <a:solidFill>
                  <a:srgbClr val="FFFFFF"/>
                </a:solidFill>
                <a:latin typeface="Arial"/>
                <a:ea typeface="Arial"/>
                <a:cs typeface="Arial"/>
              </a:rPr>
              <a:t>Our final practice order preview</a:t>
            </a:r>
          </a:p>
        </p:txBody>
      </p:sp>
      <p:pic>
        <p:nvPicPr>
          <p:cNvPr id="3" name="">
            <a:extLst xmlns:a="http://schemas.openxmlformats.org/drawingml/2006/main">
              <a:ext uri="{FF2B5EF4-FFF2-40B4-BE49-F238E27FC236}">
                <a16:creationId xmlns:a16="http://schemas.microsoft.com/office/drawing/2014/main" id="{EBF0B375-5005-4C25-9E41-4E95A075AECA}"/>
              </a:ext>
            </a:extLst>
          </p:cNvPr>
          <p:cNvPicPr>
            <a:picLocks xmlns:a="http://schemas.openxmlformats.org/drawingml/2006/main" noChangeAspect="1"/>
          </p:cNvPicPr>
          <p:nvPr/>
        </p:nvPicPr>
        <p:blipFill>
          <a:blip xmlns:r="http://schemas.openxmlformats.org/officeDocument/2006/relationships" xmlns:a="http://schemas.openxmlformats.org/drawingml/2006/main" r:embed="R13c8edeeb586431c"/>
          <a:srcRect xmlns:a="http://schemas.openxmlformats.org/drawingml/2006/main" l="0" t="0" r="0" b="0"/>
          <a:stretch xmlns:a="http://schemas.openxmlformats.org/drawingml/2006/main"/>
        </p:blipFill>
        <p:spPr>
          <a:xfrm xmlns:a="http://schemas.openxmlformats.org/drawingml/2006/main">
            <a:off x="5429250" y="2294530"/>
            <a:ext cx="6191250" cy="365006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8420A99-1D36-49AA-94E6-4F58340517B9}"/>
              </a:ext>
            </a:extLst>
          </p:cNvPr>
          <p:cNvSpPr>
            <a:spLocks xmlns:a="http://schemas.openxmlformats.org/drawingml/2006/main" noGrp="1"/>
          </p:cNvSpPr>
          <p:nvPr/>
        </p:nvSpPr>
        <p:spPr>
          <a:xfrm xmlns:a="http://schemas.openxmlformats.org/drawingml/2006/main">
            <a:off x="609600" y="2209800"/>
            <a:ext cx="4429125"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0">
                <a:solidFill>
                  <a:srgbClr val="FFFFFF"/>
                </a:solidFill>
                <a:latin typeface="Arial"/>
                <a:ea typeface="Arial"/>
                <a:cs typeface="Arial"/>
              </a:defRPr>
            </a:defPPr>
          </a:lstStyle>
          <a:p xmlns:a="http://schemas.openxmlformats.org/drawingml/2006/main">
            <a:pPr algn="l">
              <a:buNone/>
              <a:defRPr sz="2175" b="0">
                <a:solidFill>
                  <a:srgbClr val="FFFFFF"/>
                </a:solidFill>
                <a:latin typeface="Arial"/>
                <a:ea typeface="Arial"/>
                <a:cs typeface="Arial"/>
              </a:defRPr>
            </a:pPr>
            <a:r>
              <a:rPr sz="2175" b="0">
                <a:solidFill>
                  <a:srgbClr val="FFFFFF"/>
                </a:solidFill>
                <a:latin typeface="Arial"/>
                <a:ea typeface="Arial"/>
                <a:cs typeface="Arial"/>
              </a:rPr>
              <a:t>Products load from the same JSON.</a:t>
            </a:r>
          </a:p>
          <a:p xmlns:a="http://schemas.openxmlformats.org/drawingml/2006/main">
            <a:pPr algn="l">
              <a:buNone/>
              <a:defRPr sz="2175" b="0">
                <a:solidFill>
                  <a:srgbClr val="FFFFFF"/>
                </a:solidFill>
                <a:latin typeface="Arial"/>
                <a:ea typeface="Arial"/>
                <a:cs typeface="Arial"/>
              </a:defRPr>
            </a:pPr>
            <a:r>
              <a:rPr sz="2175" b="0">
                <a:solidFill>
                  <a:srgbClr val="FFFFFF"/>
                </a:solidFill>
                <a:latin typeface="Arial"/>
                <a:ea typeface="Arial"/>
                <a:cs typeface="Arial"/>
              </a:rPr>
              <a:t>Notebook and Bag total ₹580.</a:t>
            </a:r>
          </a:p>
          <a:p xmlns:a="http://schemas.openxmlformats.org/drawingml/2006/main">
            <a:pPr algn="l">
              <a:buNone/>
              <a:defRPr sz="2175" b="0">
                <a:solidFill>
                  <a:srgbClr val="FFFFFF"/>
                </a:solidFill>
                <a:latin typeface="Arial"/>
                <a:ea typeface="Arial"/>
                <a:cs typeface="Arial"/>
              </a:defRPr>
            </a:pPr>
            <a:r>
              <a:rPr sz="2175" b="0">
                <a:solidFill>
                  <a:srgbClr val="FFFFFF"/>
                </a:solidFill>
                <a:latin typeface="Arial"/>
                <a:ea typeface="Arial"/>
                <a:cs typeface="Arial"/>
              </a:rPr>
              <a:t>The form validates the customer name.</a:t>
            </a:r>
          </a:p>
          <a:p xmlns:a="http://schemas.openxmlformats.org/drawingml/2006/main">
            <a:pPr algn="l">
              <a:buNone/>
              <a:defRPr sz="2175" b="0">
                <a:solidFill>
                  <a:srgbClr val="FFFFFF"/>
                </a:solidFill>
                <a:latin typeface="Arial"/>
                <a:ea typeface="Arial"/>
                <a:cs typeface="Arial"/>
              </a:defRPr>
            </a:pPr>
            <a:r>
              <a:rPr sz="2175" b="0">
                <a:solidFill>
                  <a:srgbClr val="FFFFFF"/>
                </a:solidFill>
                <a:latin typeface="Arial"/>
                <a:ea typeface="Arial"/>
                <a:cs typeface="Arial"/>
              </a:rPr>
              <a:t>A submitted preview captures the selection.</a:t>
            </a:r>
          </a:p>
          <a:p xmlns:a="http://schemas.openxmlformats.org/drawingml/2006/main">
            <a:pPr algn="l">
              <a:buNone/>
              <a:defRPr sz="2175" b="0">
                <a:solidFill>
                  <a:srgbClr val="FFFFFF"/>
                </a:solidFill>
                <a:latin typeface="Arial"/>
                <a:ea typeface="Arial"/>
                <a:cs typeface="Arial"/>
              </a:defRPr>
            </a:pPr>
            <a:r>
              <a:rPr sz="2175" b="0">
                <a:solidFill>
                  <a:srgbClr val="FFFFFF"/>
                </a:solidFill>
                <a:latin typeface="Arial"/>
                <a:ea typeface="Arial"/>
                <a:cs typeface="Arial"/>
              </a:rPr>
              <a:t>No order or payment is submitted.</a:t>
            </a:r>
          </a:p>
        </p:txBody>
      </p:sp>
      <p:sp>
        <p:nvSpPr>
          <p:cNvPr id="5" name="">
            <a:extLst xmlns:a="http://schemas.openxmlformats.org/drawingml/2006/main">
              <a:ext uri="{FF2B5EF4-FFF2-40B4-BE49-F238E27FC236}">
                <a16:creationId xmlns:a16="http://schemas.microsoft.com/office/drawing/2014/main" id="{AA6A2F74-AF31-4A60-A5A7-44620A01F754}"/>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92B4C2"/>
                </a:solidFill>
                <a:latin typeface="Arial"/>
                <a:ea typeface="Arial"/>
                <a:cs typeface="Arial"/>
              </a:defRPr>
            </a:defPPr>
          </a:lstStyle>
          <a:p xmlns:a="http://schemas.openxmlformats.org/drawingml/2006/main">
            <a:pPr algn="l">
              <a:buNone/>
              <a:defRPr sz="1200" b="0">
                <a:solidFill>
                  <a:srgbClr val="92B4C2"/>
                </a:solidFill>
                <a:latin typeface="Arial"/>
                <a:ea typeface="Arial"/>
                <a:cs typeface="Arial"/>
              </a:defRPr>
            </a:pPr>
            <a:r>
              <a:rPr sz="1200" b="0">
                <a:solidFill>
                  <a:srgbClr val="92B4C2"/>
                </a:solidFill>
                <a:latin typeface="Arial"/>
                <a:ea typeface="Arial"/>
                <a:cs typeface="Arial"/>
              </a:rPr>
              <a:t>24</a:t>
            </a:r>
          </a:p>
        </p:txBody>
      </p:sp>
    </p:spTree>
    <p:extLst>
      <p:ext uri="{BB962C8B-B14F-4D97-AF65-F5344CB8AC3E}">
        <p14:creationId xmlns:p14="http://schemas.microsoft.com/office/powerpoint/2010/main" val="53053803"/>
      </p:ext>
    </p:extLst>
  </p:cSld>
</p:sld>
</file>

<file path=ppt/slides/slide2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AD290A5-A802-4E3B-B6F4-7579301C0F6D}"/>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HANDS-ON</a:t>
            </a:r>
          </a:p>
        </p:txBody>
      </p:sp>
      <p:sp>
        <p:nvSpPr>
          <p:cNvPr id="2" name="">
            <a:extLst xmlns:a="http://schemas.openxmlformats.org/drawingml/2006/main">
              <a:ext uri="{FF2B5EF4-FFF2-40B4-BE49-F238E27FC236}">
                <a16:creationId xmlns:a16="http://schemas.microsoft.com/office/drawing/2014/main" id="{267DD854-081E-430F-B021-095AC41E7711}"/>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Project file walkthrough</a:t>
            </a:r>
          </a:p>
        </p:txBody>
      </p:sp>
      <p:sp>
        <p:nvSpPr>
          <p:cNvPr id="3" name="">
            <a:extLst xmlns:a="http://schemas.openxmlformats.org/drawingml/2006/main">
              <a:ext uri="{FF2B5EF4-FFF2-40B4-BE49-F238E27FC236}">
                <a16:creationId xmlns:a16="http://schemas.microsoft.com/office/drawing/2014/main" id="{C5B2B246-09B5-450D-A690-F8B3425C7C07}"/>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src/App.jsx → cart, filters and composition</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src/hooks/useProducts.js → request logic</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src/components/OrderForm.jsx → form and UI</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src/data/orderDraft.js → validation and snapshot</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src/lessons/day-five-order.js → runnable examples</a:t>
            </a:r>
          </a:p>
        </p:txBody>
      </p:sp>
      <p:sp>
        <p:nvSpPr>
          <p:cNvPr id="4" name="">
            <a:extLst xmlns:a="http://schemas.openxmlformats.org/drawingml/2006/main">
              <a:ext uri="{FF2B5EF4-FFF2-40B4-BE49-F238E27FC236}">
                <a16:creationId xmlns:a16="http://schemas.microsoft.com/office/drawing/2014/main" id="{8415F727-0BCC-4817-B56B-DA175B9C5AB6}"/>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p:txBody>
      </p:sp>
      <p:sp>
        <p:nvSpPr>
          <p:cNvPr id="5" name="">
            <a:extLst xmlns:a="http://schemas.openxmlformats.org/drawingml/2006/main">
              <a:ext uri="{FF2B5EF4-FFF2-40B4-BE49-F238E27FC236}">
                <a16:creationId xmlns:a16="http://schemas.microsoft.com/office/drawing/2014/main" id="{569A30F0-AD7E-4821-9026-603875AFE621}"/>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
            </a:r>
          </a:p>
        </p:txBody>
      </p:sp>
      <p:sp>
        <p:nvSpPr>
          <p:cNvPr id="6" name="">
            <a:extLst xmlns:a="http://schemas.openxmlformats.org/drawingml/2006/main">
              <a:ext uri="{FF2B5EF4-FFF2-40B4-BE49-F238E27FC236}">
                <a16:creationId xmlns:a16="http://schemas.microsoft.com/office/drawing/2014/main" id="{DFFB4860-FBFE-404E-9C14-2E746FDEDAEE}"/>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25</a:t>
            </a:r>
          </a:p>
        </p:txBody>
      </p:sp>
    </p:spTree>
    <p:extLst>
      <p:ext uri="{BB962C8B-B14F-4D97-AF65-F5344CB8AC3E}">
        <p14:creationId xmlns:p14="http://schemas.microsoft.com/office/powerpoint/2010/main" val="359607155"/>
      </p:ext>
    </p:extLst>
  </p:cSld>
</p:sld>
</file>

<file path=ppt/slides/slide2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1E10BAD-D10D-40B0-9A76-583CB0547B8E}"/>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YOUR TURN</a:t>
            </a:r>
          </a:p>
        </p:txBody>
      </p:sp>
      <p:sp>
        <p:nvSpPr>
          <p:cNvPr id="2" name="">
            <a:extLst xmlns:a="http://schemas.openxmlformats.org/drawingml/2006/main">
              <a:ext uri="{FF2B5EF4-FFF2-40B4-BE49-F238E27FC236}">
                <a16:creationId xmlns:a16="http://schemas.microsoft.com/office/drawing/2014/main" id="{538C77B9-AEFD-4AD8-84B8-F4396A9A4333}"/>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Add a Delivery city field</a:t>
            </a:r>
          </a:p>
        </p:txBody>
      </p:sp>
      <p:sp>
        <p:nvSpPr>
          <p:cNvPr id="3" name="">
            <a:extLst xmlns:a="http://schemas.openxmlformats.org/drawingml/2006/main">
              <a:ext uri="{FF2B5EF4-FFF2-40B4-BE49-F238E27FC236}">
                <a16:creationId xmlns:a16="http://schemas.microsoft.com/office/drawing/2014/main" id="{CE8DD210-84F5-45A8-AAB8-B365C82BDB68}"/>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Add city state and a labelled input.</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Require a nonblank trimmed city.</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Include it in the submitted draft.</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Show it in the preview and clear on reset.</a:t>
            </a:r>
          </a:p>
        </p:txBody>
      </p:sp>
      <p:sp>
        <p:nvSpPr>
          <p:cNvPr id="4" name="">
            <a:extLst xmlns:a="http://schemas.openxmlformats.org/drawingml/2006/main">
              <a:ext uri="{FF2B5EF4-FFF2-40B4-BE49-F238E27FC236}">
                <a16:creationId xmlns:a16="http://schemas.microsoft.com/office/drawing/2014/main" id="{2240641B-F8F2-4C32-A644-7F13917539D7}"/>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p:txBody>
      </p:sp>
      <p:sp>
        <p:nvSpPr>
          <p:cNvPr id="5" name="">
            <a:extLst xmlns:a="http://schemas.openxmlformats.org/drawingml/2006/main">
              <a:ext uri="{FF2B5EF4-FFF2-40B4-BE49-F238E27FC236}">
                <a16:creationId xmlns:a16="http://schemas.microsoft.com/office/drawing/2014/main" id="{B4287DDD-8254-4CD0-95CC-731D19C137C5}"/>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
            </a:r>
          </a:p>
        </p:txBody>
      </p:sp>
      <p:sp>
        <p:nvSpPr>
          <p:cNvPr id="6" name="">
            <a:extLst xmlns:a="http://schemas.openxmlformats.org/drawingml/2006/main">
              <a:ext uri="{FF2B5EF4-FFF2-40B4-BE49-F238E27FC236}">
                <a16:creationId xmlns:a16="http://schemas.microsoft.com/office/drawing/2014/main" id="{CFD15B07-F5BA-41AD-AE88-86DCF9D2411A}"/>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26</a:t>
            </a:r>
          </a:p>
        </p:txBody>
      </p:sp>
    </p:spTree>
    <p:extLst>
      <p:ext uri="{BB962C8B-B14F-4D97-AF65-F5344CB8AC3E}">
        <p14:creationId xmlns:p14="http://schemas.microsoft.com/office/powerpoint/2010/main" val="1017720661"/>
      </p:ext>
    </p:extLst>
  </p:cSld>
</p:sld>
</file>

<file path=ppt/slides/slide2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38B4A46-48F3-4EA6-99D7-C85C7AB2DDE6}"/>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DEBUGGING</a:t>
            </a:r>
          </a:p>
        </p:txBody>
      </p:sp>
      <p:sp>
        <p:nvSpPr>
          <p:cNvPr id="2" name="">
            <a:extLst xmlns:a="http://schemas.openxmlformats.org/drawingml/2006/main">
              <a:ext uri="{FF2B5EF4-FFF2-40B4-BE49-F238E27FC236}">
                <a16:creationId xmlns:a16="http://schemas.microsoft.com/office/drawing/2014/main" id="{D7B35481-FB27-4CC4-8AEE-22D49B0CB1CD}"/>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Common mistakes</a:t>
            </a:r>
          </a:p>
        </p:txBody>
      </p:sp>
      <p:sp>
        <p:nvSpPr>
          <p:cNvPr id="3" name="">
            <a:extLst xmlns:a="http://schemas.openxmlformats.org/drawingml/2006/main">
              <a:ext uri="{FF2B5EF4-FFF2-40B4-BE49-F238E27FC236}">
                <a16:creationId xmlns:a16="http://schemas.microsoft.com/office/drawing/2014/main" id="{8454BE56-B8D6-4128-9AAD-19FF9AEDD6C5}"/>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Calling Hooks inside a handler or condition.</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Forgetting onChange on a controlled input.</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Submitting with a blank trimmed name.</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Using a reset button that also submits.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Treating a local preview as a placed order.</a:t>
            </a:r>
          </a:p>
        </p:txBody>
      </p:sp>
      <p:sp>
        <p:nvSpPr>
          <p:cNvPr id="4" name="">
            <a:extLst xmlns:a="http://schemas.openxmlformats.org/drawingml/2006/main">
              <a:ext uri="{FF2B5EF4-FFF2-40B4-BE49-F238E27FC236}">
                <a16:creationId xmlns:a16="http://schemas.microsoft.com/office/drawing/2014/main" id="{2D5F3749-33F9-474A-8091-ED761124E528}"/>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p:txBody>
      </p:sp>
      <p:sp>
        <p:nvSpPr>
          <p:cNvPr id="5" name="">
            <a:extLst xmlns:a="http://schemas.openxmlformats.org/drawingml/2006/main">
              <a:ext uri="{FF2B5EF4-FFF2-40B4-BE49-F238E27FC236}">
                <a16:creationId xmlns:a16="http://schemas.microsoft.com/office/drawing/2014/main" id="{33250BA9-D418-4B01-AA96-5C853509582C}"/>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
            </a:r>
          </a:p>
        </p:txBody>
      </p:sp>
      <p:sp>
        <p:nvSpPr>
          <p:cNvPr id="6" name="">
            <a:extLst xmlns:a="http://schemas.openxmlformats.org/drawingml/2006/main">
              <a:ext uri="{FF2B5EF4-FFF2-40B4-BE49-F238E27FC236}">
                <a16:creationId xmlns:a16="http://schemas.microsoft.com/office/drawing/2014/main" id="{690AAA13-FDC8-430C-A69D-B4C2071AEE58}"/>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27</a:t>
            </a:r>
          </a:p>
        </p:txBody>
      </p:sp>
    </p:spTree>
    <p:extLst>
      <p:ext uri="{BB962C8B-B14F-4D97-AF65-F5344CB8AC3E}">
        <p14:creationId xmlns:p14="http://schemas.microsoft.com/office/powerpoint/2010/main" val="836216623"/>
      </p:ext>
    </p:extLst>
  </p:cSld>
</p:sld>
</file>

<file path=ppt/slides/slide2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AB8D695-4211-45A9-89CC-B8DD40D575AB}"/>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CHECK YOUR UNDERSTANDING</a:t>
            </a:r>
          </a:p>
        </p:txBody>
      </p:sp>
      <p:sp>
        <p:nvSpPr>
          <p:cNvPr id="2" name="">
            <a:extLst xmlns:a="http://schemas.openxmlformats.org/drawingml/2006/main">
              <a:ext uri="{FF2B5EF4-FFF2-40B4-BE49-F238E27FC236}">
                <a16:creationId xmlns:a16="http://schemas.microsoft.com/office/drawing/2014/main" id="{50FD0D22-B800-4749-91A2-A977DD538B82}"/>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Final quiz</a:t>
            </a:r>
          </a:p>
        </p:txBody>
      </p:sp>
      <p:sp>
        <p:nvSpPr>
          <p:cNvPr id="3" name="">
            <a:extLst xmlns:a="http://schemas.openxmlformats.org/drawingml/2006/main">
              <a:ext uri="{FF2B5EF4-FFF2-40B4-BE49-F238E27FC236}">
                <a16:creationId xmlns:a16="http://schemas.microsoft.com/office/drawing/2014/main" id="{536AA501-0592-469E-9BC3-B33F5DC93AD6}"/>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1  Does a custom Hook share state automatically?</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2  Why does submit call preventDefault?</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3  What blocks an invalid preview?</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4  Why does the snapshot stay at ₹580?</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5  Does npm run build publish the app?</a:t>
            </a:r>
          </a:p>
        </p:txBody>
      </p:sp>
      <p:sp>
        <p:nvSpPr>
          <p:cNvPr id="4" name="">
            <a:extLst xmlns:a="http://schemas.openxmlformats.org/drawingml/2006/main">
              <a:ext uri="{FF2B5EF4-FFF2-40B4-BE49-F238E27FC236}">
                <a16:creationId xmlns:a16="http://schemas.microsoft.com/office/drawing/2014/main" id="{ED72B4C9-EB36-44CA-894B-ACA052AC23BA}"/>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28</a:t>
            </a:r>
          </a:p>
        </p:txBody>
      </p:sp>
      <p:sp>
        <p:nvSpPr>
          <p:cNvPr id="6" name="">
            <a:extLst xmlns:a="http://schemas.openxmlformats.org/drawingml/2006/main">
              <a:ext uri="{FF2B5EF4-FFF2-40B4-BE49-F238E27FC236}">
                <a16:creationId xmlns:a16="http://schemas.microsoft.com/office/drawing/2014/main" id="{60FF92B2-48EE-49A4-B3F1-DC67818FE2EB}"/>
              </a:ext>
            </a:extLst>
          </p:cNvPr>
          <p:cNvSpPr>
            <a:spLocks xmlns:a="http://schemas.openxmlformats.org/drawingml/2006/main" noGrp="1"/>
          </p:cNvSpPr>
          <p:nvPr/>
        </p:nvSpPr>
        <p:spPr>
          <a:xfrm xmlns:a="http://schemas.openxmlformats.org/drawingml/2006/main">
            <a:off x="5410200" y="2190750"/>
            <a:ext cx="6143625"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087B80"/>
                </a:solidFill>
                <a:latin typeface="Consolas"/>
                <a:ea typeface="Consolas"/>
                <a:cs typeface="Consolas"/>
              </a:defRPr>
            </a:defPPr>
          </a:lstStyle>
          <a:p xmlns:a="http://schemas.openxmlformats.org/drawingml/2006/main">
            <a:pPr algn="l">
              <a:buNone/>
              <a:defRPr sz="1800" b="0">
                <a:solidFill>
                  <a:srgbClr val="087B80"/>
                </a:solidFill>
                <a:latin typeface="Consolas"/>
                <a:ea typeface="Consolas"/>
                <a:cs typeface="Consolas"/>
              </a:defRPr>
            </a:pPr>
            <a:r>
              <a:rPr sz="1800" b="0">
                <a:solidFill>
                  <a:srgbClr val="087B80"/>
                </a:solidFill>
                <a:latin typeface="Consolas"/>
                <a:ea typeface="Consolas"/>
                <a:cs typeface="Consolas"/>
              </a:rPr>
              <a:t/>
            </a:r>
          </a:p>
        </p:txBody>
      </p:sp>
      <p:sp>
        <p:nvSpPr>
          <p:cNvPr id="7" name="">
            <a:extLst xmlns:a="http://schemas.openxmlformats.org/drawingml/2006/main">
              <a:ext uri="{FF2B5EF4-FFF2-40B4-BE49-F238E27FC236}">
                <a16:creationId xmlns:a16="http://schemas.microsoft.com/office/drawing/2014/main" id="{F0F8B6C2-5A1B-4DD6-9EAC-83578543718E}"/>
              </a:ext>
            </a:extLst>
          </p:cNvPr>
          <p:cNvSpPr>
            <a:spLocks xmlns:a="http://schemas.openxmlformats.org/drawingml/2006/main" noGrp="1"/>
          </p:cNvSpPr>
          <p:nvPr/>
        </p:nvSpPr>
        <p:spPr>
          <a:xfrm xmlns:a="http://schemas.openxmlformats.org/drawingml/2006/main">
            <a:off x="5410200" y="5667375"/>
            <a:ext cx="604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725" b="1">
                <a:solidFill>
                  <a:srgbClr val="85551E"/>
                </a:solidFill>
                <a:latin typeface="Arial"/>
                <a:ea typeface="Arial"/>
                <a:cs typeface="Arial"/>
              </a:defRPr>
            </a:defPPr>
          </a:lstStyle>
          <a:p xmlns:a="http://schemas.openxmlformats.org/drawingml/2006/main">
            <a:pPr algn="l">
              <a:buNone/>
              <a:defRPr sz="1725" b="1">
                <a:solidFill>
                  <a:srgbClr val="85551E"/>
                </a:solidFill>
                <a:latin typeface="Arial"/>
                <a:ea typeface="Arial"/>
                <a:cs typeface="Arial"/>
              </a:defRPr>
            </a:pPr>
            <a:r>
              <a:rPr sz="1725" b="1">
                <a:solidFill>
                  <a:srgbClr val="85551E"/>
                </a:solidFill>
                <a:latin typeface="Arial"/>
                <a:ea typeface="Arial"/>
                <a:cs typeface="Arial"/>
              </a:rPr>
              <a:t/>
            </a:r>
          </a:p>
        </p:txBody>
      </p:sp>
    </p:spTree>
    <p:extLst>
      <p:ext uri="{BB962C8B-B14F-4D97-AF65-F5344CB8AC3E}">
        <p14:creationId xmlns:p14="http://schemas.microsoft.com/office/powerpoint/2010/main" val="70131218"/>
      </p:ext>
    </p:extLst>
  </p:cSld>
</p:sld>
</file>

<file path=ppt/slides/slide2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D2795CA-0429-4729-9979-D09C691AC8C1}"/>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RECAP · TRY AT HOME</a:t>
            </a:r>
          </a:p>
        </p:txBody>
      </p:sp>
      <p:sp>
        <p:nvSpPr>
          <p:cNvPr id="2" name="">
            <a:extLst xmlns:a="http://schemas.openxmlformats.org/drawingml/2006/main">
              <a:ext uri="{FF2B5EF4-FFF2-40B4-BE49-F238E27FC236}">
                <a16:creationId xmlns:a16="http://schemas.microsoft.com/office/drawing/2014/main" id="{EB2BA0F8-D2D6-4C9E-95B2-312CF683047C}"/>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Your next React practice</a:t>
            </a:r>
          </a:p>
        </p:txBody>
      </p:sp>
      <p:sp>
        <p:nvSpPr>
          <p:cNvPr id="3" name="">
            <a:extLst xmlns:a="http://schemas.openxmlformats.org/drawingml/2006/main">
              <a:ext uri="{FF2B5EF4-FFF2-40B4-BE49-F238E27FC236}">
                <a16:creationId xmlns:a16="http://schemas.microsoft.com/office/drawing/2014/main" id="{2BB9C2CD-2DB1-43E2-98B4-35585FE49917}"/>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Explain the complete app without the slides.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Finish the Delivery city exercise.</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Try at home: add a maximum-price filter.</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Practise loading, error and empty states.</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Revise the five days before assessment.</a:t>
            </a:r>
          </a:p>
        </p:txBody>
      </p:sp>
      <p:sp>
        <p:nvSpPr>
          <p:cNvPr id="4" name="">
            <a:extLst xmlns:a="http://schemas.openxmlformats.org/drawingml/2006/main">
              <a:ext uri="{FF2B5EF4-FFF2-40B4-BE49-F238E27FC236}">
                <a16:creationId xmlns:a16="http://schemas.microsoft.com/office/drawing/2014/main" id="{C7C5F717-7DEA-4822-9923-B3435BD1B54E}"/>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29</a:t>
            </a:r>
          </a:p>
        </p:txBody>
      </p:sp>
    </p:spTree>
    <p:extLst>
      <p:ext uri="{BB962C8B-B14F-4D97-AF65-F5344CB8AC3E}">
        <p14:creationId xmlns:p14="http://schemas.microsoft.com/office/powerpoint/2010/main" val="1329344756"/>
      </p:ext>
    </p:extLst>
  </p:cSld>
</p:sld>
</file>

<file path=ppt/slides/slide3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03E5460-6AA6-4571-B1C5-9177ABBDC476}"/>
              </a:ext>
            </a:extLst>
          </p:cNvPr>
          <p:cNvSpPr>
            <a:spLocks xmlns:a="http://schemas.openxmlformats.org/drawingml/2006/main" noGrp="1"/>
          </p:cNvSpPr>
          <p:nvPr/>
        </p:nvSpPr>
        <p:spPr>
          <a:xfrm xmlns:a="http://schemas.openxmlformats.org/drawingml/2006/main">
            <a:off x="609600" y="3619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75" b="1">
                <a:solidFill>
                  <a:srgbClr val="007D83"/>
                </a:solidFill>
                <a:latin typeface="Arial"/>
                <a:ea typeface="Arial"/>
                <a:cs typeface="Arial"/>
              </a:defRPr>
            </a:defPPr>
          </a:lstStyle>
          <a:p xmlns:a="http://schemas.openxmlformats.org/drawingml/2006/main">
            <a:pPr algn="l">
              <a:buNone/>
              <a:defRPr sz="1275" b="1">
                <a:solidFill>
                  <a:srgbClr val="007D83"/>
                </a:solidFill>
                <a:latin typeface="Arial"/>
                <a:ea typeface="Arial"/>
                <a:cs typeface="Arial"/>
              </a:defRPr>
            </a:pPr>
            <a:r>
              <a:rPr sz="1275" b="1">
                <a:solidFill>
                  <a:srgbClr val="007D83"/>
                </a:solidFill>
                <a:latin typeface="Arial"/>
                <a:ea typeface="Arial"/>
                <a:cs typeface="Arial"/>
              </a:rPr>
              <a:t>COURSE REFERENCES</a:t>
            </a:r>
          </a:p>
        </p:txBody>
      </p:sp>
      <p:sp>
        <p:nvSpPr>
          <p:cNvPr id="2" name="">
            <a:extLst xmlns:a="http://schemas.openxmlformats.org/drawingml/2006/main">
              <a:ext uri="{FF2B5EF4-FFF2-40B4-BE49-F238E27FC236}">
                <a16:creationId xmlns:a16="http://schemas.microsoft.com/office/drawing/2014/main" id="{E5CAEA89-4DC3-40A0-9BBB-0E0A054DA63F}"/>
              </a:ext>
            </a:extLst>
          </p:cNvPr>
          <p:cNvSpPr>
            <a:spLocks xmlns:a="http://schemas.openxmlformats.org/drawingml/2006/main" noGrp="1"/>
          </p:cNvSpPr>
          <p:nvPr/>
        </p:nvSpPr>
        <p:spPr>
          <a:xfrm xmlns:a="http://schemas.openxmlformats.org/drawingml/2006/main">
            <a:off x="609600" y="95250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300" b="1">
                <a:solidFill>
                  <a:srgbClr val="203B4D"/>
                </a:solidFill>
                <a:latin typeface="Arial"/>
                <a:ea typeface="Arial"/>
                <a:cs typeface="Arial"/>
              </a:defRPr>
            </a:defPPr>
          </a:lstStyle>
          <a:p xmlns:a="http://schemas.openxmlformats.org/drawingml/2006/main">
            <a:pPr algn="l">
              <a:buNone/>
              <a:defRPr sz="3300" b="1">
                <a:solidFill>
                  <a:srgbClr val="203B4D"/>
                </a:solidFill>
                <a:latin typeface="Arial"/>
                <a:ea typeface="Arial"/>
                <a:cs typeface="Arial"/>
              </a:defRPr>
            </a:pPr>
            <a:r>
              <a:rPr sz="3300" b="1">
                <a:solidFill>
                  <a:srgbClr val="203B4D"/>
                </a:solidFill>
                <a:latin typeface="Arial"/>
                <a:ea typeface="Arial"/>
                <a:cs typeface="Arial"/>
              </a:rPr>
              <a:t>Thank you · Course IDs</a:t>
            </a:r>
          </a:p>
        </p:txBody>
      </p:sp>
      <p:sp>
        <p:nvSpPr>
          <p:cNvPr id="3" name="">
            <a:extLst xmlns:a="http://schemas.openxmlformats.org/drawingml/2006/main">
              <a:ext uri="{FF2B5EF4-FFF2-40B4-BE49-F238E27FC236}">
                <a16:creationId xmlns:a16="http://schemas.microsoft.com/office/drawing/2014/main" id="{448DAC08-BB40-4AC8-9A85-A4B46F069575}"/>
              </a:ext>
            </a:extLst>
          </p:cNvPr>
          <p:cNvSpPr>
            <a:spLocks xmlns:a="http://schemas.openxmlformats.org/drawingml/2006/main" noGrp="1"/>
          </p:cNvSpPr>
          <p:nvPr/>
        </p:nvSpPr>
        <p:spPr>
          <a:xfrm xmlns:a="http://schemas.openxmlformats.org/drawingml/2006/main">
            <a:off x="609600" y="2209800"/>
            <a:ext cx="1047750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325" b="0">
                <a:solidFill>
                  <a:srgbClr val="203B4D"/>
                </a:solidFill>
                <a:latin typeface="Arial"/>
                <a:ea typeface="Arial"/>
                <a:cs typeface="Arial"/>
              </a:defRPr>
            </a:defPPr>
          </a:lstStyle>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Course ID: 75214</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Course ID: 62104</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Trainer: Subha Prasad</a:t>
            </a:r>
          </a:p>
          <a:p xmlns:a="http://schemas.openxmlformats.org/drawingml/2006/main">
            <a:pPr algn="l">
              <a:buNone/>
              <a:defRPr sz="2325" b="0">
                <a:solidFill>
                  <a:srgbClr val="203B4D"/>
                </a:solidFill>
                <a:latin typeface="Arial"/>
                <a:ea typeface="Arial"/>
                <a:cs typeface="Arial"/>
              </a:defRPr>
            </a:pPr>
            <a:r>
              <a:rPr sz="2325" b="0">
                <a:solidFill>
                  <a:srgbClr val="203B4D"/>
                </a:solidFill>
                <a:latin typeface="Arial"/>
                <a:ea typeface="Arial"/>
                <a:cs typeface="Arial"/>
              </a:rPr>
              <a:t>Questions and continued practice</a:t>
            </a:r>
          </a:p>
        </p:txBody>
      </p:sp>
      <p:sp>
        <p:nvSpPr>
          <p:cNvPr id="4" name="">
            <a:extLst xmlns:a="http://schemas.openxmlformats.org/drawingml/2006/main">
              <a:ext uri="{FF2B5EF4-FFF2-40B4-BE49-F238E27FC236}">
                <a16:creationId xmlns:a16="http://schemas.microsoft.com/office/drawing/2014/main" id="{4789B892-CC98-4404-88C3-D054130A4A20}"/>
              </a:ext>
            </a:extLst>
          </p:cNvPr>
          <p:cNvSpPr>
            <a:spLocks xmlns:a="http://schemas.openxmlformats.org/drawingml/2006/main" noGrp="1"/>
          </p:cNvSpPr>
          <p:nvPr/>
        </p:nvSpPr>
        <p:spPr>
          <a:xfrm xmlns:a="http://schemas.openxmlformats.org/drawingml/2006/main">
            <a:off x="11049000" y="63055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B7F8D"/>
                </a:solidFill>
                <a:latin typeface="Arial"/>
                <a:ea typeface="Arial"/>
                <a:cs typeface="Arial"/>
              </a:defRPr>
            </a:defPPr>
          </a:lstStyle>
          <a:p xmlns:a="http://schemas.openxmlformats.org/drawingml/2006/main">
            <a:pPr algn="l">
              <a:buNone/>
              <a:defRPr sz="1200" b="0">
                <a:solidFill>
                  <a:srgbClr val="6B7F8D"/>
                </a:solidFill>
                <a:latin typeface="Arial"/>
                <a:ea typeface="Arial"/>
                <a:cs typeface="Arial"/>
              </a:defRPr>
            </a:pPr>
            <a:r>
              <a:rPr sz="1200" b="0">
                <a:solidFill>
                  <a:srgbClr val="6B7F8D"/>
                </a:solidFill>
                <a:latin typeface="Arial"/>
                <a:ea typeface="Arial"/>
                <a:cs typeface="Arial"/>
              </a:rPr>
              <a:t>30</a:t>
            </a:r>
          </a:p>
        </p:txBody>
      </p:sp>
    </p:spTree>
    <p:extLst>
      <p:ext uri="{BB962C8B-B14F-4D97-AF65-F5344CB8AC3E}">
        <p14:creationId xmlns:p14="http://schemas.microsoft.com/office/powerpoint/2010/main" val="8379560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2026-10-11T17:37:55.3080000Z</dcterms:created>
  <dcterms:modified xsi:type="dcterms:W3CDTF">2026-10-11T17:37:55.3080000Z</dcterms:modified>
</coreProperties>
</file>